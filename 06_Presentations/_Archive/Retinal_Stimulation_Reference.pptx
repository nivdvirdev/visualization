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diagrams/drawing2.xml" ContentType="application/vnd.ms-office.drawingml.diagramDrawing+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diagrams/quickStyle2.xml" ContentType="application/vnd.openxmlformats-officedocument.drawingml.diagramStyl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Layouts/slideLayout13.xml" ContentType="application/vnd.openxmlformats-officedocument.presentationml.slideLayout+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Default Extension="wdp" ContentType="image/vnd.ms-photo"/>
  <Override PartName="/ppt/commentAuthors.xml" ContentType="application/vnd.openxmlformats-officedocument.presentationml.commentAuthors+xml"/>
  <Override PartName="/ppt/slideLayouts/slideLayout10.xml" ContentType="application/vnd.openxmlformats-officedocument.presentationml.slide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1.xml" ContentType="application/vnd.openxmlformats-officedocument.drawingml.diagramLayout+xml"/>
  <Override PartName="/ppt/diagrams/data2.xml" ContentType="application/vnd.openxmlformats-officedocument.drawingml.diagramData+xml"/>
  <Override PartName="/ppt/diagrams/data3.xml" ContentType="application/vnd.openxmlformats-officedocument.drawingml.diagramData+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ppt/diagrams/colors3.xml" ContentType="application/vnd.openxmlformats-officedocument.drawingml.diagramColors+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diagrams/colors2.xml" ContentType="application/vnd.openxmlformats-officedocument.drawingml.diagramColors+xml"/>
  <Override PartName="/ppt/diagrams/drawing3.xml" ContentType="application/vnd.ms-office.drawingml.diagramDrawing+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quickStyle3.xml" ContentType="application/vnd.openxmlformats-officedocument.drawingml.diagramStyle+xml"/>
  <Override PartName="/ppt/diagrams/drawing1.xml" ContentType="application/vnd.ms-office.drawingml.diagramDrawing+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jpeg" ContentType="image/jpeg"/>
  <Override PartName="/ppt/diagrams/quickStyle1.xml" ContentType="application/vnd.openxmlformats-officedocument.drawingml.diagramStyle+xml"/>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handoutMasterIdLst>
    <p:handoutMasterId r:id="rId24"/>
  </p:handoutMasterIdLst>
  <p:sldIdLst>
    <p:sldId id="256" r:id="rId2"/>
    <p:sldId id="289" r:id="rId3"/>
    <p:sldId id="296" r:id="rId4"/>
    <p:sldId id="295" r:id="rId5"/>
    <p:sldId id="260" r:id="rId6"/>
    <p:sldId id="294" r:id="rId7"/>
    <p:sldId id="297" r:id="rId8"/>
    <p:sldId id="298" r:id="rId9"/>
    <p:sldId id="262" r:id="rId10"/>
    <p:sldId id="290" r:id="rId11"/>
    <p:sldId id="275" r:id="rId12"/>
    <p:sldId id="284" r:id="rId13"/>
    <p:sldId id="283" r:id="rId14"/>
    <p:sldId id="278" r:id="rId15"/>
    <p:sldId id="291" r:id="rId16"/>
    <p:sldId id="279" r:id="rId17"/>
    <p:sldId id="292" r:id="rId18"/>
    <p:sldId id="280" r:id="rId19"/>
    <p:sldId id="293" r:id="rId20"/>
    <p:sldId id="282" r:id="rId21"/>
    <p:sldId id="286" r:id="rId22"/>
    <p:sldId id="28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oana Djourado" initials="YD" lastIdx="2" clrIdx="0">
    <p:extLst>
      <p:ext uri="{19B8F6BF-5375-455C-9EA6-DF929625EA0E}">
        <p15:presenceInfo xmlns="" xmlns:p15="http://schemas.microsoft.com/office/powerpoint/2012/main" userId="79a1862e84e62c1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959C"/>
    <a:srgbClr val="DEFFFF"/>
  </p:clrMru>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6980" autoAdjust="0"/>
    <p:restoredTop sz="94680" autoAdjust="0"/>
  </p:normalViewPr>
  <p:slideViewPr>
    <p:cSldViewPr snapToGrid="0">
      <p:cViewPr>
        <p:scale>
          <a:sx n="60" d="100"/>
          <a:sy n="60" d="100"/>
        </p:scale>
        <p:origin x="-1459" y="-581"/>
      </p:cViewPr>
      <p:guideLst>
        <p:guide orient="horz" pos="2160"/>
        <p:guide pos="3840"/>
      </p:guideLst>
    </p:cSldViewPr>
  </p:slideViewPr>
  <p:outlineViewPr>
    <p:cViewPr>
      <p:scale>
        <a:sx n="33" d="100"/>
        <a:sy n="33" d="100"/>
      </p:scale>
      <p:origin x="0" y="5059"/>
    </p:cViewPr>
  </p:outlineViewPr>
  <p:notesTextViewPr>
    <p:cViewPr>
      <p:scale>
        <a:sx n="1" d="1"/>
        <a:sy n="1" d="1"/>
      </p:scale>
      <p:origin x="0" y="0"/>
    </p:cViewPr>
  </p:notesTextViewPr>
  <p:notesViewPr>
    <p:cSldViewPr snapToGrid="0">
      <p:cViewPr varScale="1">
        <p:scale>
          <a:sx n="67" d="100"/>
          <a:sy n="67" d="100"/>
        </p:scale>
        <p:origin x="-3168" y="-77"/>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F202ED6-5133-4CB2-A3CD-D663CC1724BE}" type="doc">
      <dgm:prSet loTypeId="urn:microsoft.com/office/officeart/2005/8/layout/process1" loCatId="process" qsTypeId="urn:microsoft.com/office/officeart/2005/8/quickstyle/simple1" qsCatId="simple" csTypeId="urn:microsoft.com/office/officeart/2005/8/colors/colorful1#1" csCatId="colorful" phldr="1"/>
      <dgm:spPr/>
    </dgm:pt>
    <dgm:pt modelId="{0E9462D5-3FD0-4B3B-B32D-A33A9BC6C307}">
      <dgm:prSet phldrT="[Text]"/>
      <dgm:spPr/>
      <dgm:t>
        <a:bodyPr/>
        <a:lstStyle/>
        <a:p>
          <a:pPr rtl="1"/>
          <a:r>
            <a:rPr lang="he-IL" dirty="0"/>
            <a:t>קולטנים מכאניים של העור</a:t>
          </a:r>
        </a:p>
      </dgm:t>
    </dgm:pt>
    <dgm:pt modelId="{9DCD2ACC-8186-40DC-81D9-BD4BE755401F}" type="parTrans" cxnId="{AF623CDA-D9DE-40D8-A50A-6978EA42420D}">
      <dgm:prSet/>
      <dgm:spPr/>
      <dgm:t>
        <a:bodyPr/>
        <a:lstStyle/>
        <a:p>
          <a:pPr rtl="1"/>
          <a:endParaRPr lang="he-IL"/>
        </a:p>
      </dgm:t>
    </dgm:pt>
    <dgm:pt modelId="{F9CB9384-3DBA-4906-88CF-D43C54CF153F}" type="sibTrans" cxnId="{AF623CDA-D9DE-40D8-A50A-6978EA42420D}">
      <dgm:prSet/>
      <dgm:spPr/>
      <dgm:t>
        <a:bodyPr/>
        <a:lstStyle/>
        <a:p>
          <a:pPr rtl="1"/>
          <a:endParaRPr lang="he-IL"/>
        </a:p>
      </dgm:t>
    </dgm:pt>
    <dgm:pt modelId="{9890C096-D6D2-42AB-A5CC-4EA08E8BC0D1}">
      <dgm:prSet phldrT="[Text]" custT="1"/>
      <dgm:spPr/>
      <dgm:t>
        <a:bodyPr/>
        <a:lstStyle/>
        <a:p>
          <a:pPr rtl="1"/>
          <a:r>
            <a:rPr lang="he-IL" sz="2400" dirty="0"/>
            <a:t>חום, מגע, מתיחת עור, פוטנציאל החלקה וכו'...</a:t>
          </a:r>
          <a:endParaRPr lang="he-IL" sz="4000" dirty="0"/>
        </a:p>
      </dgm:t>
    </dgm:pt>
    <dgm:pt modelId="{12847F05-DBAE-4DCE-86DA-83F37875081E}" type="parTrans" cxnId="{368269CE-F731-42BE-983C-CBC4014F6BF7}">
      <dgm:prSet/>
      <dgm:spPr/>
      <dgm:t>
        <a:bodyPr/>
        <a:lstStyle/>
        <a:p>
          <a:pPr rtl="1"/>
          <a:endParaRPr lang="he-IL"/>
        </a:p>
      </dgm:t>
    </dgm:pt>
    <dgm:pt modelId="{13328BC8-1DD5-4270-98EF-37DF609ED28C}" type="sibTrans" cxnId="{368269CE-F731-42BE-983C-CBC4014F6BF7}">
      <dgm:prSet/>
      <dgm:spPr/>
      <dgm:t>
        <a:bodyPr/>
        <a:lstStyle/>
        <a:p>
          <a:pPr rtl="1"/>
          <a:endParaRPr lang="he-IL"/>
        </a:p>
      </dgm:t>
    </dgm:pt>
    <dgm:pt modelId="{B987DA82-6B89-417B-82F3-D45019DABACD}">
      <dgm:prSet phldrT="[Text]" custT="1"/>
      <dgm:spPr/>
      <dgm:t>
        <a:bodyPr/>
        <a:lstStyle/>
        <a:p>
          <a:pPr rtl="1"/>
          <a:r>
            <a:rPr lang="he-IL" sz="2400" dirty="0"/>
            <a:t>העברת המידע למוח</a:t>
          </a:r>
        </a:p>
      </dgm:t>
    </dgm:pt>
    <dgm:pt modelId="{EB7D05C5-7223-4140-AFCA-ADF0AE1A423F}" type="parTrans" cxnId="{837A2C48-3A16-4CD1-9A35-B6D6AB686B01}">
      <dgm:prSet/>
      <dgm:spPr/>
      <dgm:t>
        <a:bodyPr/>
        <a:lstStyle/>
        <a:p>
          <a:pPr rtl="1"/>
          <a:endParaRPr lang="he-IL"/>
        </a:p>
      </dgm:t>
    </dgm:pt>
    <dgm:pt modelId="{8FCDC55F-0637-4723-A1D2-9752E0FE50CD}" type="sibTrans" cxnId="{837A2C48-3A16-4CD1-9A35-B6D6AB686B01}">
      <dgm:prSet/>
      <dgm:spPr/>
      <dgm:t>
        <a:bodyPr/>
        <a:lstStyle/>
        <a:p>
          <a:pPr rtl="1"/>
          <a:endParaRPr lang="he-IL"/>
        </a:p>
      </dgm:t>
    </dgm:pt>
    <dgm:pt modelId="{7DE0EC9A-0593-43DF-B920-87B5D9A2AF9D}">
      <dgm:prSet phldrT="[Text]" custT="1"/>
      <dgm:spPr/>
      <dgm:t>
        <a:bodyPr/>
        <a:lstStyle/>
        <a:p>
          <a:pPr rtl="1"/>
          <a:r>
            <a:rPr lang="he-IL" sz="2400" dirty="0"/>
            <a:t>עיבוד נתונים במוח והחזרת משוב לתיקון אוטומטי</a:t>
          </a:r>
        </a:p>
      </dgm:t>
    </dgm:pt>
    <dgm:pt modelId="{D3E89EC0-0501-4CF1-AAA5-70ECF11943A3}" type="parTrans" cxnId="{2BBD3CD8-B038-41E3-A4D4-0407EFE6565D}">
      <dgm:prSet/>
      <dgm:spPr/>
      <dgm:t>
        <a:bodyPr/>
        <a:lstStyle/>
        <a:p>
          <a:pPr rtl="1"/>
          <a:endParaRPr lang="he-IL"/>
        </a:p>
      </dgm:t>
    </dgm:pt>
    <dgm:pt modelId="{09657554-0766-4CC7-86D2-037A5764C44B}" type="sibTrans" cxnId="{2BBD3CD8-B038-41E3-A4D4-0407EFE6565D}">
      <dgm:prSet/>
      <dgm:spPr/>
      <dgm:t>
        <a:bodyPr/>
        <a:lstStyle/>
        <a:p>
          <a:pPr rtl="1"/>
          <a:endParaRPr lang="he-IL"/>
        </a:p>
      </dgm:t>
    </dgm:pt>
    <dgm:pt modelId="{74E5715F-92E0-49FB-97C6-CBF6808A55E8}" type="pres">
      <dgm:prSet presAssocID="{CF202ED6-5133-4CB2-A3CD-D663CC1724BE}" presName="Name0" presStyleCnt="0">
        <dgm:presLayoutVars>
          <dgm:dir val="rev"/>
          <dgm:resizeHandles val="exact"/>
        </dgm:presLayoutVars>
      </dgm:prSet>
      <dgm:spPr/>
    </dgm:pt>
    <dgm:pt modelId="{5379205E-1023-4F1E-BFB9-11B00970959F}" type="pres">
      <dgm:prSet presAssocID="{0E9462D5-3FD0-4B3B-B32D-A33A9BC6C307}" presName="node" presStyleLbl="node1" presStyleIdx="0" presStyleCnt="4">
        <dgm:presLayoutVars>
          <dgm:bulletEnabled val="1"/>
        </dgm:presLayoutVars>
      </dgm:prSet>
      <dgm:spPr/>
      <dgm:t>
        <a:bodyPr/>
        <a:lstStyle/>
        <a:p>
          <a:pPr rtl="1"/>
          <a:endParaRPr lang="he-IL"/>
        </a:p>
      </dgm:t>
    </dgm:pt>
    <dgm:pt modelId="{9A8288BF-0D08-4FD6-84B9-C1A2B4D7FB8F}" type="pres">
      <dgm:prSet presAssocID="{F9CB9384-3DBA-4906-88CF-D43C54CF153F}" presName="sibTrans" presStyleLbl="sibTrans2D1" presStyleIdx="0" presStyleCnt="3"/>
      <dgm:spPr/>
      <dgm:t>
        <a:bodyPr/>
        <a:lstStyle/>
        <a:p>
          <a:pPr rtl="1"/>
          <a:endParaRPr lang="he-IL"/>
        </a:p>
      </dgm:t>
    </dgm:pt>
    <dgm:pt modelId="{C1713161-1B10-4F22-A54A-DA8F08B1BFC2}" type="pres">
      <dgm:prSet presAssocID="{F9CB9384-3DBA-4906-88CF-D43C54CF153F}" presName="connectorText" presStyleLbl="sibTrans2D1" presStyleIdx="0" presStyleCnt="3"/>
      <dgm:spPr/>
      <dgm:t>
        <a:bodyPr/>
        <a:lstStyle/>
        <a:p>
          <a:pPr rtl="1"/>
          <a:endParaRPr lang="he-IL"/>
        </a:p>
      </dgm:t>
    </dgm:pt>
    <dgm:pt modelId="{8265788B-8ED5-47F2-88B0-9AA66F24DA87}" type="pres">
      <dgm:prSet presAssocID="{9890C096-D6D2-42AB-A5CC-4EA08E8BC0D1}" presName="node" presStyleLbl="node1" presStyleIdx="1" presStyleCnt="4">
        <dgm:presLayoutVars>
          <dgm:bulletEnabled val="1"/>
        </dgm:presLayoutVars>
      </dgm:prSet>
      <dgm:spPr/>
      <dgm:t>
        <a:bodyPr/>
        <a:lstStyle/>
        <a:p>
          <a:pPr rtl="1"/>
          <a:endParaRPr lang="he-IL"/>
        </a:p>
      </dgm:t>
    </dgm:pt>
    <dgm:pt modelId="{4AE3BF5A-534A-4306-BEB1-B87FFA8957B7}" type="pres">
      <dgm:prSet presAssocID="{13328BC8-1DD5-4270-98EF-37DF609ED28C}" presName="sibTrans" presStyleLbl="sibTrans2D1" presStyleIdx="1" presStyleCnt="3"/>
      <dgm:spPr/>
      <dgm:t>
        <a:bodyPr/>
        <a:lstStyle/>
        <a:p>
          <a:pPr rtl="1"/>
          <a:endParaRPr lang="he-IL"/>
        </a:p>
      </dgm:t>
    </dgm:pt>
    <dgm:pt modelId="{06DE0A27-19F1-4A3F-A2BD-D2492E6B4D4C}" type="pres">
      <dgm:prSet presAssocID="{13328BC8-1DD5-4270-98EF-37DF609ED28C}" presName="connectorText" presStyleLbl="sibTrans2D1" presStyleIdx="1" presStyleCnt="3"/>
      <dgm:spPr/>
      <dgm:t>
        <a:bodyPr/>
        <a:lstStyle/>
        <a:p>
          <a:pPr rtl="1"/>
          <a:endParaRPr lang="he-IL"/>
        </a:p>
      </dgm:t>
    </dgm:pt>
    <dgm:pt modelId="{39791AA3-C4F3-4699-ABA3-79F155C3E946}" type="pres">
      <dgm:prSet presAssocID="{B987DA82-6B89-417B-82F3-D45019DABACD}" presName="node" presStyleLbl="node1" presStyleIdx="2" presStyleCnt="4">
        <dgm:presLayoutVars>
          <dgm:bulletEnabled val="1"/>
        </dgm:presLayoutVars>
      </dgm:prSet>
      <dgm:spPr/>
      <dgm:t>
        <a:bodyPr/>
        <a:lstStyle/>
        <a:p>
          <a:pPr rtl="1"/>
          <a:endParaRPr lang="he-IL"/>
        </a:p>
      </dgm:t>
    </dgm:pt>
    <dgm:pt modelId="{D8481B86-6686-4B8A-A962-542B24D5AC12}" type="pres">
      <dgm:prSet presAssocID="{8FCDC55F-0637-4723-A1D2-9752E0FE50CD}" presName="sibTrans" presStyleLbl="sibTrans2D1" presStyleIdx="2" presStyleCnt="3"/>
      <dgm:spPr/>
      <dgm:t>
        <a:bodyPr/>
        <a:lstStyle/>
        <a:p>
          <a:pPr rtl="1"/>
          <a:endParaRPr lang="he-IL"/>
        </a:p>
      </dgm:t>
    </dgm:pt>
    <dgm:pt modelId="{9C109109-3C6F-42CC-BA5C-80E34288108D}" type="pres">
      <dgm:prSet presAssocID="{8FCDC55F-0637-4723-A1D2-9752E0FE50CD}" presName="connectorText" presStyleLbl="sibTrans2D1" presStyleIdx="2" presStyleCnt="3"/>
      <dgm:spPr/>
      <dgm:t>
        <a:bodyPr/>
        <a:lstStyle/>
        <a:p>
          <a:pPr rtl="1"/>
          <a:endParaRPr lang="he-IL"/>
        </a:p>
      </dgm:t>
    </dgm:pt>
    <dgm:pt modelId="{48C7B555-8770-4CD5-B445-0FDF380514A2}" type="pres">
      <dgm:prSet presAssocID="{7DE0EC9A-0593-43DF-B920-87B5D9A2AF9D}" presName="node" presStyleLbl="node1" presStyleIdx="3" presStyleCnt="4">
        <dgm:presLayoutVars>
          <dgm:bulletEnabled val="1"/>
        </dgm:presLayoutVars>
      </dgm:prSet>
      <dgm:spPr/>
      <dgm:t>
        <a:bodyPr/>
        <a:lstStyle/>
        <a:p>
          <a:pPr rtl="1"/>
          <a:endParaRPr lang="he-IL"/>
        </a:p>
      </dgm:t>
    </dgm:pt>
  </dgm:ptLst>
  <dgm:cxnLst>
    <dgm:cxn modelId="{8D19E586-1CB3-4760-AE99-B870B729B4A2}" type="presOf" srcId="{9890C096-D6D2-42AB-A5CC-4EA08E8BC0D1}" destId="{8265788B-8ED5-47F2-88B0-9AA66F24DA87}" srcOrd="0" destOrd="0" presId="urn:microsoft.com/office/officeart/2005/8/layout/process1"/>
    <dgm:cxn modelId="{AF623CDA-D9DE-40D8-A50A-6978EA42420D}" srcId="{CF202ED6-5133-4CB2-A3CD-D663CC1724BE}" destId="{0E9462D5-3FD0-4B3B-B32D-A33A9BC6C307}" srcOrd="0" destOrd="0" parTransId="{9DCD2ACC-8186-40DC-81D9-BD4BE755401F}" sibTransId="{F9CB9384-3DBA-4906-88CF-D43C54CF153F}"/>
    <dgm:cxn modelId="{80AB4E2A-B392-4C96-BD7B-087D20306B2E}" type="presOf" srcId="{8FCDC55F-0637-4723-A1D2-9752E0FE50CD}" destId="{9C109109-3C6F-42CC-BA5C-80E34288108D}" srcOrd="1" destOrd="0" presId="urn:microsoft.com/office/officeart/2005/8/layout/process1"/>
    <dgm:cxn modelId="{5D56D1BA-6806-41CE-ADD8-7044D0A36426}" type="presOf" srcId="{13328BC8-1DD5-4270-98EF-37DF609ED28C}" destId="{06DE0A27-19F1-4A3F-A2BD-D2492E6B4D4C}" srcOrd="1" destOrd="0" presId="urn:microsoft.com/office/officeart/2005/8/layout/process1"/>
    <dgm:cxn modelId="{E6731597-FCBC-41A0-B58E-F433915B9B36}" type="presOf" srcId="{0E9462D5-3FD0-4B3B-B32D-A33A9BC6C307}" destId="{5379205E-1023-4F1E-BFB9-11B00970959F}" srcOrd="0" destOrd="0" presId="urn:microsoft.com/office/officeart/2005/8/layout/process1"/>
    <dgm:cxn modelId="{C9DB63E0-2C50-47B5-BBEB-E335C0DC53D9}" type="presOf" srcId="{8FCDC55F-0637-4723-A1D2-9752E0FE50CD}" destId="{D8481B86-6686-4B8A-A962-542B24D5AC12}" srcOrd="0" destOrd="0" presId="urn:microsoft.com/office/officeart/2005/8/layout/process1"/>
    <dgm:cxn modelId="{837A2C48-3A16-4CD1-9A35-B6D6AB686B01}" srcId="{CF202ED6-5133-4CB2-A3CD-D663CC1724BE}" destId="{B987DA82-6B89-417B-82F3-D45019DABACD}" srcOrd="2" destOrd="0" parTransId="{EB7D05C5-7223-4140-AFCA-ADF0AE1A423F}" sibTransId="{8FCDC55F-0637-4723-A1D2-9752E0FE50CD}"/>
    <dgm:cxn modelId="{66E942B6-E588-4DB4-9491-4B370CC90A95}" type="presOf" srcId="{F9CB9384-3DBA-4906-88CF-D43C54CF153F}" destId="{C1713161-1B10-4F22-A54A-DA8F08B1BFC2}" srcOrd="1" destOrd="0" presId="urn:microsoft.com/office/officeart/2005/8/layout/process1"/>
    <dgm:cxn modelId="{8936B24D-DC75-4D6B-9B97-6E8ADD86DD01}" type="presOf" srcId="{13328BC8-1DD5-4270-98EF-37DF609ED28C}" destId="{4AE3BF5A-534A-4306-BEB1-B87FFA8957B7}" srcOrd="0" destOrd="0" presId="urn:microsoft.com/office/officeart/2005/8/layout/process1"/>
    <dgm:cxn modelId="{2BBD3CD8-B038-41E3-A4D4-0407EFE6565D}" srcId="{CF202ED6-5133-4CB2-A3CD-D663CC1724BE}" destId="{7DE0EC9A-0593-43DF-B920-87B5D9A2AF9D}" srcOrd="3" destOrd="0" parTransId="{D3E89EC0-0501-4CF1-AAA5-70ECF11943A3}" sibTransId="{09657554-0766-4CC7-86D2-037A5764C44B}"/>
    <dgm:cxn modelId="{F6705853-2CFC-4E81-AEF0-CCE0FC3409B7}" type="presOf" srcId="{B987DA82-6B89-417B-82F3-D45019DABACD}" destId="{39791AA3-C4F3-4699-ABA3-79F155C3E946}" srcOrd="0" destOrd="0" presId="urn:microsoft.com/office/officeart/2005/8/layout/process1"/>
    <dgm:cxn modelId="{B4414028-3500-4657-A2F6-DD1FEAD1D04C}" type="presOf" srcId="{7DE0EC9A-0593-43DF-B920-87B5D9A2AF9D}" destId="{48C7B555-8770-4CD5-B445-0FDF380514A2}" srcOrd="0" destOrd="0" presId="urn:microsoft.com/office/officeart/2005/8/layout/process1"/>
    <dgm:cxn modelId="{2D68DB40-E788-4B54-A3B4-F09E0D189931}" type="presOf" srcId="{F9CB9384-3DBA-4906-88CF-D43C54CF153F}" destId="{9A8288BF-0D08-4FD6-84B9-C1A2B4D7FB8F}" srcOrd="0" destOrd="0" presId="urn:microsoft.com/office/officeart/2005/8/layout/process1"/>
    <dgm:cxn modelId="{82C698CE-93C3-48D4-9B8C-C5C1A9F30605}" type="presOf" srcId="{CF202ED6-5133-4CB2-A3CD-D663CC1724BE}" destId="{74E5715F-92E0-49FB-97C6-CBF6808A55E8}" srcOrd="0" destOrd="0" presId="urn:microsoft.com/office/officeart/2005/8/layout/process1"/>
    <dgm:cxn modelId="{368269CE-F731-42BE-983C-CBC4014F6BF7}" srcId="{CF202ED6-5133-4CB2-A3CD-D663CC1724BE}" destId="{9890C096-D6D2-42AB-A5CC-4EA08E8BC0D1}" srcOrd="1" destOrd="0" parTransId="{12847F05-DBAE-4DCE-86DA-83F37875081E}" sibTransId="{13328BC8-1DD5-4270-98EF-37DF609ED28C}"/>
    <dgm:cxn modelId="{7A4D56FE-EF08-4903-A5CD-DB9C0B6F9DB0}" type="presParOf" srcId="{74E5715F-92E0-49FB-97C6-CBF6808A55E8}" destId="{5379205E-1023-4F1E-BFB9-11B00970959F}" srcOrd="0" destOrd="0" presId="urn:microsoft.com/office/officeart/2005/8/layout/process1"/>
    <dgm:cxn modelId="{CA8C245A-7613-4356-88A4-28C951D5E425}" type="presParOf" srcId="{74E5715F-92E0-49FB-97C6-CBF6808A55E8}" destId="{9A8288BF-0D08-4FD6-84B9-C1A2B4D7FB8F}" srcOrd="1" destOrd="0" presId="urn:microsoft.com/office/officeart/2005/8/layout/process1"/>
    <dgm:cxn modelId="{1DAF3332-4630-42CB-BBDE-04A9B75A1668}" type="presParOf" srcId="{9A8288BF-0D08-4FD6-84B9-C1A2B4D7FB8F}" destId="{C1713161-1B10-4F22-A54A-DA8F08B1BFC2}" srcOrd="0" destOrd="0" presId="urn:microsoft.com/office/officeart/2005/8/layout/process1"/>
    <dgm:cxn modelId="{D0B3017D-B4FC-4107-B25A-49584D9629EF}" type="presParOf" srcId="{74E5715F-92E0-49FB-97C6-CBF6808A55E8}" destId="{8265788B-8ED5-47F2-88B0-9AA66F24DA87}" srcOrd="2" destOrd="0" presId="urn:microsoft.com/office/officeart/2005/8/layout/process1"/>
    <dgm:cxn modelId="{32113749-0A27-475E-A05A-0AFF15F0AD85}" type="presParOf" srcId="{74E5715F-92E0-49FB-97C6-CBF6808A55E8}" destId="{4AE3BF5A-534A-4306-BEB1-B87FFA8957B7}" srcOrd="3" destOrd="0" presId="urn:microsoft.com/office/officeart/2005/8/layout/process1"/>
    <dgm:cxn modelId="{98649B8F-4D94-4A20-B762-461D18D47BA3}" type="presParOf" srcId="{4AE3BF5A-534A-4306-BEB1-B87FFA8957B7}" destId="{06DE0A27-19F1-4A3F-A2BD-D2492E6B4D4C}" srcOrd="0" destOrd="0" presId="urn:microsoft.com/office/officeart/2005/8/layout/process1"/>
    <dgm:cxn modelId="{2307BBE6-4534-43F1-ABC5-198900C52E61}" type="presParOf" srcId="{74E5715F-92E0-49FB-97C6-CBF6808A55E8}" destId="{39791AA3-C4F3-4699-ABA3-79F155C3E946}" srcOrd="4" destOrd="0" presId="urn:microsoft.com/office/officeart/2005/8/layout/process1"/>
    <dgm:cxn modelId="{18417338-0950-49BC-9785-BA2410B374FD}" type="presParOf" srcId="{74E5715F-92E0-49FB-97C6-CBF6808A55E8}" destId="{D8481B86-6686-4B8A-A962-542B24D5AC12}" srcOrd="5" destOrd="0" presId="urn:microsoft.com/office/officeart/2005/8/layout/process1"/>
    <dgm:cxn modelId="{AAE0B4F3-139D-42D8-BAC7-7A09BE9D3A16}" type="presParOf" srcId="{D8481B86-6686-4B8A-A962-542B24D5AC12}" destId="{9C109109-3C6F-42CC-BA5C-80E34288108D}" srcOrd="0" destOrd="0" presId="urn:microsoft.com/office/officeart/2005/8/layout/process1"/>
    <dgm:cxn modelId="{207BE6BD-A8B8-40A0-AFED-5565F9E02663}" type="presParOf" srcId="{74E5715F-92E0-49FB-97C6-CBF6808A55E8}" destId="{48C7B555-8770-4CD5-B445-0FDF380514A2}" srcOrd="6" destOrd="0" presId="urn:microsoft.com/office/officeart/2005/8/layout/process1"/>
  </dgm:cxnLst>
  <dgm:bg/>
  <dgm:whole/>
  <dgm:extLst>
    <a:ext uri="http://schemas.microsoft.com/office/drawing/2008/diagram">
      <dsp:dataModelExt xmlns=""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05A0186-53D2-40BE-8B1E-8882221D948F}" type="doc">
      <dgm:prSet loTypeId="urn:microsoft.com/office/officeart/2005/8/layout/process1" loCatId="process" qsTypeId="urn:microsoft.com/office/officeart/2005/8/quickstyle/simple1" qsCatId="simple" csTypeId="urn:microsoft.com/office/officeart/2005/8/colors/colorful4" csCatId="colorful" phldr="1"/>
      <dgm:spPr/>
    </dgm:pt>
    <dgm:pt modelId="{0311CECF-2C20-4581-A09A-AEFDED76A7CA}">
      <dgm:prSet phldrT="[Text]"/>
      <dgm:spPr/>
      <dgm:t>
        <a:bodyPr/>
        <a:lstStyle/>
        <a:p>
          <a:pPr rtl="1"/>
          <a:r>
            <a:rPr lang="he-IL" dirty="0">
              <a:latin typeface="Calibri" panose="020F0502020204030204" pitchFamily="34" charset="0"/>
              <a:cs typeface="Calibri" panose="020F0502020204030204" pitchFamily="34" charset="0"/>
            </a:rPr>
            <a:t>אות אלקטרוני</a:t>
          </a:r>
        </a:p>
      </dgm:t>
    </dgm:pt>
    <dgm:pt modelId="{47A39BF6-A51E-46C7-B89C-E4AD410DC7DB}" type="parTrans" cxnId="{C3142754-FFCE-4869-9ED5-D28E995589B9}">
      <dgm:prSet/>
      <dgm:spPr/>
      <dgm:t>
        <a:bodyPr/>
        <a:lstStyle/>
        <a:p>
          <a:pPr rtl="1"/>
          <a:endParaRPr lang="he-IL"/>
        </a:p>
      </dgm:t>
    </dgm:pt>
    <dgm:pt modelId="{FFB0BFD8-E5B0-4FC8-BF06-239291551DC4}" type="sibTrans" cxnId="{C3142754-FFCE-4869-9ED5-D28E995589B9}">
      <dgm:prSet/>
      <dgm:spPr/>
      <dgm:t>
        <a:bodyPr/>
        <a:lstStyle/>
        <a:p>
          <a:pPr rtl="1"/>
          <a:endParaRPr lang="he-IL"/>
        </a:p>
      </dgm:t>
    </dgm:pt>
    <dgm:pt modelId="{CCBD7E3D-788F-4ADB-9885-7C3EA6E51A9A}">
      <dgm:prSet phldrT="[Text]"/>
      <dgm:spPr/>
      <dgm:t>
        <a:bodyPr/>
        <a:lstStyle/>
        <a:p>
          <a:pPr rtl="1"/>
          <a:r>
            <a:rPr lang="he-IL" dirty="0">
              <a:latin typeface="Calibri" panose="020F0502020204030204" pitchFamily="34" charset="0"/>
              <a:cs typeface="Calibri" panose="020F0502020204030204" pitchFamily="34" charset="0"/>
            </a:rPr>
            <a:t>המרה</a:t>
          </a:r>
        </a:p>
      </dgm:t>
    </dgm:pt>
    <dgm:pt modelId="{88A11805-E916-4FCE-BF53-CB4E1DEC3494}" type="parTrans" cxnId="{0A1B70A3-8BDD-420C-9B23-C8F6B278085E}">
      <dgm:prSet/>
      <dgm:spPr/>
      <dgm:t>
        <a:bodyPr/>
        <a:lstStyle/>
        <a:p>
          <a:pPr rtl="1"/>
          <a:endParaRPr lang="he-IL"/>
        </a:p>
      </dgm:t>
    </dgm:pt>
    <dgm:pt modelId="{43FED013-4BBC-4BB0-9441-AA4216729C53}" type="sibTrans" cxnId="{0A1B70A3-8BDD-420C-9B23-C8F6B278085E}">
      <dgm:prSet/>
      <dgm:spPr/>
      <dgm:t>
        <a:bodyPr/>
        <a:lstStyle/>
        <a:p>
          <a:pPr rtl="1"/>
          <a:endParaRPr lang="he-IL"/>
        </a:p>
      </dgm:t>
    </dgm:pt>
    <dgm:pt modelId="{443562D6-494A-4576-AB90-1E5927E08B6B}">
      <dgm:prSet phldrT="[Text]"/>
      <dgm:spPr/>
      <dgm:t>
        <a:bodyPr/>
        <a:lstStyle/>
        <a:p>
          <a:pPr rtl="1"/>
          <a:r>
            <a:rPr lang="he-IL" dirty="0">
              <a:latin typeface="Calibri" panose="020F0502020204030204" pitchFamily="34" charset="0"/>
              <a:cs typeface="Calibri" panose="020F0502020204030204" pitchFamily="34" charset="0"/>
            </a:rPr>
            <a:t>אות</a:t>
          </a:r>
          <a:r>
            <a:rPr lang="he-IL" dirty="0"/>
            <a:t> מכני</a:t>
          </a:r>
        </a:p>
      </dgm:t>
    </dgm:pt>
    <dgm:pt modelId="{FBCE54AC-E9F2-4C47-9058-0446E5C3C487}" type="parTrans" cxnId="{C740D370-2BC2-475B-B937-9192E347AFFC}">
      <dgm:prSet/>
      <dgm:spPr/>
      <dgm:t>
        <a:bodyPr/>
        <a:lstStyle/>
        <a:p>
          <a:pPr rtl="1"/>
          <a:endParaRPr lang="he-IL"/>
        </a:p>
      </dgm:t>
    </dgm:pt>
    <dgm:pt modelId="{36E46FEA-4D69-4E15-80F3-16C1BB3812A4}" type="sibTrans" cxnId="{C740D370-2BC2-475B-B937-9192E347AFFC}">
      <dgm:prSet/>
      <dgm:spPr/>
      <dgm:t>
        <a:bodyPr/>
        <a:lstStyle/>
        <a:p>
          <a:pPr rtl="1"/>
          <a:endParaRPr lang="he-IL"/>
        </a:p>
      </dgm:t>
    </dgm:pt>
    <dgm:pt modelId="{864D4AF6-F953-41EB-B2CB-576AEA98D5CF}">
      <dgm:prSet phldrT="[Text]"/>
      <dgm:spPr/>
      <dgm:t>
        <a:bodyPr/>
        <a:lstStyle/>
        <a:p>
          <a:pPr rtl="1"/>
          <a:r>
            <a:rPr lang="he-IL" dirty="0">
              <a:latin typeface="Calibri" panose="020F0502020204030204" pitchFamily="34" charset="0"/>
              <a:cs typeface="Calibri" panose="020F0502020204030204" pitchFamily="34" charset="0"/>
            </a:rPr>
            <a:t>תגובת המטופל</a:t>
          </a:r>
        </a:p>
      </dgm:t>
    </dgm:pt>
    <dgm:pt modelId="{14A8816A-8472-4E57-A5A4-074D96960E2A}" type="parTrans" cxnId="{CE793BEB-D6F2-4B90-92F5-408BE93E5BDF}">
      <dgm:prSet/>
      <dgm:spPr/>
      <dgm:t>
        <a:bodyPr/>
        <a:lstStyle/>
        <a:p>
          <a:pPr rtl="1"/>
          <a:endParaRPr lang="he-IL"/>
        </a:p>
      </dgm:t>
    </dgm:pt>
    <dgm:pt modelId="{A27634F9-7A05-4D95-8CD6-E7B6268E3078}" type="sibTrans" cxnId="{CE793BEB-D6F2-4B90-92F5-408BE93E5BDF}">
      <dgm:prSet/>
      <dgm:spPr/>
      <dgm:t>
        <a:bodyPr/>
        <a:lstStyle/>
        <a:p>
          <a:pPr rtl="1"/>
          <a:endParaRPr lang="he-IL"/>
        </a:p>
      </dgm:t>
    </dgm:pt>
    <dgm:pt modelId="{340F72B8-1E58-436D-B8F4-59682DF2B37E}" type="pres">
      <dgm:prSet presAssocID="{F05A0186-53D2-40BE-8B1E-8882221D948F}" presName="Name0" presStyleCnt="0">
        <dgm:presLayoutVars>
          <dgm:dir val="rev"/>
          <dgm:resizeHandles val="exact"/>
        </dgm:presLayoutVars>
      </dgm:prSet>
      <dgm:spPr/>
    </dgm:pt>
    <dgm:pt modelId="{E3614A0D-6BB3-4540-B6D6-9FE578AE0DB7}" type="pres">
      <dgm:prSet presAssocID="{0311CECF-2C20-4581-A09A-AEFDED76A7CA}" presName="node" presStyleLbl="node1" presStyleIdx="0" presStyleCnt="4">
        <dgm:presLayoutVars>
          <dgm:bulletEnabled val="1"/>
        </dgm:presLayoutVars>
      </dgm:prSet>
      <dgm:spPr/>
      <dgm:t>
        <a:bodyPr/>
        <a:lstStyle/>
        <a:p>
          <a:pPr rtl="1"/>
          <a:endParaRPr lang="he-IL"/>
        </a:p>
      </dgm:t>
    </dgm:pt>
    <dgm:pt modelId="{E5CBB367-AB5B-4BCF-B21B-B8B3F2E58314}" type="pres">
      <dgm:prSet presAssocID="{FFB0BFD8-E5B0-4FC8-BF06-239291551DC4}" presName="sibTrans" presStyleLbl="sibTrans2D1" presStyleIdx="0" presStyleCnt="3"/>
      <dgm:spPr/>
      <dgm:t>
        <a:bodyPr/>
        <a:lstStyle/>
        <a:p>
          <a:pPr rtl="1"/>
          <a:endParaRPr lang="he-IL"/>
        </a:p>
      </dgm:t>
    </dgm:pt>
    <dgm:pt modelId="{6C0681FA-A109-4492-A59A-82DBBE7DF09F}" type="pres">
      <dgm:prSet presAssocID="{FFB0BFD8-E5B0-4FC8-BF06-239291551DC4}" presName="connectorText" presStyleLbl="sibTrans2D1" presStyleIdx="0" presStyleCnt="3"/>
      <dgm:spPr/>
      <dgm:t>
        <a:bodyPr/>
        <a:lstStyle/>
        <a:p>
          <a:pPr rtl="1"/>
          <a:endParaRPr lang="he-IL"/>
        </a:p>
      </dgm:t>
    </dgm:pt>
    <dgm:pt modelId="{FD881CA2-D5C7-4EA8-A348-CA6B04B5804D}" type="pres">
      <dgm:prSet presAssocID="{CCBD7E3D-788F-4ADB-9885-7C3EA6E51A9A}" presName="node" presStyleLbl="node1" presStyleIdx="1" presStyleCnt="4">
        <dgm:presLayoutVars>
          <dgm:bulletEnabled val="1"/>
        </dgm:presLayoutVars>
      </dgm:prSet>
      <dgm:spPr/>
      <dgm:t>
        <a:bodyPr/>
        <a:lstStyle/>
        <a:p>
          <a:pPr rtl="1"/>
          <a:endParaRPr lang="he-IL"/>
        </a:p>
      </dgm:t>
    </dgm:pt>
    <dgm:pt modelId="{F0E82626-9914-4DA9-B58D-E2B71B1356D2}" type="pres">
      <dgm:prSet presAssocID="{43FED013-4BBC-4BB0-9441-AA4216729C53}" presName="sibTrans" presStyleLbl="sibTrans2D1" presStyleIdx="1" presStyleCnt="3"/>
      <dgm:spPr/>
      <dgm:t>
        <a:bodyPr/>
        <a:lstStyle/>
        <a:p>
          <a:pPr rtl="1"/>
          <a:endParaRPr lang="he-IL"/>
        </a:p>
      </dgm:t>
    </dgm:pt>
    <dgm:pt modelId="{C764B6FF-7D20-4B62-BACE-342C767E03F7}" type="pres">
      <dgm:prSet presAssocID="{43FED013-4BBC-4BB0-9441-AA4216729C53}" presName="connectorText" presStyleLbl="sibTrans2D1" presStyleIdx="1" presStyleCnt="3"/>
      <dgm:spPr/>
      <dgm:t>
        <a:bodyPr/>
        <a:lstStyle/>
        <a:p>
          <a:pPr rtl="1"/>
          <a:endParaRPr lang="he-IL"/>
        </a:p>
      </dgm:t>
    </dgm:pt>
    <dgm:pt modelId="{7676EDAA-3253-4863-BAA5-FD224A2FB762}" type="pres">
      <dgm:prSet presAssocID="{443562D6-494A-4576-AB90-1E5927E08B6B}" presName="node" presStyleLbl="node1" presStyleIdx="2" presStyleCnt="4">
        <dgm:presLayoutVars>
          <dgm:bulletEnabled val="1"/>
        </dgm:presLayoutVars>
      </dgm:prSet>
      <dgm:spPr/>
      <dgm:t>
        <a:bodyPr/>
        <a:lstStyle/>
        <a:p>
          <a:pPr rtl="1"/>
          <a:endParaRPr lang="he-IL"/>
        </a:p>
      </dgm:t>
    </dgm:pt>
    <dgm:pt modelId="{F9A156B8-9081-4806-99F1-6C5B0193F5F9}" type="pres">
      <dgm:prSet presAssocID="{36E46FEA-4D69-4E15-80F3-16C1BB3812A4}" presName="sibTrans" presStyleLbl="sibTrans2D1" presStyleIdx="2" presStyleCnt="3"/>
      <dgm:spPr/>
      <dgm:t>
        <a:bodyPr/>
        <a:lstStyle/>
        <a:p>
          <a:pPr rtl="1"/>
          <a:endParaRPr lang="he-IL"/>
        </a:p>
      </dgm:t>
    </dgm:pt>
    <dgm:pt modelId="{21F03FF5-F720-4EFA-A065-68CAAFF94936}" type="pres">
      <dgm:prSet presAssocID="{36E46FEA-4D69-4E15-80F3-16C1BB3812A4}" presName="connectorText" presStyleLbl="sibTrans2D1" presStyleIdx="2" presStyleCnt="3"/>
      <dgm:spPr/>
      <dgm:t>
        <a:bodyPr/>
        <a:lstStyle/>
        <a:p>
          <a:pPr rtl="1"/>
          <a:endParaRPr lang="he-IL"/>
        </a:p>
      </dgm:t>
    </dgm:pt>
    <dgm:pt modelId="{767253A6-BBEA-499D-841B-75421A88D630}" type="pres">
      <dgm:prSet presAssocID="{864D4AF6-F953-41EB-B2CB-576AEA98D5CF}" presName="node" presStyleLbl="node1" presStyleIdx="3" presStyleCnt="4">
        <dgm:presLayoutVars>
          <dgm:bulletEnabled val="1"/>
        </dgm:presLayoutVars>
      </dgm:prSet>
      <dgm:spPr/>
      <dgm:t>
        <a:bodyPr/>
        <a:lstStyle/>
        <a:p>
          <a:pPr rtl="1"/>
          <a:endParaRPr lang="he-IL"/>
        </a:p>
      </dgm:t>
    </dgm:pt>
  </dgm:ptLst>
  <dgm:cxnLst>
    <dgm:cxn modelId="{0A1B70A3-8BDD-420C-9B23-C8F6B278085E}" srcId="{F05A0186-53D2-40BE-8B1E-8882221D948F}" destId="{CCBD7E3D-788F-4ADB-9885-7C3EA6E51A9A}" srcOrd="1" destOrd="0" parTransId="{88A11805-E916-4FCE-BF53-CB4E1DEC3494}" sibTransId="{43FED013-4BBC-4BB0-9441-AA4216729C53}"/>
    <dgm:cxn modelId="{CB217CC6-C933-4DB0-BB4F-C44C14306277}" type="presOf" srcId="{FFB0BFD8-E5B0-4FC8-BF06-239291551DC4}" destId="{E5CBB367-AB5B-4BCF-B21B-B8B3F2E58314}" srcOrd="0" destOrd="0" presId="urn:microsoft.com/office/officeart/2005/8/layout/process1"/>
    <dgm:cxn modelId="{C740D370-2BC2-475B-B937-9192E347AFFC}" srcId="{F05A0186-53D2-40BE-8B1E-8882221D948F}" destId="{443562D6-494A-4576-AB90-1E5927E08B6B}" srcOrd="2" destOrd="0" parTransId="{FBCE54AC-E9F2-4C47-9058-0446E5C3C487}" sibTransId="{36E46FEA-4D69-4E15-80F3-16C1BB3812A4}"/>
    <dgm:cxn modelId="{CE793BEB-D6F2-4B90-92F5-408BE93E5BDF}" srcId="{F05A0186-53D2-40BE-8B1E-8882221D948F}" destId="{864D4AF6-F953-41EB-B2CB-576AEA98D5CF}" srcOrd="3" destOrd="0" parTransId="{14A8816A-8472-4E57-A5A4-074D96960E2A}" sibTransId="{A27634F9-7A05-4D95-8CD6-E7B6268E3078}"/>
    <dgm:cxn modelId="{31D3E19B-D9E3-4597-965F-673BB53CCC46}" type="presOf" srcId="{43FED013-4BBC-4BB0-9441-AA4216729C53}" destId="{C764B6FF-7D20-4B62-BACE-342C767E03F7}" srcOrd="1" destOrd="0" presId="urn:microsoft.com/office/officeart/2005/8/layout/process1"/>
    <dgm:cxn modelId="{74BE3472-644D-4D55-926E-37C494A6C63B}" type="presOf" srcId="{36E46FEA-4D69-4E15-80F3-16C1BB3812A4}" destId="{21F03FF5-F720-4EFA-A065-68CAAFF94936}" srcOrd="1" destOrd="0" presId="urn:microsoft.com/office/officeart/2005/8/layout/process1"/>
    <dgm:cxn modelId="{62FB1816-A5B4-41CB-B234-183D3861EC41}" type="presOf" srcId="{F05A0186-53D2-40BE-8B1E-8882221D948F}" destId="{340F72B8-1E58-436D-B8F4-59682DF2B37E}" srcOrd="0" destOrd="0" presId="urn:microsoft.com/office/officeart/2005/8/layout/process1"/>
    <dgm:cxn modelId="{D8F3C5D1-923E-46C9-966B-90673DAE80FE}" type="presOf" srcId="{864D4AF6-F953-41EB-B2CB-576AEA98D5CF}" destId="{767253A6-BBEA-499D-841B-75421A88D630}" srcOrd="0" destOrd="0" presId="urn:microsoft.com/office/officeart/2005/8/layout/process1"/>
    <dgm:cxn modelId="{AFB156F3-7598-4A35-9637-27A57963CE0B}" type="presOf" srcId="{FFB0BFD8-E5B0-4FC8-BF06-239291551DC4}" destId="{6C0681FA-A109-4492-A59A-82DBBE7DF09F}" srcOrd="1" destOrd="0" presId="urn:microsoft.com/office/officeart/2005/8/layout/process1"/>
    <dgm:cxn modelId="{C3142754-FFCE-4869-9ED5-D28E995589B9}" srcId="{F05A0186-53D2-40BE-8B1E-8882221D948F}" destId="{0311CECF-2C20-4581-A09A-AEFDED76A7CA}" srcOrd="0" destOrd="0" parTransId="{47A39BF6-A51E-46C7-B89C-E4AD410DC7DB}" sibTransId="{FFB0BFD8-E5B0-4FC8-BF06-239291551DC4}"/>
    <dgm:cxn modelId="{BD563FCD-1499-4F04-871D-1D3435210F7E}" type="presOf" srcId="{443562D6-494A-4576-AB90-1E5927E08B6B}" destId="{7676EDAA-3253-4863-BAA5-FD224A2FB762}" srcOrd="0" destOrd="0" presId="urn:microsoft.com/office/officeart/2005/8/layout/process1"/>
    <dgm:cxn modelId="{CCD58E7D-05B2-45A6-9EFB-1B7CCFF88002}" type="presOf" srcId="{CCBD7E3D-788F-4ADB-9885-7C3EA6E51A9A}" destId="{FD881CA2-D5C7-4EA8-A348-CA6B04B5804D}" srcOrd="0" destOrd="0" presId="urn:microsoft.com/office/officeart/2005/8/layout/process1"/>
    <dgm:cxn modelId="{5835DDE5-9F4F-4545-B42C-78289CEF6B17}" type="presOf" srcId="{36E46FEA-4D69-4E15-80F3-16C1BB3812A4}" destId="{F9A156B8-9081-4806-99F1-6C5B0193F5F9}" srcOrd="0" destOrd="0" presId="urn:microsoft.com/office/officeart/2005/8/layout/process1"/>
    <dgm:cxn modelId="{97F8FF4B-408B-478A-98B1-D7C72995E737}" type="presOf" srcId="{0311CECF-2C20-4581-A09A-AEFDED76A7CA}" destId="{E3614A0D-6BB3-4540-B6D6-9FE578AE0DB7}" srcOrd="0" destOrd="0" presId="urn:microsoft.com/office/officeart/2005/8/layout/process1"/>
    <dgm:cxn modelId="{3D9E03BB-1C1C-4E45-9528-1F8704469C13}" type="presOf" srcId="{43FED013-4BBC-4BB0-9441-AA4216729C53}" destId="{F0E82626-9914-4DA9-B58D-E2B71B1356D2}" srcOrd="0" destOrd="0" presId="urn:microsoft.com/office/officeart/2005/8/layout/process1"/>
    <dgm:cxn modelId="{DF20A2E9-F6CE-41C9-95D9-EA862457B360}" type="presParOf" srcId="{340F72B8-1E58-436D-B8F4-59682DF2B37E}" destId="{E3614A0D-6BB3-4540-B6D6-9FE578AE0DB7}" srcOrd="0" destOrd="0" presId="urn:microsoft.com/office/officeart/2005/8/layout/process1"/>
    <dgm:cxn modelId="{0A1C94AA-A062-463B-8B09-D50D37ED676B}" type="presParOf" srcId="{340F72B8-1E58-436D-B8F4-59682DF2B37E}" destId="{E5CBB367-AB5B-4BCF-B21B-B8B3F2E58314}" srcOrd="1" destOrd="0" presId="urn:microsoft.com/office/officeart/2005/8/layout/process1"/>
    <dgm:cxn modelId="{D27458C7-23D4-4E5E-90FA-8E55D97636E3}" type="presParOf" srcId="{E5CBB367-AB5B-4BCF-B21B-B8B3F2E58314}" destId="{6C0681FA-A109-4492-A59A-82DBBE7DF09F}" srcOrd="0" destOrd="0" presId="urn:microsoft.com/office/officeart/2005/8/layout/process1"/>
    <dgm:cxn modelId="{C4402B26-8152-46FC-8571-CB5278EA55B9}" type="presParOf" srcId="{340F72B8-1E58-436D-B8F4-59682DF2B37E}" destId="{FD881CA2-D5C7-4EA8-A348-CA6B04B5804D}" srcOrd="2" destOrd="0" presId="urn:microsoft.com/office/officeart/2005/8/layout/process1"/>
    <dgm:cxn modelId="{9DA032D3-3042-41F3-BB48-D02CC62822CF}" type="presParOf" srcId="{340F72B8-1E58-436D-B8F4-59682DF2B37E}" destId="{F0E82626-9914-4DA9-B58D-E2B71B1356D2}" srcOrd="3" destOrd="0" presId="urn:microsoft.com/office/officeart/2005/8/layout/process1"/>
    <dgm:cxn modelId="{F13D1F4F-1A0A-44BA-8D5E-F8391C300CEB}" type="presParOf" srcId="{F0E82626-9914-4DA9-B58D-E2B71B1356D2}" destId="{C764B6FF-7D20-4B62-BACE-342C767E03F7}" srcOrd="0" destOrd="0" presId="urn:microsoft.com/office/officeart/2005/8/layout/process1"/>
    <dgm:cxn modelId="{43339358-64A0-401A-9481-2401CF16262A}" type="presParOf" srcId="{340F72B8-1E58-436D-B8F4-59682DF2B37E}" destId="{7676EDAA-3253-4863-BAA5-FD224A2FB762}" srcOrd="4" destOrd="0" presId="urn:microsoft.com/office/officeart/2005/8/layout/process1"/>
    <dgm:cxn modelId="{D4F2A57A-F8EF-4D00-824F-F3419A2D47FA}" type="presParOf" srcId="{340F72B8-1E58-436D-B8F4-59682DF2B37E}" destId="{F9A156B8-9081-4806-99F1-6C5B0193F5F9}" srcOrd="5" destOrd="0" presId="urn:microsoft.com/office/officeart/2005/8/layout/process1"/>
    <dgm:cxn modelId="{40E2F734-4A43-4054-A283-3D46C68C5A76}" type="presParOf" srcId="{F9A156B8-9081-4806-99F1-6C5B0193F5F9}" destId="{21F03FF5-F720-4EFA-A065-68CAAFF94936}" srcOrd="0" destOrd="0" presId="urn:microsoft.com/office/officeart/2005/8/layout/process1"/>
    <dgm:cxn modelId="{88D75D4A-FA5E-4239-A993-BF0A2D901A1E}" type="presParOf" srcId="{340F72B8-1E58-436D-B8F4-59682DF2B37E}" destId="{767253A6-BBEA-499D-841B-75421A88D630}" srcOrd="6" destOrd="0" presId="urn:microsoft.com/office/officeart/2005/8/layout/process1"/>
  </dgm:cxnLst>
  <dgm:bg/>
  <dgm:whole/>
  <dgm:extLst>
    <a:ext uri="http://schemas.microsoft.com/office/drawing/2008/diagram">
      <dsp:dataModelExt xmlns=""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05A0186-53D2-40BE-8B1E-8882221D948F}" type="doc">
      <dgm:prSet loTypeId="urn:microsoft.com/office/officeart/2005/8/layout/process1" loCatId="process" qsTypeId="urn:microsoft.com/office/officeart/2005/8/quickstyle/simple1" qsCatId="simple" csTypeId="urn:microsoft.com/office/officeart/2005/8/colors/colorful4" csCatId="colorful" phldr="1"/>
      <dgm:spPr/>
    </dgm:pt>
    <dgm:pt modelId="{0311CECF-2C20-4581-A09A-AEFDED76A7CA}">
      <dgm:prSet phldrT="[Text]"/>
      <dgm:spPr/>
      <dgm:t>
        <a:bodyPr/>
        <a:lstStyle/>
        <a:p>
          <a:pPr rtl="1"/>
          <a:r>
            <a:rPr lang="he-IL" dirty="0"/>
            <a:t>דימוי אכילה עם מזלג עם מד לחץ מובנה </a:t>
          </a:r>
        </a:p>
      </dgm:t>
    </dgm:pt>
    <dgm:pt modelId="{47A39BF6-A51E-46C7-B89C-E4AD410DC7DB}" type="parTrans" cxnId="{C3142754-FFCE-4869-9ED5-D28E995589B9}">
      <dgm:prSet/>
      <dgm:spPr/>
      <dgm:t>
        <a:bodyPr/>
        <a:lstStyle/>
        <a:p>
          <a:pPr rtl="1"/>
          <a:endParaRPr lang="he-IL"/>
        </a:p>
      </dgm:t>
    </dgm:pt>
    <dgm:pt modelId="{FFB0BFD8-E5B0-4FC8-BF06-239291551DC4}" type="sibTrans" cxnId="{C3142754-FFCE-4869-9ED5-D28E995589B9}">
      <dgm:prSet/>
      <dgm:spPr/>
      <dgm:t>
        <a:bodyPr/>
        <a:lstStyle/>
        <a:p>
          <a:pPr rtl="1"/>
          <a:endParaRPr lang="he-IL"/>
        </a:p>
      </dgm:t>
    </dgm:pt>
    <dgm:pt modelId="{CCBD7E3D-788F-4ADB-9885-7C3EA6E51A9A}">
      <dgm:prSet phldrT="[Text]"/>
      <dgm:spPr/>
      <dgm:t>
        <a:bodyPr/>
        <a:lstStyle/>
        <a:p>
          <a:pPr rtl="1"/>
          <a:r>
            <a:rPr lang="he-IL" dirty="0"/>
            <a:t>"דקירת" 3 פנקייקים והכנסה לפה </a:t>
          </a:r>
        </a:p>
      </dgm:t>
    </dgm:pt>
    <dgm:pt modelId="{88A11805-E916-4FCE-BF53-CB4E1DEC3494}" type="parTrans" cxnId="{0A1B70A3-8BDD-420C-9B23-C8F6B278085E}">
      <dgm:prSet/>
      <dgm:spPr/>
      <dgm:t>
        <a:bodyPr/>
        <a:lstStyle/>
        <a:p>
          <a:pPr rtl="1"/>
          <a:endParaRPr lang="he-IL"/>
        </a:p>
      </dgm:t>
    </dgm:pt>
    <dgm:pt modelId="{43FED013-4BBC-4BB0-9441-AA4216729C53}" type="sibTrans" cxnId="{0A1B70A3-8BDD-420C-9B23-C8F6B278085E}">
      <dgm:prSet/>
      <dgm:spPr/>
      <dgm:t>
        <a:bodyPr/>
        <a:lstStyle/>
        <a:p>
          <a:pPr rtl="1"/>
          <a:endParaRPr lang="he-IL"/>
        </a:p>
      </dgm:t>
    </dgm:pt>
    <dgm:pt modelId="{443562D6-494A-4576-AB90-1E5927E08B6B}">
      <dgm:prSet phldrT="[Text]"/>
      <dgm:spPr/>
      <dgm:t>
        <a:bodyPr/>
        <a:lstStyle/>
        <a:p>
          <a:pPr rtl="1"/>
          <a:r>
            <a:rPr lang="he-IL" dirty="0"/>
            <a:t>הנחה בחזרה בצלחת </a:t>
          </a:r>
        </a:p>
      </dgm:t>
    </dgm:pt>
    <dgm:pt modelId="{FBCE54AC-E9F2-4C47-9058-0446E5C3C487}" type="parTrans" cxnId="{C740D370-2BC2-475B-B937-9192E347AFFC}">
      <dgm:prSet/>
      <dgm:spPr/>
      <dgm:t>
        <a:bodyPr/>
        <a:lstStyle/>
        <a:p>
          <a:pPr rtl="1"/>
          <a:endParaRPr lang="he-IL"/>
        </a:p>
      </dgm:t>
    </dgm:pt>
    <dgm:pt modelId="{36E46FEA-4D69-4E15-80F3-16C1BB3812A4}" type="sibTrans" cxnId="{C740D370-2BC2-475B-B937-9192E347AFFC}">
      <dgm:prSet/>
      <dgm:spPr/>
      <dgm:t>
        <a:bodyPr/>
        <a:lstStyle/>
        <a:p>
          <a:pPr rtl="1"/>
          <a:endParaRPr lang="he-IL"/>
        </a:p>
      </dgm:t>
    </dgm:pt>
    <dgm:pt modelId="{340F72B8-1E58-436D-B8F4-59682DF2B37E}" type="pres">
      <dgm:prSet presAssocID="{F05A0186-53D2-40BE-8B1E-8882221D948F}" presName="Name0" presStyleCnt="0">
        <dgm:presLayoutVars>
          <dgm:dir val="rev"/>
          <dgm:resizeHandles val="exact"/>
        </dgm:presLayoutVars>
      </dgm:prSet>
      <dgm:spPr/>
    </dgm:pt>
    <dgm:pt modelId="{E3614A0D-6BB3-4540-B6D6-9FE578AE0DB7}" type="pres">
      <dgm:prSet presAssocID="{0311CECF-2C20-4581-A09A-AEFDED76A7CA}" presName="node" presStyleLbl="node1" presStyleIdx="0" presStyleCnt="3">
        <dgm:presLayoutVars>
          <dgm:bulletEnabled val="1"/>
        </dgm:presLayoutVars>
      </dgm:prSet>
      <dgm:spPr/>
      <dgm:t>
        <a:bodyPr/>
        <a:lstStyle/>
        <a:p>
          <a:pPr rtl="1"/>
          <a:endParaRPr lang="he-IL"/>
        </a:p>
      </dgm:t>
    </dgm:pt>
    <dgm:pt modelId="{E5CBB367-AB5B-4BCF-B21B-B8B3F2E58314}" type="pres">
      <dgm:prSet presAssocID="{FFB0BFD8-E5B0-4FC8-BF06-239291551DC4}" presName="sibTrans" presStyleLbl="sibTrans2D1" presStyleIdx="0" presStyleCnt="2"/>
      <dgm:spPr/>
      <dgm:t>
        <a:bodyPr/>
        <a:lstStyle/>
        <a:p>
          <a:pPr rtl="1"/>
          <a:endParaRPr lang="he-IL"/>
        </a:p>
      </dgm:t>
    </dgm:pt>
    <dgm:pt modelId="{6C0681FA-A109-4492-A59A-82DBBE7DF09F}" type="pres">
      <dgm:prSet presAssocID="{FFB0BFD8-E5B0-4FC8-BF06-239291551DC4}" presName="connectorText" presStyleLbl="sibTrans2D1" presStyleIdx="0" presStyleCnt="2"/>
      <dgm:spPr/>
      <dgm:t>
        <a:bodyPr/>
        <a:lstStyle/>
        <a:p>
          <a:pPr rtl="1"/>
          <a:endParaRPr lang="he-IL"/>
        </a:p>
      </dgm:t>
    </dgm:pt>
    <dgm:pt modelId="{FD881CA2-D5C7-4EA8-A348-CA6B04B5804D}" type="pres">
      <dgm:prSet presAssocID="{CCBD7E3D-788F-4ADB-9885-7C3EA6E51A9A}" presName="node" presStyleLbl="node1" presStyleIdx="1" presStyleCnt="3">
        <dgm:presLayoutVars>
          <dgm:bulletEnabled val="1"/>
        </dgm:presLayoutVars>
      </dgm:prSet>
      <dgm:spPr/>
      <dgm:t>
        <a:bodyPr/>
        <a:lstStyle/>
        <a:p>
          <a:pPr rtl="1"/>
          <a:endParaRPr lang="he-IL"/>
        </a:p>
      </dgm:t>
    </dgm:pt>
    <dgm:pt modelId="{F0E82626-9914-4DA9-B58D-E2B71B1356D2}" type="pres">
      <dgm:prSet presAssocID="{43FED013-4BBC-4BB0-9441-AA4216729C53}" presName="sibTrans" presStyleLbl="sibTrans2D1" presStyleIdx="1" presStyleCnt="2"/>
      <dgm:spPr/>
      <dgm:t>
        <a:bodyPr/>
        <a:lstStyle/>
        <a:p>
          <a:pPr rtl="1"/>
          <a:endParaRPr lang="he-IL"/>
        </a:p>
      </dgm:t>
    </dgm:pt>
    <dgm:pt modelId="{C764B6FF-7D20-4B62-BACE-342C767E03F7}" type="pres">
      <dgm:prSet presAssocID="{43FED013-4BBC-4BB0-9441-AA4216729C53}" presName="connectorText" presStyleLbl="sibTrans2D1" presStyleIdx="1" presStyleCnt="2"/>
      <dgm:spPr/>
      <dgm:t>
        <a:bodyPr/>
        <a:lstStyle/>
        <a:p>
          <a:pPr rtl="1"/>
          <a:endParaRPr lang="he-IL"/>
        </a:p>
      </dgm:t>
    </dgm:pt>
    <dgm:pt modelId="{7676EDAA-3253-4863-BAA5-FD224A2FB762}" type="pres">
      <dgm:prSet presAssocID="{443562D6-494A-4576-AB90-1E5927E08B6B}" presName="node" presStyleLbl="node1" presStyleIdx="2" presStyleCnt="3">
        <dgm:presLayoutVars>
          <dgm:bulletEnabled val="1"/>
        </dgm:presLayoutVars>
      </dgm:prSet>
      <dgm:spPr/>
      <dgm:t>
        <a:bodyPr/>
        <a:lstStyle/>
        <a:p>
          <a:pPr rtl="1"/>
          <a:endParaRPr lang="he-IL"/>
        </a:p>
      </dgm:t>
    </dgm:pt>
  </dgm:ptLst>
  <dgm:cxnLst>
    <dgm:cxn modelId="{0A1B70A3-8BDD-420C-9B23-C8F6B278085E}" srcId="{F05A0186-53D2-40BE-8B1E-8882221D948F}" destId="{CCBD7E3D-788F-4ADB-9885-7C3EA6E51A9A}" srcOrd="1" destOrd="0" parTransId="{88A11805-E916-4FCE-BF53-CB4E1DEC3494}" sibTransId="{43FED013-4BBC-4BB0-9441-AA4216729C53}"/>
    <dgm:cxn modelId="{CB217CC6-C933-4DB0-BB4F-C44C14306277}" type="presOf" srcId="{FFB0BFD8-E5B0-4FC8-BF06-239291551DC4}" destId="{E5CBB367-AB5B-4BCF-B21B-B8B3F2E58314}" srcOrd="0" destOrd="0" presId="urn:microsoft.com/office/officeart/2005/8/layout/process1"/>
    <dgm:cxn modelId="{C740D370-2BC2-475B-B937-9192E347AFFC}" srcId="{F05A0186-53D2-40BE-8B1E-8882221D948F}" destId="{443562D6-494A-4576-AB90-1E5927E08B6B}" srcOrd="2" destOrd="0" parTransId="{FBCE54AC-E9F2-4C47-9058-0446E5C3C487}" sibTransId="{36E46FEA-4D69-4E15-80F3-16C1BB3812A4}"/>
    <dgm:cxn modelId="{31D3E19B-D9E3-4597-965F-673BB53CCC46}" type="presOf" srcId="{43FED013-4BBC-4BB0-9441-AA4216729C53}" destId="{C764B6FF-7D20-4B62-BACE-342C767E03F7}" srcOrd="1" destOrd="0" presId="urn:microsoft.com/office/officeart/2005/8/layout/process1"/>
    <dgm:cxn modelId="{62FB1816-A5B4-41CB-B234-183D3861EC41}" type="presOf" srcId="{F05A0186-53D2-40BE-8B1E-8882221D948F}" destId="{340F72B8-1E58-436D-B8F4-59682DF2B37E}" srcOrd="0" destOrd="0" presId="urn:microsoft.com/office/officeart/2005/8/layout/process1"/>
    <dgm:cxn modelId="{AFB156F3-7598-4A35-9637-27A57963CE0B}" type="presOf" srcId="{FFB0BFD8-E5B0-4FC8-BF06-239291551DC4}" destId="{6C0681FA-A109-4492-A59A-82DBBE7DF09F}" srcOrd="1" destOrd="0" presId="urn:microsoft.com/office/officeart/2005/8/layout/process1"/>
    <dgm:cxn modelId="{C3142754-FFCE-4869-9ED5-D28E995589B9}" srcId="{F05A0186-53D2-40BE-8B1E-8882221D948F}" destId="{0311CECF-2C20-4581-A09A-AEFDED76A7CA}" srcOrd="0" destOrd="0" parTransId="{47A39BF6-A51E-46C7-B89C-E4AD410DC7DB}" sibTransId="{FFB0BFD8-E5B0-4FC8-BF06-239291551DC4}"/>
    <dgm:cxn modelId="{BD563FCD-1499-4F04-871D-1D3435210F7E}" type="presOf" srcId="{443562D6-494A-4576-AB90-1E5927E08B6B}" destId="{7676EDAA-3253-4863-BAA5-FD224A2FB762}" srcOrd="0" destOrd="0" presId="urn:microsoft.com/office/officeart/2005/8/layout/process1"/>
    <dgm:cxn modelId="{CCD58E7D-05B2-45A6-9EFB-1B7CCFF88002}" type="presOf" srcId="{CCBD7E3D-788F-4ADB-9885-7C3EA6E51A9A}" destId="{FD881CA2-D5C7-4EA8-A348-CA6B04B5804D}" srcOrd="0" destOrd="0" presId="urn:microsoft.com/office/officeart/2005/8/layout/process1"/>
    <dgm:cxn modelId="{97F8FF4B-408B-478A-98B1-D7C72995E737}" type="presOf" srcId="{0311CECF-2C20-4581-A09A-AEFDED76A7CA}" destId="{E3614A0D-6BB3-4540-B6D6-9FE578AE0DB7}" srcOrd="0" destOrd="0" presId="urn:microsoft.com/office/officeart/2005/8/layout/process1"/>
    <dgm:cxn modelId="{3D9E03BB-1C1C-4E45-9528-1F8704469C13}" type="presOf" srcId="{43FED013-4BBC-4BB0-9441-AA4216729C53}" destId="{F0E82626-9914-4DA9-B58D-E2B71B1356D2}" srcOrd="0" destOrd="0" presId="urn:microsoft.com/office/officeart/2005/8/layout/process1"/>
    <dgm:cxn modelId="{DF20A2E9-F6CE-41C9-95D9-EA862457B360}" type="presParOf" srcId="{340F72B8-1E58-436D-B8F4-59682DF2B37E}" destId="{E3614A0D-6BB3-4540-B6D6-9FE578AE0DB7}" srcOrd="0" destOrd="0" presId="urn:microsoft.com/office/officeart/2005/8/layout/process1"/>
    <dgm:cxn modelId="{0A1C94AA-A062-463B-8B09-D50D37ED676B}" type="presParOf" srcId="{340F72B8-1E58-436D-B8F4-59682DF2B37E}" destId="{E5CBB367-AB5B-4BCF-B21B-B8B3F2E58314}" srcOrd="1" destOrd="0" presId="urn:microsoft.com/office/officeart/2005/8/layout/process1"/>
    <dgm:cxn modelId="{D27458C7-23D4-4E5E-90FA-8E55D97636E3}" type="presParOf" srcId="{E5CBB367-AB5B-4BCF-B21B-B8B3F2E58314}" destId="{6C0681FA-A109-4492-A59A-82DBBE7DF09F}" srcOrd="0" destOrd="0" presId="urn:microsoft.com/office/officeart/2005/8/layout/process1"/>
    <dgm:cxn modelId="{C4402B26-8152-46FC-8571-CB5278EA55B9}" type="presParOf" srcId="{340F72B8-1E58-436D-B8F4-59682DF2B37E}" destId="{FD881CA2-D5C7-4EA8-A348-CA6B04B5804D}" srcOrd="2" destOrd="0" presId="urn:microsoft.com/office/officeart/2005/8/layout/process1"/>
    <dgm:cxn modelId="{9DA032D3-3042-41F3-BB48-D02CC62822CF}" type="presParOf" srcId="{340F72B8-1E58-436D-B8F4-59682DF2B37E}" destId="{F0E82626-9914-4DA9-B58D-E2B71B1356D2}" srcOrd="3" destOrd="0" presId="urn:microsoft.com/office/officeart/2005/8/layout/process1"/>
    <dgm:cxn modelId="{F13D1F4F-1A0A-44BA-8D5E-F8391C300CEB}" type="presParOf" srcId="{F0E82626-9914-4DA9-B58D-E2B71B1356D2}" destId="{C764B6FF-7D20-4B62-BACE-342C767E03F7}" srcOrd="0" destOrd="0" presId="urn:microsoft.com/office/officeart/2005/8/layout/process1"/>
    <dgm:cxn modelId="{43339358-64A0-401A-9481-2401CF16262A}" type="presParOf" srcId="{340F72B8-1E58-436D-B8F4-59682DF2B37E}" destId="{7676EDAA-3253-4863-BAA5-FD224A2FB762}" srcOrd="4" destOrd="0" presId="urn:microsoft.com/office/officeart/2005/8/layout/process1"/>
  </dgm:cxnLst>
  <dgm:bg/>
  <dgm:whole/>
  <dgm:extLst>
    <a:ext uri="http://schemas.microsoft.com/office/drawing/2008/diagram">
      <dsp:dataModelExt xmlns=""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79205E-1023-4F1E-BFB9-11B00970959F}">
      <dsp:nvSpPr>
        <dsp:cNvPr id="0" name=""/>
        <dsp:cNvSpPr/>
      </dsp:nvSpPr>
      <dsp:spPr>
        <a:xfrm>
          <a:off x="8736627" y="1443882"/>
          <a:ext cx="2079017" cy="1539772"/>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rtl="1">
            <a:lnSpc>
              <a:spcPct val="90000"/>
            </a:lnSpc>
            <a:spcBef>
              <a:spcPct val="0"/>
            </a:spcBef>
            <a:spcAft>
              <a:spcPct val="35000"/>
            </a:spcAft>
          </a:pPr>
          <a:r>
            <a:rPr lang="he-IL" sz="2400" kern="1200" dirty="0"/>
            <a:t>קולטנים מכאניים של העור</a:t>
          </a:r>
        </a:p>
      </dsp:txBody>
      <dsp:txXfrm>
        <a:off x="8781725" y="1488980"/>
        <a:ext cx="1988821" cy="1449576"/>
      </dsp:txXfrm>
    </dsp:sp>
    <dsp:sp modelId="{9A8288BF-0D08-4FD6-84B9-C1A2B4D7FB8F}">
      <dsp:nvSpPr>
        <dsp:cNvPr id="0" name=""/>
        <dsp:cNvSpPr/>
      </dsp:nvSpPr>
      <dsp:spPr>
        <a:xfrm rot="10800000">
          <a:off x="8087974" y="1955970"/>
          <a:ext cx="440751" cy="515596"/>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44550" rtl="1">
            <a:lnSpc>
              <a:spcPct val="90000"/>
            </a:lnSpc>
            <a:spcBef>
              <a:spcPct val="0"/>
            </a:spcBef>
            <a:spcAft>
              <a:spcPct val="35000"/>
            </a:spcAft>
          </a:pPr>
          <a:endParaRPr lang="he-IL" sz="1900" kern="1200"/>
        </a:p>
      </dsp:txBody>
      <dsp:txXfrm rot="10800000">
        <a:off x="8220199" y="2059089"/>
        <a:ext cx="308526" cy="309358"/>
      </dsp:txXfrm>
    </dsp:sp>
    <dsp:sp modelId="{8265788B-8ED5-47F2-88B0-9AA66F24DA87}">
      <dsp:nvSpPr>
        <dsp:cNvPr id="0" name=""/>
        <dsp:cNvSpPr/>
      </dsp:nvSpPr>
      <dsp:spPr>
        <a:xfrm>
          <a:off x="5826003" y="1443882"/>
          <a:ext cx="2079017" cy="1539772"/>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rtl="1">
            <a:lnSpc>
              <a:spcPct val="90000"/>
            </a:lnSpc>
            <a:spcBef>
              <a:spcPct val="0"/>
            </a:spcBef>
            <a:spcAft>
              <a:spcPct val="35000"/>
            </a:spcAft>
          </a:pPr>
          <a:r>
            <a:rPr lang="he-IL" sz="2400" kern="1200" dirty="0"/>
            <a:t>חום, מגע, מתיחת עור, פוטנציאל החלקה וכו'...</a:t>
          </a:r>
          <a:endParaRPr lang="he-IL" sz="4000" kern="1200" dirty="0"/>
        </a:p>
      </dsp:txBody>
      <dsp:txXfrm>
        <a:off x="5871101" y="1488980"/>
        <a:ext cx="1988821" cy="1449576"/>
      </dsp:txXfrm>
    </dsp:sp>
    <dsp:sp modelId="{4AE3BF5A-534A-4306-BEB1-B87FFA8957B7}">
      <dsp:nvSpPr>
        <dsp:cNvPr id="0" name=""/>
        <dsp:cNvSpPr/>
      </dsp:nvSpPr>
      <dsp:spPr>
        <a:xfrm rot="10800000">
          <a:off x="5177350" y="1955970"/>
          <a:ext cx="440751" cy="515596"/>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44550" rtl="1">
            <a:lnSpc>
              <a:spcPct val="90000"/>
            </a:lnSpc>
            <a:spcBef>
              <a:spcPct val="0"/>
            </a:spcBef>
            <a:spcAft>
              <a:spcPct val="35000"/>
            </a:spcAft>
          </a:pPr>
          <a:endParaRPr lang="he-IL" sz="1900" kern="1200"/>
        </a:p>
      </dsp:txBody>
      <dsp:txXfrm rot="10800000">
        <a:off x="5309575" y="2059089"/>
        <a:ext cx="308526" cy="309358"/>
      </dsp:txXfrm>
    </dsp:sp>
    <dsp:sp modelId="{39791AA3-C4F3-4699-ABA3-79F155C3E946}">
      <dsp:nvSpPr>
        <dsp:cNvPr id="0" name=""/>
        <dsp:cNvSpPr/>
      </dsp:nvSpPr>
      <dsp:spPr>
        <a:xfrm>
          <a:off x="2915379" y="1443882"/>
          <a:ext cx="2079017" cy="1539772"/>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rtl="1">
            <a:lnSpc>
              <a:spcPct val="90000"/>
            </a:lnSpc>
            <a:spcBef>
              <a:spcPct val="0"/>
            </a:spcBef>
            <a:spcAft>
              <a:spcPct val="35000"/>
            </a:spcAft>
          </a:pPr>
          <a:r>
            <a:rPr lang="he-IL" sz="2400" kern="1200" dirty="0"/>
            <a:t>העברת המידע למוח</a:t>
          </a:r>
        </a:p>
      </dsp:txBody>
      <dsp:txXfrm>
        <a:off x="2960477" y="1488980"/>
        <a:ext cx="1988821" cy="1449576"/>
      </dsp:txXfrm>
    </dsp:sp>
    <dsp:sp modelId="{D8481B86-6686-4B8A-A962-542B24D5AC12}">
      <dsp:nvSpPr>
        <dsp:cNvPr id="0" name=""/>
        <dsp:cNvSpPr/>
      </dsp:nvSpPr>
      <dsp:spPr>
        <a:xfrm rot="10800000">
          <a:off x="2266725" y="1955970"/>
          <a:ext cx="440751" cy="515596"/>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44550" rtl="1">
            <a:lnSpc>
              <a:spcPct val="90000"/>
            </a:lnSpc>
            <a:spcBef>
              <a:spcPct val="0"/>
            </a:spcBef>
            <a:spcAft>
              <a:spcPct val="35000"/>
            </a:spcAft>
          </a:pPr>
          <a:endParaRPr lang="he-IL" sz="1900" kern="1200"/>
        </a:p>
      </dsp:txBody>
      <dsp:txXfrm rot="10800000">
        <a:off x="2398950" y="2059089"/>
        <a:ext cx="308526" cy="309358"/>
      </dsp:txXfrm>
    </dsp:sp>
    <dsp:sp modelId="{48C7B555-8770-4CD5-B445-0FDF380514A2}">
      <dsp:nvSpPr>
        <dsp:cNvPr id="0" name=""/>
        <dsp:cNvSpPr/>
      </dsp:nvSpPr>
      <dsp:spPr>
        <a:xfrm>
          <a:off x="4755" y="1443882"/>
          <a:ext cx="2079017" cy="1539772"/>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rtl="1">
            <a:lnSpc>
              <a:spcPct val="90000"/>
            </a:lnSpc>
            <a:spcBef>
              <a:spcPct val="0"/>
            </a:spcBef>
            <a:spcAft>
              <a:spcPct val="35000"/>
            </a:spcAft>
          </a:pPr>
          <a:r>
            <a:rPr lang="he-IL" sz="2400" kern="1200" dirty="0"/>
            <a:t>עיבוד נתונים במוח והחזרת משוב לתיקון אוטומטי</a:t>
          </a:r>
        </a:p>
      </dsp:txBody>
      <dsp:txXfrm>
        <a:off x="49853" y="1488980"/>
        <a:ext cx="1988821" cy="144957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7200"/>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sz="quarter" idx="1"/>
          </p:nvPr>
        </p:nvSpPr>
        <p:spPr>
          <a:xfrm>
            <a:off x="1588" y="0"/>
            <a:ext cx="2971800" cy="457200"/>
          </a:xfrm>
          <a:prstGeom prst="rect">
            <a:avLst/>
          </a:prstGeom>
        </p:spPr>
        <p:txBody>
          <a:bodyPr vert="horz" lIns="91440" tIns="45720" rIns="91440" bIns="45720" rtlCol="1"/>
          <a:lstStyle>
            <a:lvl1pPr algn="l">
              <a:defRPr sz="1200"/>
            </a:lvl1pPr>
          </a:lstStyle>
          <a:p>
            <a:fld id="{93CB3283-0C79-470D-B027-59DDAA70AF12}" type="datetimeFigureOut">
              <a:rPr lang="he-IL" smtClean="0"/>
              <a:pPr/>
              <a:t>ב'/טבת/תש"פ</a:t>
            </a:fld>
            <a:endParaRPr lang="he-IL"/>
          </a:p>
        </p:txBody>
      </p:sp>
      <p:sp>
        <p:nvSpPr>
          <p:cNvPr id="4" name="מציין מיקום של כותרת תחתונה 3"/>
          <p:cNvSpPr>
            <a:spLocks noGrp="1"/>
          </p:cNvSpPr>
          <p:nvPr>
            <p:ph type="ftr" sz="quarter" idx="2"/>
          </p:nvPr>
        </p:nvSpPr>
        <p:spPr>
          <a:xfrm>
            <a:off x="3886200" y="8685213"/>
            <a:ext cx="2971800" cy="457200"/>
          </a:xfrm>
          <a:prstGeom prst="rect">
            <a:avLst/>
          </a:prstGeom>
        </p:spPr>
        <p:txBody>
          <a:bodyPr vert="horz" lIns="91440" tIns="45720" rIns="91440" bIns="45720" rtlCol="1" anchor="b"/>
          <a:lstStyle>
            <a:lvl1pPr algn="r">
              <a:defRPr sz="1200"/>
            </a:lvl1pPr>
          </a:lstStyle>
          <a:p>
            <a:endParaRPr lang="he-IL"/>
          </a:p>
        </p:txBody>
      </p:sp>
      <p:sp>
        <p:nvSpPr>
          <p:cNvPr id="5" name="מציין מיקום של מספר שקופית 4"/>
          <p:cNvSpPr>
            <a:spLocks noGrp="1"/>
          </p:cNvSpPr>
          <p:nvPr>
            <p:ph type="sldNum" sz="quarter" idx="3"/>
          </p:nvPr>
        </p:nvSpPr>
        <p:spPr>
          <a:xfrm>
            <a:off x="1588" y="8685213"/>
            <a:ext cx="2971800" cy="457200"/>
          </a:xfrm>
          <a:prstGeom prst="rect">
            <a:avLst/>
          </a:prstGeom>
        </p:spPr>
        <p:txBody>
          <a:bodyPr vert="horz" lIns="91440" tIns="45720" rIns="91440" bIns="45720" rtlCol="1" anchor="b"/>
          <a:lstStyle>
            <a:lvl1pPr algn="l">
              <a:defRPr sz="1200"/>
            </a:lvl1pPr>
          </a:lstStyle>
          <a:p>
            <a:fld id="{0B279AF2-D5DB-4B1E-A4A0-36F0CAA6E961}" type="slidenum">
              <a:rPr lang="he-IL" smtClean="0"/>
              <a:pPr/>
              <a:t>‹#›</a:t>
            </a:fld>
            <a:endParaRPr lang="he-IL"/>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48A87A34-81AB-432B-8DAE-1953F412C126}" type="datetimeFigureOut">
              <a:rPr lang="en-US" dirty="0"/>
              <a:pPr/>
              <a:t>12/30/2019</a:t>
            </a:fld>
            <a:endParaRPr lang="en-US" dirty="0"/>
          </a:p>
        </p:txBody>
      </p:sp>
      <p:sp>
        <p:nvSpPr>
          <p:cNvPr id="5" name="Footer Placeholder 4"/>
          <p:cNvSpPr>
            <a:spLocks noGrp="1"/>
          </p:cNvSpPr>
          <p:nvPr>
            <p:ph type="ftr" sz="quarter" idx="11"/>
          </p:nvPr>
        </p:nvSpPr>
        <p:spPr>
          <a:xfrm>
            <a:off x="1371600" y="4323845"/>
            <a:ext cx="6400800" cy="365125"/>
          </a:xfrm>
        </p:spPr>
        <p:txBody>
          <a:bodyPr/>
          <a:lstStyle/>
          <a:p>
            <a:endParaRPr lang="en-US" dirty="0"/>
          </a:p>
        </p:txBody>
      </p:sp>
      <p:sp>
        <p:nvSpPr>
          <p:cNvPr id="6" name="Slide Number Placeholder 5"/>
          <p:cNvSpPr>
            <a:spLocks noGrp="1"/>
          </p:cNvSpPr>
          <p:nvPr>
            <p:ph type="sldNum" sz="quarter" idx="12"/>
          </p:nvPr>
        </p:nvSpPr>
        <p:spPr>
          <a:xfrm>
            <a:off x="8077200" y="1430866"/>
            <a:ext cx="2743200" cy="365125"/>
          </a:xfrm>
        </p:spPr>
        <p:txBody>
          <a:bodyPr/>
          <a:lstStyle/>
          <a:p>
            <a:fld id="{6D22F896-40B5-4ADD-8801-0D06FADFA09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pPr/>
              <a:t>12/30/2019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12/30/2019</a:t>
            </a:fld>
            <a:endParaRPr lang="en-US" dirty="0"/>
          </a:p>
        </p:txBody>
      </p:sp>
      <p:sp>
        <p:nvSpPr>
          <p:cNvPr id="5" name="Footer Placeholder 4"/>
          <p:cNvSpPr>
            <a:spLocks noGrp="1"/>
          </p:cNvSpPr>
          <p:nvPr>
            <p:ph type="ftr" sz="quarter" idx="11"/>
          </p:nvPr>
        </p:nvSpPr>
        <p:spPr>
          <a:xfrm>
            <a:off x="685800" y="381001"/>
            <a:ext cx="6991492" cy="36406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pPr/>
              <a:t>12/30/2019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pPr/>
              <a:t>12/30/2019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pPr/>
              <a:t>12/30/2019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pPr/>
              <a:t>12/30/2019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pPr/>
              <a:t>12/30/2019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pPr/>
              <a:t>12/30/2019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pPr/>
              <a:t>12/30/2019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12/30/2019</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12/30/2019</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pPr/>
              <a:t>‹#›</a:t>
            </a:fld>
            <a:endParaRPr lang="en-US" dirty="0"/>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48A87A34-81AB-432B-8DAE-1953F412C126}" type="datetimeFigureOut">
              <a:rPr lang="en-US" dirty="0"/>
              <a:pPr/>
              <a:t>12/30/2019</a:t>
            </a:fld>
            <a:endParaRPr lang="en-US" dirty="0"/>
          </a:p>
        </p:txBody>
      </p:sp>
      <p:sp>
        <p:nvSpPr>
          <p:cNvPr id="6" name="Footer Placeholder 5"/>
          <p:cNvSpPr>
            <a:spLocks noGrp="1"/>
          </p:cNvSpPr>
          <p:nvPr>
            <p:ph type="ftr" sz="quarter" idx="11"/>
          </p:nvPr>
        </p:nvSpPr>
        <p:spPr>
          <a:xfrm>
            <a:off x="685800" y="378883"/>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pPr/>
              <a:t>12/30/2019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pPr/>
              <a:t>12/30/2019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pPr/>
              <a:t>12/30/2019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48A87A34-81AB-432B-8DAE-1953F412C126}" type="datetimeFigureOut">
              <a:rPr lang="en-US" dirty="0"/>
              <a:pPr/>
              <a:t>12/30/2019</a:t>
            </a:fld>
            <a:endParaRPr lang="en-US" dirty="0"/>
          </a:p>
        </p:txBody>
      </p:sp>
      <p:sp>
        <p:nvSpPr>
          <p:cNvPr id="5" name="Footer Placeholder 4"/>
          <p:cNvSpPr>
            <a:spLocks noGrp="1"/>
          </p:cNvSpPr>
          <p:nvPr>
            <p:ph type="ftr" sz="quarter" idx="11"/>
          </p:nvPr>
        </p:nvSpPr>
        <p:spPr>
          <a:xfrm>
            <a:off x="685800" y="381000"/>
            <a:ext cx="6991492" cy="36512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12/30/2019</a:t>
            </a:fld>
            <a:endParaRPr lang="en-US" dirty="0"/>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r" defTabSz="914400" rtl="1"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hyperlink" Target="https://he.wikipedia.org/wiki/%D7%92%D7%99%D7%9C" TargetMode="External"/><Relationship Id="rId3" Type="http://schemas.openxmlformats.org/officeDocument/2006/relationships/hyperlink" Target="https://he.wikipedia.org/wiki/%D7%9E%D7%97%D7%9C%D7%94" TargetMode="External"/><Relationship Id="rId7" Type="http://schemas.openxmlformats.org/officeDocument/2006/relationships/hyperlink" Target="https://he.wikipedia.org/wiki/%D7%9E%D7%A7%D7%95%D7%9C%D7%94_(%D7%A2%D7%99%D7%9F)" TargetMode="External"/><Relationship Id="rId12" Type="http://schemas.openxmlformats.org/officeDocument/2006/relationships/hyperlink" Target="https://he.wikipedia.org/wiki/%D7%9E%D7%97%D7%9C%D7%94_%D7%92%D7%A0%D7%98%D7%99%D7%AA" TargetMode="External"/><Relationship Id="rId2" Type="http://schemas.openxmlformats.org/officeDocument/2006/relationships/hyperlink" Target="https://he.wikipedia.org/wiki/%D7%90%D7%A0%D7%92%D7%9C%D7%99%D7%AA" TargetMode="External"/><Relationship Id="rId1" Type="http://schemas.openxmlformats.org/officeDocument/2006/relationships/slideLayout" Target="../slideLayouts/slideLayout2.xml"/><Relationship Id="rId6" Type="http://schemas.openxmlformats.org/officeDocument/2006/relationships/hyperlink" Target="https://he.wikipedia.org/wiki/%D7%AA%D7%90_%D7%A7%D7%95%D7%9C%D7%98_%D7%90%D7%95%D7%A8" TargetMode="External"/><Relationship Id="rId11" Type="http://schemas.openxmlformats.org/officeDocument/2006/relationships/hyperlink" Target="https://he.wikipedia.org/wiki/%D7%A8%D7%A9%D7%AA%D7%99%D7%AA" TargetMode="External"/><Relationship Id="rId5" Type="http://schemas.openxmlformats.org/officeDocument/2006/relationships/hyperlink" Target="https://he.wikipedia.org/wiki/%D7%A0%D7%99%D7%95%D7%95%D7%9F_%D7%9E%D7%A7%D7%95%D7%9C%D7%A8%D7%99" TargetMode="External"/><Relationship Id="rId10" Type="http://schemas.openxmlformats.org/officeDocument/2006/relationships/hyperlink" Target="https://he.wikipedia.org/wiki/%D7%A2%D7%99%D7%A0%D7%99%D7%99%D7%9D" TargetMode="External"/><Relationship Id="rId4" Type="http://schemas.openxmlformats.org/officeDocument/2006/relationships/hyperlink" Target="https://he.wikipedia.org/wiki/%D7%A2%D7%99%D7%9F" TargetMode="External"/><Relationship Id="rId9" Type="http://schemas.openxmlformats.org/officeDocument/2006/relationships/hyperlink" Target="https://he.wikipedia.org/wiki/%D7%A8%D7%90%D7%A9%D7%99_%D7%AA%D7%99%D7%91%D7%95%D7%AA"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he.wikipedia.org/wiki/%D7%91%D7%95%D7%A4%D7%A8"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5.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openxmlformats.org/officeDocument/2006/relationships/hyperlink" Target="https://www.youtube.com/watch?v=IZ8WOCU5jYw" TargetMode="External"/><Relationship Id="rId11" Type="http://schemas.microsoft.com/office/2007/relationships/diagramDrawing" Target="../diagrams/drawing1.xml"/><Relationship Id="rId5" Type="http://schemas.openxmlformats.org/officeDocument/2006/relationships/diagramColors" Target="../diagrams/colors1.xml"/><Relationship Id="rId10" Type="http://schemas.openxmlformats.org/officeDocument/2006/relationships/image" Target="../media/image6.png"/><Relationship Id="rId4" Type="http://schemas.openxmlformats.org/officeDocument/2006/relationships/diagramQuickStyle" Target="../diagrams/quickStyle1.xml"/><Relationship Id="rId9" Type="http://schemas.microsoft.com/office/2007/relationships/hdphoto" Target="../media/hdphoto1.wdp"/></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0.png"/><Relationship Id="rId7" Type="http://schemas.openxmlformats.org/officeDocument/2006/relationships/diagramColors" Target="../diagrams/colors2.xml"/><Relationship Id="rId2" Type="http://schemas.openxmlformats.org/officeDocument/2006/relationships/image" Target="../media/image9.emf"/><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 Id="rId9" Type="http://schemas.microsoft.com/office/2007/relationships/diagramDrawing" Target="../diagrams/drawing2.xml"/></Relationships>
</file>

<file path=ppt/slides/_rels/slide13.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13.png"/><Relationship Id="rId7" Type="http://schemas.openxmlformats.org/officeDocument/2006/relationships/diagramQuickStyle" Target="../diagrams/quickStyle3.xml"/><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diagramLayout" Target="../diagrams/layout3.xml"/><Relationship Id="rId5" Type="http://schemas.openxmlformats.org/officeDocument/2006/relationships/diagramData" Target="../diagrams/data3.xml"/><Relationship Id="rId10" Type="http://schemas.microsoft.com/office/2007/relationships/diagramDrawing" Target="../diagrams/drawing3.xml"/><Relationship Id="rId4" Type="http://schemas.openxmlformats.org/officeDocument/2006/relationships/image" Target="../media/image14.png"/><Relationship Id="rId9"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C3597C0-B8E2-4176-B4B3-7226476E0A4D}"/>
              </a:ext>
            </a:extLst>
          </p:cNvPr>
          <p:cNvSpPr>
            <a:spLocks noGrp="1"/>
          </p:cNvSpPr>
          <p:nvPr>
            <p:ph type="ctrTitle"/>
          </p:nvPr>
        </p:nvSpPr>
        <p:spPr>
          <a:xfrm>
            <a:off x="1125416" y="518746"/>
            <a:ext cx="9448800" cy="1834870"/>
          </a:xfrm>
        </p:spPr>
        <p:txBody>
          <a:bodyPr>
            <a:normAutofit/>
          </a:bodyPr>
          <a:lstStyle/>
          <a:p>
            <a:pPr algn="ctr"/>
            <a:r>
              <a:rPr lang="he-IL" b="1" dirty="0">
                <a:latin typeface="David" panose="020E0502060401010101" pitchFamily="34" charset="-79"/>
                <a:cs typeface="David" panose="020E0502060401010101" pitchFamily="34" charset="-79"/>
              </a:rPr>
              <a:t>טווח דינמי של גירוי חשמלי בטוח של הרשתית</a:t>
            </a:r>
            <a:endParaRPr lang="he-IL" dirty="0">
              <a:latin typeface="David" panose="020E0502060401010101" pitchFamily="34" charset="-79"/>
              <a:cs typeface="David" panose="020E0502060401010101" pitchFamily="34" charset="-79"/>
            </a:endParaRPr>
          </a:p>
        </p:txBody>
      </p:sp>
      <p:sp>
        <p:nvSpPr>
          <p:cNvPr id="3" name="Subtitle 2">
            <a:extLst>
              <a:ext uri="{FF2B5EF4-FFF2-40B4-BE49-F238E27FC236}">
                <a16:creationId xmlns:a16="http://schemas.microsoft.com/office/drawing/2014/main" xmlns="" id="{C3CB3887-F136-4DE6-B3C9-100075F8B0F4}"/>
              </a:ext>
            </a:extLst>
          </p:cNvPr>
          <p:cNvSpPr>
            <a:spLocks noGrp="1"/>
          </p:cNvSpPr>
          <p:nvPr>
            <p:ph type="subTitle" idx="1"/>
          </p:nvPr>
        </p:nvSpPr>
        <p:spPr>
          <a:xfrm>
            <a:off x="879230" y="2691424"/>
            <a:ext cx="9448800" cy="3322514"/>
          </a:xfrm>
        </p:spPr>
        <p:txBody>
          <a:bodyPr>
            <a:normAutofit/>
          </a:bodyPr>
          <a:lstStyle/>
          <a:p>
            <a:pPr algn="ctr"/>
            <a:r>
              <a:rPr lang="en-US" dirty="0"/>
              <a:t> Dynamic range of safe electrical stimulation of the retina </a:t>
            </a:r>
            <a:endParaRPr lang="en-US" dirty="0" smtClean="0"/>
          </a:p>
          <a:p>
            <a:pPr algn="ctr"/>
            <a:endParaRPr lang="en-US" dirty="0"/>
          </a:p>
          <a:p>
            <a:pPr algn="ctr"/>
            <a:endParaRPr lang="en-US" dirty="0" smtClean="0"/>
          </a:p>
          <a:p>
            <a:pPr algn="ctr"/>
            <a:r>
              <a:rPr lang="he-IL" dirty="0" smtClean="0"/>
              <a:t>ליאב רשיד</a:t>
            </a:r>
          </a:p>
          <a:p>
            <a:pPr algn="ctr"/>
            <a:r>
              <a:rPr lang="he-IL" dirty="0" smtClean="0"/>
              <a:t>אלכסנדרה </a:t>
            </a:r>
            <a:r>
              <a:rPr lang="he-IL" dirty="0" err="1" smtClean="0"/>
              <a:t>מייסליש</a:t>
            </a:r>
            <a:r>
              <a:rPr lang="he-IL" dirty="0" smtClean="0"/>
              <a:t> </a:t>
            </a:r>
          </a:p>
          <a:p>
            <a:pPr algn="ctr"/>
            <a:r>
              <a:rPr lang="he-IL" dirty="0" smtClean="0"/>
              <a:t>ניב</a:t>
            </a:r>
          </a:p>
          <a:p>
            <a:pPr algn="ctr"/>
            <a:endParaRPr lang="en-US" dirty="0"/>
          </a:p>
        </p:txBody>
      </p:sp>
    </p:spTree>
    <p:extLst>
      <p:ext uri="{BB962C8B-B14F-4D97-AF65-F5344CB8AC3E}">
        <p14:creationId xmlns="" xmlns:p14="http://schemas.microsoft.com/office/powerpoint/2010/main" val="2083713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892974F-7CED-42D9-8CE8-3D2E81412074}"/>
              </a:ext>
            </a:extLst>
          </p:cNvPr>
          <p:cNvSpPr>
            <a:spLocks noGrp="1"/>
          </p:cNvSpPr>
          <p:nvPr>
            <p:ph type="title"/>
          </p:nvPr>
        </p:nvSpPr>
        <p:spPr>
          <a:xfrm>
            <a:off x="1790700" y="27773"/>
            <a:ext cx="8610600" cy="1293028"/>
          </a:xfrm>
        </p:spPr>
        <p:txBody>
          <a:bodyPr/>
          <a:lstStyle/>
          <a:p>
            <a:pPr algn="ctr"/>
            <a:r>
              <a:rPr lang="he-IL" dirty="0" smtClean="0">
                <a:latin typeface="Calibri" panose="020F0502020204030204" pitchFamily="34" charset="0"/>
                <a:cs typeface="Calibri" panose="020F0502020204030204" pitchFamily="34" charset="0"/>
              </a:rPr>
              <a:t>מבוא</a:t>
            </a:r>
            <a:endParaRPr lang="he-IL" dirty="0">
              <a:solidFill>
                <a:schemeClr val="accent3"/>
              </a:solidFill>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xmlns="" id="{A2F31316-7328-4036-AEC5-F21463644465}"/>
              </a:ext>
            </a:extLst>
          </p:cNvPr>
          <p:cNvSpPr>
            <a:spLocks noGrp="1"/>
          </p:cNvSpPr>
          <p:nvPr>
            <p:ph idx="1"/>
          </p:nvPr>
        </p:nvSpPr>
        <p:spPr>
          <a:xfrm>
            <a:off x="297712" y="1009078"/>
            <a:ext cx="11632018" cy="5471758"/>
          </a:xfrm>
        </p:spPr>
        <p:txBody>
          <a:bodyPr>
            <a:noAutofit/>
          </a:bodyPr>
          <a:lstStyle/>
          <a:p>
            <a:pPr marL="0" indent="0">
              <a:buNone/>
            </a:pPr>
            <a:r>
              <a:rPr lang="he-IL" dirty="0"/>
              <a:t>גירוי חשמלי של תאים עצביים הוא טיפול טיפולי מהותי ורב-תכליתי . מודולציה תוך שימוש ברגישות מתח לתעלות יונים ותהליכים של איתות חשמלי מהותי למרבית התאים. ישנם מכשירים אלקטרוניים רבים המתממשקים עם מערכות עצביות ורקמות המגיבות לאיתות חשמלי כבר בשימוש קליני . מכשירים הללו, יחד עם תותבת רשתית, חושפים רקמות תפקודיות המגיבות לרמות פיזיולוגיות של הזרקת זרמים ושדות חשמליים. מכיוון שמכשירים אלה מתממשקים עם אדם בריא</a:t>
            </a:r>
            <a:endParaRPr lang="en-US" dirty="0"/>
          </a:p>
          <a:p>
            <a:pPr marL="0" indent="0">
              <a:buNone/>
            </a:pPr>
            <a:r>
              <a:rPr lang="he-IL" dirty="0"/>
              <a:t>לפרקי זמן ממושכים, חשוב ביותר להימנע מנזק סלולרי</a:t>
            </a:r>
            <a:r>
              <a:rPr lang="he-IL" dirty="0" smtClean="0"/>
              <a:t>.</a:t>
            </a:r>
            <a:endParaRPr lang="en-US" dirty="0"/>
          </a:p>
        </p:txBody>
      </p:sp>
    </p:spTree>
    <p:extLst>
      <p:ext uri="{BB962C8B-B14F-4D97-AF65-F5344CB8AC3E}">
        <p14:creationId xmlns="" xmlns:p14="http://schemas.microsoft.com/office/powerpoint/2010/main" val="4131426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892974F-7CED-42D9-8CE8-3D2E81412074}"/>
              </a:ext>
            </a:extLst>
          </p:cNvPr>
          <p:cNvSpPr>
            <a:spLocks noGrp="1"/>
          </p:cNvSpPr>
          <p:nvPr>
            <p:ph type="title"/>
          </p:nvPr>
        </p:nvSpPr>
        <p:spPr>
          <a:xfrm>
            <a:off x="1790700" y="27773"/>
            <a:ext cx="8610600" cy="1293028"/>
          </a:xfrm>
        </p:spPr>
        <p:txBody>
          <a:bodyPr/>
          <a:lstStyle/>
          <a:p>
            <a:pPr algn="ctr"/>
            <a:r>
              <a:rPr lang="he-IL" dirty="0">
                <a:latin typeface="Calibri" panose="020F0502020204030204" pitchFamily="34" charset="0"/>
                <a:cs typeface="Calibri" panose="020F0502020204030204" pitchFamily="34" charset="0"/>
              </a:rPr>
              <a:t>הקדמה</a:t>
            </a:r>
            <a:endParaRPr lang="he-IL" dirty="0">
              <a:solidFill>
                <a:schemeClr val="accent3"/>
              </a:solidFill>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xmlns="" id="{A2F31316-7328-4036-AEC5-F21463644465}"/>
              </a:ext>
            </a:extLst>
          </p:cNvPr>
          <p:cNvSpPr>
            <a:spLocks noGrp="1"/>
          </p:cNvSpPr>
          <p:nvPr>
            <p:ph idx="1"/>
          </p:nvPr>
        </p:nvSpPr>
        <p:spPr>
          <a:xfrm>
            <a:off x="297712" y="1009078"/>
            <a:ext cx="11632018" cy="5471758"/>
          </a:xfrm>
        </p:spPr>
        <p:txBody>
          <a:bodyPr>
            <a:noAutofit/>
          </a:bodyPr>
          <a:lstStyle/>
          <a:p>
            <a:pPr marL="0" indent="0">
              <a:buNone/>
            </a:pPr>
            <a:r>
              <a:rPr lang="he-IL" b="1" i="1" dirty="0" smtClean="0">
                <a:latin typeface="Calibri Light" panose="020F0302020204030204" pitchFamily="34" charset="0"/>
                <a:cs typeface="Calibri Light" panose="020F0302020204030204" pitchFamily="34" charset="0"/>
              </a:rPr>
              <a:t>ידוע</a:t>
            </a:r>
            <a:endParaRPr lang="he-IL" b="1" i="1" dirty="0">
              <a:latin typeface="Calibri Light" panose="020F0302020204030204" pitchFamily="34" charset="0"/>
              <a:cs typeface="Calibri Light" panose="020F0302020204030204" pitchFamily="34" charset="0"/>
            </a:endParaRPr>
          </a:p>
          <a:p>
            <a:r>
              <a:rPr lang="he-IL" dirty="0" smtClean="0">
                <a:latin typeface="Calibri Light" panose="020F0302020204030204" pitchFamily="34" charset="0"/>
                <a:cs typeface="Calibri Light" panose="020F0302020204030204" pitchFamily="34" charset="0"/>
              </a:rPr>
              <a:t>פילוג </a:t>
            </a:r>
            <a:r>
              <a:rPr lang="he-IL" dirty="0" err="1" smtClean="0">
                <a:latin typeface="Calibri Light" panose="020F0302020204030204" pitchFamily="34" charset="0"/>
                <a:cs typeface="Calibri Light" panose="020F0302020204030204" pitchFamily="34" charset="0"/>
              </a:rPr>
              <a:t>האוכלוסיה</a:t>
            </a:r>
            <a:r>
              <a:rPr lang="he-IL" dirty="0" smtClean="0">
                <a:latin typeface="Calibri Light" panose="020F0302020204030204" pitchFamily="34" charset="0"/>
                <a:cs typeface="Calibri Light" panose="020F0302020204030204" pitchFamily="34" charset="0"/>
              </a:rPr>
              <a:t> הסובלת מבעיות עיניים הגורמות לעיוורון – </a:t>
            </a:r>
            <a:r>
              <a:rPr lang="en-US" dirty="0" smtClean="0">
                <a:latin typeface="Calibri Light" panose="020F0302020204030204" pitchFamily="34" charset="0"/>
                <a:cs typeface="Calibri Light" panose="020F0302020204030204" pitchFamily="34" charset="0"/>
              </a:rPr>
              <a:t>AMD</a:t>
            </a:r>
            <a:r>
              <a:rPr lang="he-IL" dirty="0" smtClean="0">
                <a:latin typeface="Calibri Light" panose="020F0302020204030204" pitchFamily="34" charset="0"/>
                <a:cs typeface="Calibri Light" panose="020F0302020204030204" pitchFamily="34" charset="0"/>
              </a:rPr>
              <a:t> (ניוון מקולרי) , </a:t>
            </a:r>
            <a:r>
              <a:rPr lang="en-US" dirty="0" smtClean="0">
                <a:latin typeface="Calibri Light" panose="020F0302020204030204" pitchFamily="34" charset="0"/>
                <a:cs typeface="Calibri Light" panose="020F0302020204030204" pitchFamily="34" charset="0"/>
              </a:rPr>
              <a:t>RP</a:t>
            </a:r>
            <a:r>
              <a:rPr lang="he-IL" dirty="0" smtClean="0">
                <a:latin typeface="Calibri Light" panose="020F0302020204030204" pitchFamily="34" charset="0"/>
                <a:cs typeface="Calibri Light" panose="020F0302020204030204" pitchFamily="34" charset="0"/>
              </a:rPr>
              <a:t> (</a:t>
            </a:r>
            <a:r>
              <a:rPr lang="he-IL" dirty="0" err="1" smtClean="0"/>
              <a:t>רטיניטיס</a:t>
            </a:r>
            <a:r>
              <a:rPr lang="he-IL" dirty="0" smtClean="0"/>
              <a:t> </a:t>
            </a:r>
            <a:r>
              <a:rPr lang="he-IL" dirty="0" err="1" smtClean="0"/>
              <a:t>פיגמנטוזה</a:t>
            </a:r>
            <a:r>
              <a:rPr lang="he-IL" dirty="0" smtClean="0"/>
              <a:t>)</a:t>
            </a:r>
            <a:endParaRPr lang="he-IL" dirty="0">
              <a:latin typeface="Calibri Light" panose="020F0302020204030204" pitchFamily="34" charset="0"/>
              <a:cs typeface="Calibri Light" panose="020F0302020204030204" pitchFamily="34" charset="0"/>
            </a:endParaRPr>
          </a:p>
          <a:p>
            <a:r>
              <a:rPr lang="en-US" dirty="0"/>
              <a:t>RP</a:t>
            </a:r>
            <a:r>
              <a:rPr lang="he-IL" dirty="0"/>
              <a:t> וגם </a:t>
            </a:r>
            <a:r>
              <a:rPr lang="en-US" dirty="0"/>
              <a:t>AMD</a:t>
            </a:r>
            <a:r>
              <a:rPr lang="he-IL" dirty="0"/>
              <a:t> מתאפיינים בניוון של קולטני פוטו ברשתית, אך עם זאת רוב הרשת הסלולרית </a:t>
            </a:r>
            <a:r>
              <a:rPr lang="he-IL" dirty="0" smtClean="0"/>
              <a:t> </a:t>
            </a:r>
            <a:r>
              <a:rPr lang="he-IL" dirty="0"/>
              <a:t>נשארת </a:t>
            </a:r>
            <a:r>
              <a:rPr lang="he-IL" dirty="0" smtClean="0"/>
              <a:t>פונקציונלית.</a:t>
            </a:r>
            <a:endParaRPr lang="en-US" dirty="0"/>
          </a:p>
          <a:p>
            <a:r>
              <a:rPr lang="he-IL" dirty="0"/>
              <a:t>גירוי חשמלי כרוני של הרשתית בחולים עם מחלות ניווניות באמצעות השתלת מערכים המכילים עד 16 אלקטרודות הוכיחו את האפשרות לעורר תפיסת אור, איתור תנועה ואפילו הבחנה בצורה פשוטה</a:t>
            </a:r>
            <a:endParaRPr lang="en-US" dirty="0"/>
          </a:p>
          <a:p>
            <a:endParaRPr lang="en-US" dirty="0">
              <a:latin typeface="Calibri Light" panose="020F0302020204030204" pitchFamily="34" charset="0"/>
              <a:cs typeface="Calibri Light" panose="020F0302020204030204" pitchFamily="34" charset="0"/>
            </a:endParaRPr>
          </a:p>
          <a:p>
            <a:pPr marL="0" lvl="0" indent="0">
              <a:buNone/>
            </a:pPr>
            <a:r>
              <a:rPr lang="he-IL" b="1" i="1" dirty="0" smtClean="0">
                <a:latin typeface="Calibri Light" panose="020F0302020204030204" pitchFamily="34" charset="0"/>
                <a:cs typeface="Calibri Light" panose="020F0302020204030204" pitchFamily="34" charset="0"/>
              </a:rPr>
              <a:t>לא ידוע</a:t>
            </a:r>
            <a:endParaRPr lang="he-IL" b="1" i="1" dirty="0">
              <a:latin typeface="Calibri Light" panose="020F0302020204030204" pitchFamily="34" charset="0"/>
              <a:cs typeface="Calibri Light" panose="020F0302020204030204" pitchFamily="34" charset="0"/>
            </a:endParaRPr>
          </a:p>
          <a:p>
            <a:r>
              <a:rPr lang="he-IL" dirty="0"/>
              <a:t>רמות של גירוי חשמלי בטוח והמנגנונים הבסיסיים של נזק סלולרי אינם ידועים ברובם.</a:t>
            </a:r>
            <a:endParaRPr lang="en-US" dirty="0"/>
          </a:p>
          <a:p>
            <a:pPr marL="0" lvl="0" indent="0">
              <a:buNone/>
            </a:pPr>
            <a:endParaRPr lang="en-US" dirty="0">
              <a:latin typeface="Calibri Light" panose="020F0302020204030204" pitchFamily="34" charset="0"/>
              <a:cs typeface="Calibri Light" panose="020F0302020204030204" pitchFamily="34" charset="0"/>
            </a:endParaRPr>
          </a:p>
          <a:p>
            <a:pPr marL="0" lvl="0" indent="0">
              <a:buNone/>
            </a:pPr>
            <a:r>
              <a:rPr lang="he-IL" b="1" i="1" dirty="0">
                <a:latin typeface="Calibri Light" panose="020F0302020204030204" pitchFamily="34" charset="0"/>
                <a:cs typeface="Calibri Light" panose="020F0302020204030204" pitchFamily="34" charset="0"/>
              </a:rPr>
              <a:t>חשיבות הנושא:</a:t>
            </a:r>
            <a:endParaRPr lang="he-IL" b="1" i="1" dirty="0">
              <a:solidFill>
                <a:srgbClr val="FF0000"/>
              </a:solidFill>
              <a:latin typeface="Calibri Light" panose="020F0302020204030204" pitchFamily="34" charset="0"/>
              <a:cs typeface="Calibri Light" panose="020F0302020204030204" pitchFamily="34" charset="0"/>
            </a:endParaRPr>
          </a:p>
          <a:p>
            <a:r>
              <a:rPr lang="he-IL" dirty="0" smtClean="0">
                <a:latin typeface="Calibri Light" panose="020F0302020204030204" pitchFamily="34" charset="0"/>
                <a:cs typeface="Calibri Light" panose="020F0302020204030204" pitchFamily="34" charset="0"/>
              </a:rPr>
              <a:t>מתן פתרון לאנשים בעלי מוגבלויות ראייה(עיוורון) </a:t>
            </a:r>
            <a:endParaRPr lang="he-IL" dirty="0">
              <a:latin typeface="Calibri Light" panose="020F0302020204030204" pitchFamily="34" charset="0"/>
              <a:cs typeface="Calibri Light" panose="020F0302020204030204" pitchFamily="34" charset="0"/>
            </a:endParaRPr>
          </a:p>
        </p:txBody>
      </p:sp>
    </p:spTree>
    <p:extLst>
      <p:ext uri="{BB962C8B-B14F-4D97-AF65-F5344CB8AC3E}">
        <p14:creationId xmlns="" xmlns:p14="http://schemas.microsoft.com/office/powerpoint/2010/main" val="25518623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892974F-7CED-42D9-8CE8-3D2E81412074}"/>
              </a:ext>
            </a:extLst>
          </p:cNvPr>
          <p:cNvSpPr>
            <a:spLocks noGrp="1"/>
          </p:cNvSpPr>
          <p:nvPr>
            <p:ph type="title"/>
          </p:nvPr>
        </p:nvSpPr>
        <p:spPr>
          <a:xfrm>
            <a:off x="1790700" y="27773"/>
            <a:ext cx="8610600" cy="1293028"/>
          </a:xfrm>
        </p:spPr>
        <p:txBody>
          <a:bodyPr/>
          <a:lstStyle/>
          <a:p>
            <a:pPr algn="ctr"/>
            <a:r>
              <a:rPr lang="he-IL" dirty="0" smtClean="0">
                <a:latin typeface="Calibri" panose="020F0502020204030204" pitchFamily="34" charset="0"/>
                <a:cs typeface="Calibri" panose="020F0502020204030204" pitchFamily="34" charset="0"/>
              </a:rPr>
              <a:t>הקדמה – עם הערות </a:t>
            </a:r>
            <a:endParaRPr lang="he-IL" dirty="0">
              <a:solidFill>
                <a:schemeClr val="accent3"/>
              </a:solidFill>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xmlns="" id="{A2F31316-7328-4036-AEC5-F21463644465}"/>
              </a:ext>
            </a:extLst>
          </p:cNvPr>
          <p:cNvSpPr>
            <a:spLocks noGrp="1"/>
          </p:cNvSpPr>
          <p:nvPr>
            <p:ph idx="1"/>
          </p:nvPr>
        </p:nvSpPr>
        <p:spPr>
          <a:xfrm>
            <a:off x="297712" y="1009078"/>
            <a:ext cx="11632018" cy="5471758"/>
          </a:xfrm>
        </p:spPr>
        <p:txBody>
          <a:bodyPr>
            <a:noAutofit/>
          </a:bodyPr>
          <a:lstStyle/>
          <a:p>
            <a:pPr marL="0" indent="0">
              <a:buNone/>
            </a:pPr>
            <a:r>
              <a:rPr lang="he-IL" b="1" i="1" dirty="0">
                <a:latin typeface="Calibri Light" panose="020F0302020204030204" pitchFamily="34" charset="0"/>
                <a:cs typeface="Calibri Light" panose="020F0302020204030204" pitchFamily="34" charset="0"/>
              </a:rPr>
              <a:t>מה ידוע:</a:t>
            </a:r>
          </a:p>
          <a:p>
            <a:r>
              <a:rPr lang="he-IL" dirty="0" smtClean="0">
                <a:latin typeface="Calibri Light" panose="020F0302020204030204" pitchFamily="34" charset="0"/>
                <a:cs typeface="Calibri Light" panose="020F0302020204030204" pitchFamily="34" charset="0"/>
              </a:rPr>
              <a:t>פילוג </a:t>
            </a:r>
            <a:r>
              <a:rPr lang="he-IL" dirty="0" err="1" smtClean="0">
                <a:latin typeface="Calibri Light" panose="020F0302020204030204" pitchFamily="34" charset="0"/>
                <a:cs typeface="Calibri Light" panose="020F0302020204030204" pitchFamily="34" charset="0"/>
              </a:rPr>
              <a:t>האוכלוסיה</a:t>
            </a:r>
            <a:r>
              <a:rPr lang="he-IL" dirty="0" smtClean="0">
                <a:latin typeface="Calibri Light" panose="020F0302020204030204" pitchFamily="34" charset="0"/>
                <a:cs typeface="Calibri Light" panose="020F0302020204030204" pitchFamily="34" charset="0"/>
              </a:rPr>
              <a:t> הסובלת מבעיות עיניים הגורמות לעיוורון – </a:t>
            </a:r>
            <a:r>
              <a:rPr lang="en-US" dirty="0" smtClean="0">
                <a:latin typeface="Calibri Light" panose="020F0302020204030204" pitchFamily="34" charset="0"/>
                <a:cs typeface="Calibri Light" panose="020F0302020204030204" pitchFamily="34" charset="0"/>
              </a:rPr>
              <a:t>AMD</a:t>
            </a:r>
            <a:r>
              <a:rPr lang="he-IL" dirty="0" smtClean="0">
                <a:latin typeface="Calibri Light" panose="020F0302020204030204" pitchFamily="34" charset="0"/>
                <a:cs typeface="Calibri Light" panose="020F0302020204030204" pitchFamily="34" charset="0"/>
              </a:rPr>
              <a:t> (ניוון מקולרי) , </a:t>
            </a:r>
            <a:r>
              <a:rPr lang="en-US" dirty="0" smtClean="0">
                <a:latin typeface="Calibri Light" panose="020F0302020204030204" pitchFamily="34" charset="0"/>
                <a:cs typeface="Calibri Light" panose="020F0302020204030204" pitchFamily="34" charset="0"/>
              </a:rPr>
              <a:t>RP</a:t>
            </a:r>
            <a:br>
              <a:rPr lang="en-US" dirty="0" smtClean="0">
                <a:latin typeface="Calibri Light" panose="020F0302020204030204" pitchFamily="34" charset="0"/>
                <a:cs typeface="Calibri Light" panose="020F0302020204030204" pitchFamily="34" charset="0"/>
              </a:rPr>
            </a:br>
            <a:r>
              <a:rPr lang="en-US" dirty="0">
                <a:latin typeface="Calibri Light" panose="020F0302020204030204" pitchFamily="34" charset="0"/>
                <a:cs typeface="Calibri Light" panose="020F0302020204030204" pitchFamily="34" charset="0"/>
              </a:rPr>
              <a:t>AMD</a:t>
            </a:r>
            <a:r>
              <a:rPr lang="he-IL" dirty="0">
                <a:latin typeface="Calibri Light" panose="020F0302020204030204" pitchFamily="34" charset="0"/>
                <a:cs typeface="Calibri Light" panose="020F0302020204030204" pitchFamily="34" charset="0"/>
              </a:rPr>
              <a:t> - ניוון מקולרי או </a:t>
            </a:r>
            <a:r>
              <a:rPr lang="he-IL" dirty="0" err="1">
                <a:latin typeface="Calibri Light" panose="020F0302020204030204" pitchFamily="34" charset="0"/>
                <a:cs typeface="Calibri Light" panose="020F0302020204030204" pitchFamily="34" charset="0"/>
              </a:rPr>
              <a:t>נמ"ג</a:t>
            </a:r>
            <a:r>
              <a:rPr lang="he-IL" dirty="0">
                <a:latin typeface="Calibri Light" panose="020F0302020204030204" pitchFamily="34" charset="0"/>
                <a:cs typeface="Calibri Light" panose="020F0302020204030204" pitchFamily="34" charset="0"/>
              </a:rPr>
              <a:t> (מ</a:t>
            </a:r>
            <a:r>
              <a:rPr lang="he-IL" dirty="0">
                <a:latin typeface="Calibri Light" panose="020F0302020204030204" pitchFamily="34" charset="0"/>
                <a:cs typeface="Calibri Light" panose="020F0302020204030204" pitchFamily="34" charset="0"/>
                <a:hlinkClick r:id="rId2" tooltip="אנגלית"/>
              </a:rPr>
              <a:t>אנגלית</a:t>
            </a:r>
            <a:r>
              <a:rPr lang="he-IL" dirty="0">
                <a:latin typeface="Calibri Light" panose="020F0302020204030204" pitchFamily="34" charset="0"/>
                <a:cs typeface="Calibri Light" panose="020F0302020204030204" pitchFamily="34" charset="0"/>
              </a:rPr>
              <a:t>: </a:t>
            </a:r>
            <a:r>
              <a:rPr lang="en-US" dirty="0">
                <a:latin typeface="Calibri Light" panose="020F0302020204030204" pitchFamily="34" charset="0"/>
                <a:cs typeface="Calibri Light" panose="020F0302020204030204" pitchFamily="34" charset="0"/>
              </a:rPr>
              <a:t>Macular degeneration; </a:t>
            </a:r>
            <a:r>
              <a:rPr lang="he-IL" dirty="0">
                <a:latin typeface="Calibri Light" panose="020F0302020204030204" pitchFamily="34" charset="0"/>
                <a:cs typeface="Calibri Light" panose="020F0302020204030204" pitchFamily="34" charset="0"/>
              </a:rPr>
              <a:t>בעברית: ניוון כתמי) הוא </a:t>
            </a:r>
            <a:r>
              <a:rPr lang="he-IL" dirty="0">
                <a:latin typeface="Calibri Light" panose="020F0302020204030204" pitchFamily="34" charset="0"/>
                <a:cs typeface="Calibri Light" panose="020F0302020204030204" pitchFamily="34" charset="0"/>
                <a:hlinkClick r:id="rId3" tooltip="מחלה"/>
              </a:rPr>
              <a:t>מחלת</a:t>
            </a:r>
            <a:r>
              <a:rPr lang="he-IL" dirty="0">
                <a:latin typeface="Calibri Light" panose="020F0302020204030204" pitchFamily="34" charset="0"/>
                <a:cs typeface="Calibri Light" panose="020F0302020204030204" pitchFamily="34" charset="0"/>
              </a:rPr>
              <a:t> </a:t>
            </a:r>
            <a:r>
              <a:rPr lang="he-IL" dirty="0">
                <a:latin typeface="Calibri Light" panose="020F0302020204030204" pitchFamily="34" charset="0"/>
                <a:cs typeface="Calibri Light" panose="020F0302020204030204" pitchFamily="34" charset="0"/>
                <a:hlinkClick r:id="rId4" tooltip="עין"/>
              </a:rPr>
              <a:t>עיניים</a:t>
            </a:r>
            <a:r>
              <a:rPr lang="he-IL" dirty="0">
                <a:latin typeface="Calibri Light" panose="020F0302020204030204" pitchFamily="34" charset="0"/>
                <a:cs typeface="Calibri Light" panose="020F0302020204030204" pitchFamily="34" charset="0"/>
              </a:rPr>
              <a:t> המתפתחת לאורך שנים, כאשר שומנים וחלבונים שונים מצטברים מתחת לרשתית עד שהם פוגעים באופן משמעותי בחדות הראייה. </a:t>
            </a:r>
            <a:r>
              <a:rPr lang="he-IL" dirty="0" err="1">
                <a:latin typeface="Calibri Light" panose="020F0302020204030204" pitchFamily="34" charset="0"/>
                <a:cs typeface="Calibri Light" panose="020F0302020204030204" pitchFamily="34" charset="0"/>
              </a:rPr>
              <a:t>נמ"ג</a:t>
            </a:r>
            <a:r>
              <a:rPr lang="he-IL" dirty="0">
                <a:latin typeface="Calibri Light" panose="020F0302020204030204" pitchFamily="34" charset="0"/>
                <a:cs typeface="Calibri Light" panose="020F0302020204030204" pitchFamily="34" charset="0"/>
              </a:rPr>
              <a:t> היא גורם העיוורון הראשון בשכיחותו בעולם המפותח וכן בישראל</a:t>
            </a:r>
            <a:r>
              <a:rPr lang="he-IL" dirty="0">
                <a:latin typeface="Calibri Light" panose="020F0302020204030204" pitchFamily="34" charset="0"/>
                <a:cs typeface="Calibri Light" panose="020F0302020204030204" pitchFamily="34" charset="0"/>
                <a:hlinkClick r:id="rId5"/>
              </a:rPr>
              <a:t>[1]</a:t>
            </a:r>
            <a:r>
              <a:rPr lang="he-IL" dirty="0">
                <a:latin typeface="Calibri Light" panose="020F0302020204030204" pitchFamily="34" charset="0"/>
                <a:cs typeface="Calibri Light" panose="020F0302020204030204" pitchFamily="34" charset="0"/>
              </a:rPr>
              <a:t>. במהלך התקדמות המחלה נפגע תפקודם של </a:t>
            </a:r>
            <a:r>
              <a:rPr lang="he-IL" dirty="0" err="1">
                <a:latin typeface="Calibri Light" panose="020F0302020204030204" pitchFamily="34" charset="0"/>
                <a:cs typeface="Calibri Light" panose="020F0302020204030204" pitchFamily="34" charset="0"/>
              </a:rPr>
              <a:t>ה</a:t>
            </a:r>
            <a:r>
              <a:rPr lang="he-IL" dirty="0" err="1">
                <a:latin typeface="Calibri Light" panose="020F0302020204030204" pitchFamily="34" charset="0"/>
                <a:cs typeface="Calibri Light" panose="020F0302020204030204" pitchFamily="34" charset="0"/>
                <a:hlinkClick r:id="rId6" tooltip="תא קולט אור"/>
              </a:rPr>
              <a:t>פוטורצפטורים</a:t>
            </a:r>
            <a:r>
              <a:rPr lang="he-IL" dirty="0">
                <a:latin typeface="Calibri Light" panose="020F0302020204030204" pitchFamily="34" charset="0"/>
                <a:cs typeface="Calibri Light" panose="020F0302020204030204" pitchFamily="34" charset="0"/>
              </a:rPr>
              <a:t> ושל האפיתל הצבעני (</a:t>
            </a:r>
            <a:r>
              <a:rPr lang="en-US" dirty="0">
                <a:latin typeface="Calibri Light" panose="020F0302020204030204" pitchFamily="34" charset="0"/>
                <a:cs typeface="Calibri Light" panose="020F0302020204030204" pitchFamily="34" charset="0"/>
              </a:rPr>
              <a:t>RPE) </a:t>
            </a:r>
            <a:r>
              <a:rPr lang="he-IL" dirty="0">
                <a:latin typeface="Calibri Light" panose="020F0302020204030204" pitchFamily="34" charset="0"/>
                <a:cs typeface="Calibri Light" panose="020F0302020204030204" pitchFamily="34" charset="0"/>
              </a:rPr>
              <a:t>באזור </a:t>
            </a:r>
            <a:r>
              <a:rPr lang="he-IL" dirty="0" err="1">
                <a:latin typeface="Calibri Light" panose="020F0302020204030204" pitchFamily="34" charset="0"/>
                <a:cs typeface="Calibri Light" panose="020F0302020204030204" pitchFamily="34" charset="0"/>
              </a:rPr>
              <a:t>ה</a:t>
            </a:r>
            <a:r>
              <a:rPr lang="he-IL" dirty="0" err="1">
                <a:latin typeface="Calibri Light" panose="020F0302020204030204" pitchFamily="34" charset="0"/>
                <a:cs typeface="Calibri Light" panose="020F0302020204030204" pitchFamily="34" charset="0"/>
                <a:hlinkClick r:id="rId7" tooltip="מקולה (עין)"/>
              </a:rPr>
              <a:t>מקולה</a:t>
            </a:r>
            <a:r>
              <a:rPr lang="he-IL" dirty="0">
                <a:latin typeface="Calibri Light" panose="020F0302020204030204" pitchFamily="34" charset="0"/>
                <a:cs typeface="Calibri Light" panose="020F0302020204030204" pitchFamily="34" charset="0"/>
              </a:rPr>
              <a:t> (מרכז הראייה). עם התקדמות המחלה מפסיקים </a:t>
            </a:r>
            <a:r>
              <a:rPr lang="he-IL" dirty="0" err="1">
                <a:latin typeface="Calibri Light" panose="020F0302020204030204" pitchFamily="34" charset="0"/>
                <a:cs typeface="Calibri Light" panose="020F0302020204030204" pitchFamily="34" charset="0"/>
              </a:rPr>
              <a:t>הפוטורצפטורים</a:t>
            </a:r>
            <a:r>
              <a:rPr lang="he-IL" dirty="0">
                <a:latin typeface="Calibri Light" panose="020F0302020204030204" pitchFamily="34" charset="0"/>
                <a:cs typeface="Calibri Light" panose="020F0302020204030204" pitchFamily="34" charset="0"/>
              </a:rPr>
              <a:t> לפעול. מופעה הנפוץ של המחלה קשור ל</a:t>
            </a:r>
            <a:r>
              <a:rPr lang="he-IL" dirty="0">
                <a:latin typeface="Calibri Light" panose="020F0302020204030204" pitchFamily="34" charset="0"/>
                <a:cs typeface="Calibri Light" panose="020F0302020204030204" pitchFamily="34" charset="0"/>
                <a:hlinkClick r:id="rId8" tooltip="גיל"/>
              </a:rPr>
              <a:t>גיל</a:t>
            </a:r>
            <a:r>
              <a:rPr lang="he-IL" dirty="0">
                <a:latin typeface="Calibri Light" panose="020F0302020204030204" pitchFamily="34" charset="0"/>
                <a:cs typeface="Calibri Light" panose="020F0302020204030204" pitchFamily="34" charset="0"/>
              </a:rPr>
              <a:t> ונקרא </a:t>
            </a:r>
            <a:r>
              <a:rPr lang="en-US" dirty="0">
                <a:latin typeface="Calibri Light" panose="020F0302020204030204" pitchFamily="34" charset="0"/>
                <a:cs typeface="Calibri Light" panose="020F0302020204030204" pitchFamily="34" charset="0"/>
              </a:rPr>
              <a:t>AMD (</a:t>
            </a:r>
            <a:r>
              <a:rPr lang="he-IL" dirty="0">
                <a:latin typeface="Calibri Light" panose="020F0302020204030204" pitchFamily="34" charset="0"/>
                <a:cs typeface="Calibri Light" panose="020F0302020204030204" pitchFamily="34" charset="0"/>
                <a:hlinkClick r:id="rId9" tooltip="ראשי תיבות"/>
              </a:rPr>
              <a:t>ראשי תיבות</a:t>
            </a:r>
            <a:r>
              <a:rPr lang="he-IL" dirty="0">
                <a:latin typeface="Calibri Light" panose="020F0302020204030204" pitchFamily="34" charset="0"/>
                <a:cs typeface="Calibri Light" panose="020F0302020204030204" pitchFamily="34" charset="0"/>
              </a:rPr>
              <a:t> של </a:t>
            </a:r>
            <a:r>
              <a:rPr lang="en-US" dirty="0">
                <a:latin typeface="Calibri Light" panose="020F0302020204030204" pitchFamily="34" charset="0"/>
                <a:cs typeface="Calibri Light" panose="020F0302020204030204" pitchFamily="34" charset="0"/>
              </a:rPr>
              <a:t>Age-related Macular Degeneration</a:t>
            </a:r>
            <a:r>
              <a:rPr lang="en-US" dirty="0" smtClean="0">
                <a:latin typeface="Calibri Light" panose="020F0302020204030204" pitchFamily="34" charset="0"/>
                <a:cs typeface="Calibri Light" panose="020F0302020204030204" pitchFamily="34" charset="0"/>
              </a:rPr>
              <a:t>).</a:t>
            </a:r>
            <a:endParaRPr lang="he-IL" dirty="0" smtClean="0">
              <a:latin typeface="Calibri Light" panose="020F0302020204030204" pitchFamily="34" charset="0"/>
              <a:cs typeface="Calibri Light" panose="020F0302020204030204" pitchFamily="34" charset="0"/>
            </a:endParaRPr>
          </a:p>
          <a:p>
            <a:r>
              <a:rPr lang="en-US" dirty="0" smtClean="0">
                <a:latin typeface="Calibri Light" panose="020F0302020204030204" pitchFamily="34" charset="0"/>
                <a:cs typeface="Calibri Light" panose="020F0302020204030204" pitchFamily="34" charset="0"/>
              </a:rPr>
              <a:t>RP</a:t>
            </a:r>
            <a:r>
              <a:rPr lang="he-IL" dirty="0" smtClean="0">
                <a:latin typeface="Calibri Light" panose="020F0302020204030204" pitchFamily="34" charset="0"/>
                <a:cs typeface="Calibri Light" panose="020F0302020204030204" pitchFamily="34" charset="0"/>
              </a:rPr>
              <a:t> </a:t>
            </a:r>
            <a:r>
              <a:rPr lang="he-IL" dirty="0"/>
              <a:t> </a:t>
            </a:r>
            <a:r>
              <a:rPr lang="he-IL" dirty="0">
                <a:hlinkClick r:id="rId3" tooltip="מחלה"/>
              </a:rPr>
              <a:t>מחלת</a:t>
            </a:r>
            <a:r>
              <a:rPr lang="he-IL" dirty="0"/>
              <a:t> </a:t>
            </a:r>
            <a:r>
              <a:rPr lang="he-IL" dirty="0">
                <a:hlinkClick r:id="rId10" tooltip="עיניים"/>
              </a:rPr>
              <a:t>עיניים</a:t>
            </a:r>
            <a:r>
              <a:rPr lang="he-IL" dirty="0"/>
              <a:t> ניוונית של ה</a:t>
            </a:r>
            <a:r>
              <a:rPr lang="he-IL" dirty="0">
                <a:hlinkClick r:id="rId11" tooltip="רשתית"/>
              </a:rPr>
              <a:t>רשתית</a:t>
            </a:r>
            <a:r>
              <a:rPr lang="he-IL" dirty="0"/>
              <a:t>, הנפוצה ביותר מבין מחלת ניוון הרשתית בעלות </a:t>
            </a:r>
            <a:r>
              <a:rPr lang="he-IL" dirty="0">
                <a:hlinkClick r:id="rId12" tooltip="מחלה גנטית"/>
              </a:rPr>
              <a:t>הורשה</a:t>
            </a:r>
            <a:r>
              <a:rPr lang="he-IL" dirty="0"/>
              <a:t> ברורה.</a:t>
            </a:r>
            <a:endParaRPr lang="he-IL" dirty="0">
              <a:latin typeface="Calibri Light" panose="020F0302020204030204" pitchFamily="34" charset="0"/>
              <a:cs typeface="Calibri Light" panose="020F0302020204030204" pitchFamily="34" charset="0"/>
            </a:endParaRPr>
          </a:p>
          <a:p>
            <a:r>
              <a:rPr lang="he-IL" dirty="0">
                <a:latin typeface="Calibri Light" panose="020F0302020204030204" pitchFamily="34" charset="0"/>
                <a:cs typeface="Calibri Light" panose="020F0302020204030204" pitchFamily="34" charset="0"/>
              </a:rPr>
              <a:t>על מנת להשיב את היכולת לאחוז בחפצים / לבצע את פעולת האחיזה, פותחה נוירו-פרוטזה לאחיזת יד מבוססת גירוי חשמלי פונקציונאלי (</a:t>
            </a:r>
            <a:r>
              <a:rPr lang="en-GB" dirty="0">
                <a:latin typeface="Calibri Light" panose="020F0302020204030204" pitchFamily="34" charset="0"/>
                <a:cs typeface="Calibri Light" panose="020F0302020204030204" pitchFamily="34" charset="0"/>
              </a:rPr>
              <a:t>FES</a:t>
            </a:r>
            <a:r>
              <a:rPr lang="he-IL" dirty="0" smtClean="0">
                <a:latin typeface="Calibri Light" panose="020F0302020204030204" pitchFamily="34" charset="0"/>
                <a:cs typeface="Calibri Light" panose="020F0302020204030204" pitchFamily="34" charset="0"/>
              </a:rPr>
              <a:t>) </a:t>
            </a:r>
          </a:p>
          <a:p>
            <a:r>
              <a:rPr lang="en-US" dirty="0"/>
              <a:t>AMD </a:t>
            </a:r>
            <a:r>
              <a:rPr lang="he-IL" dirty="0" smtClean="0"/>
              <a:t> הוא </a:t>
            </a:r>
            <a:r>
              <a:rPr lang="he-IL" dirty="0"/>
              <a:t>הגורם העיקרי לאובדן ראייה באנשים מעל גיל 65 בעולם המערבי. בכל שנה מאובחנים 700,000 אנשים עם </a:t>
            </a:r>
            <a:r>
              <a:rPr lang="en-US" dirty="0"/>
              <a:t>AMD</a:t>
            </a:r>
            <a:r>
              <a:rPr lang="he-IL" dirty="0"/>
              <a:t>, ו -10% מהם אנשים אלה נעשים עיוורים כחוק [1]. </a:t>
            </a:r>
            <a:r>
              <a:rPr lang="en-US" dirty="0"/>
              <a:t>RP</a:t>
            </a:r>
            <a:r>
              <a:rPr lang="he-IL" dirty="0"/>
              <a:t> מופיע </a:t>
            </a:r>
            <a:r>
              <a:rPr lang="he-IL" dirty="0" err="1"/>
              <a:t>בכ</a:t>
            </a:r>
            <a:r>
              <a:rPr lang="he-IL" dirty="0"/>
              <a:t> -1 מתוך 4000 לידות חי כלומר </a:t>
            </a:r>
            <a:r>
              <a:rPr lang="he-IL" dirty="0" err="1"/>
              <a:t>כמליון</a:t>
            </a:r>
            <a:r>
              <a:rPr lang="he-IL" dirty="0"/>
              <a:t> וחצי אנשים מהעולם</a:t>
            </a:r>
            <a:r>
              <a:rPr lang="he-IL" dirty="0" smtClean="0"/>
              <a:t>.</a:t>
            </a:r>
            <a:endParaRPr lang="he-IL" dirty="0" smtClean="0">
              <a:latin typeface="Calibri Light" panose="020F0302020204030204" pitchFamily="34" charset="0"/>
              <a:cs typeface="Calibri Light" panose="020F0302020204030204" pitchFamily="34" charset="0"/>
            </a:endParaRPr>
          </a:p>
          <a:p>
            <a:r>
              <a:rPr lang="he-IL" dirty="0" smtClean="0">
                <a:latin typeface="Calibri Light" panose="020F0302020204030204" pitchFamily="34" charset="0"/>
                <a:cs typeface="Calibri Light" panose="020F0302020204030204" pitchFamily="34" charset="0"/>
              </a:rPr>
              <a:t> </a:t>
            </a:r>
            <a:r>
              <a:rPr lang="he-IL" b="1" i="1" dirty="0" smtClean="0">
                <a:latin typeface="Calibri Light" panose="020F0302020204030204" pitchFamily="34" charset="0"/>
                <a:cs typeface="Calibri Light" panose="020F0302020204030204" pitchFamily="34" charset="0"/>
              </a:rPr>
              <a:t>חשיבות </a:t>
            </a:r>
            <a:r>
              <a:rPr lang="he-IL" b="1" i="1" dirty="0">
                <a:latin typeface="Calibri Light" panose="020F0302020204030204" pitchFamily="34" charset="0"/>
                <a:cs typeface="Calibri Light" panose="020F0302020204030204" pitchFamily="34" charset="0"/>
              </a:rPr>
              <a:t>הנושא:</a:t>
            </a:r>
            <a:endParaRPr lang="he-IL" b="1" i="1" dirty="0">
              <a:solidFill>
                <a:srgbClr val="FF0000"/>
              </a:solidFill>
              <a:latin typeface="Calibri Light" panose="020F0302020204030204" pitchFamily="34" charset="0"/>
              <a:cs typeface="Calibri Light" panose="020F0302020204030204" pitchFamily="34" charset="0"/>
            </a:endParaRPr>
          </a:p>
          <a:p>
            <a:r>
              <a:rPr lang="he-IL" dirty="0" smtClean="0">
                <a:latin typeface="Calibri Light" panose="020F0302020204030204" pitchFamily="34" charset="0"/>
                <a:cs typeface="Calibri Light" panose="020F0302020204030204" pitchFamily="34" charset="0"/>
              </a:rPr>
              <a:t>מתן פתרון לאנשים בעלי מוגבלויות ראייה(עיוורון) </a:t>
            </a:r>
            <a:endParaRPr lang="he-IL" dirty="0">
              <a:latin typeface="Calibri Light" panose="020F0302020204030204" pitchFamily="34" charset="0"/>
              <a:cs typeface="Calibri Light" panose="020F0302020204030204" pitchFamily="34" charset="0"/>
            </a:endParaRPr>
          </a:p>
        </p:txBody>
      </p:sp>
    </p:spTree>
    <p:extLst>
      <p:ext uri="{BB962C8B-B14F-4D97-AF65-F5344CB8AC3E}">
        <p14:creationId xmlns="" xmlns:p14="http://schemas.microsoft.com/office/powerpoint/2010/main" val="2582442893"/>
      </p:ext>
    </p:extLst>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ABDF03A-C6D2-4D84-BEDB-C25AB58E9F57}"/>
              </a:ext>
            </a:extLst>
          </p:cNvPr>
          <p:cNvSpPr>
            <a:spLocks noGrp="1"/>
          </p:cNvSpPr>
          <p:nvPr>
            <p:ph type="title"/>
          </p:nvPr>
        </p:nvSpPr>
        <p:spPr>
          <a:xfrm>
            <a:off x="1790700" y="115787"/>
            <a:ext cx="8610600" cy="1293028"/>
          </a:xfrm>
        </p:spPr>
        <p:txBody>
          <a:bodyPr/>
          <a:lstStyle/>
          <a:p>
            <a:pPr algn="ctr"/>
            <a:r>
              <a:rPr lang="he-IL" dirty="0">
                <a:latin typeface="Calibri" panose="020F0502020204030204" pitchFamily="34" charset="0"/>
                <a:cs typeface="Calibri" panose="020F0502020204030204" pitchFamily="34" charset="0"/>
              </a:rPr>
              <a:t>מטרת המחקר</a:t>
            </a:r>
          </a:p>
        </p:txBody>
      </p:sp>
      <p:sp>
        <p:nvSpPr>
          <p:cNvPr id="3" name="Content Placeholder 2">
            <a:extLst>
              <a:ext uri="{FF2B5EF4-FFF2-40B4-BE49-F238E27FC236}">
                <a16:creationId xmlns:a16="http://schemas.microsoft.com/office/drawing/2014/main" xmlns="" id="{7D67E5BC-5E2A-4759-8463-C93E2C3ED705}"/>
              </a:ext>
            </a:extLst>
          </p:cNvPr>
          <p:cNvSpPr>
            <a:spLocks noGrp="1"/>
          </p:cNvSpPr>
          <p:nvPr>
            <p:ph idx="1"/>
          </p:nvPr>
        </p:nvSpPr>
        <p:spPr>
          <a:xfrm>
            <a:off x="6565900" y="1536700"/>
            <a:ext cx="4978400" cy="3632200"/>
          </a:xfrm>
        </p:spPr>
        <p:txBody>
          <a:bodyPr>
            <a:normAutofit/>
          </a:bodyPr>
          <a:lstStyle/>
          <a:p>
            <a:pPr marL="0" indent="0" algn="ctr">
              <a:buNone/>
            </a:pPr>
            <a:endParaRPr lang="he-IL" dirty="0" smtClean="0"/>
          </a:p>
          <a:p>
            <a:r>
              <a:rPr lang="he-IL" dirty="0" smtClean="0"/>
              <a:t>מתן </a:t>
            </a:r>
            <a:r>
              <a:rPr lang="he-IL" dirty="0" smtClean="0"/>
              <a:t>תובנה לגבי תפקוד </a:t>
            </a:r>
            <a:r>
              <a:rPr lang="he-IL" dirty="0" smtClean="0"/>
              <a:t>ומנגנונים</a:t>
            </a:r>
            <a:r>
              <a:rPr lang="en-US" dirty="0" smtClean="0"/>
              <a:t/>
            </a:r>
            <a:br>
              <a:rPr lang="en-US" dirty="0" smtClean="0"/>
            </a:br>
            <a:r>
              <a:rPr lang="he-IL" dirty="0" smtClean="0"/>
              <a:t>סלולאריים.</a:t>
            </a:r>
            <a:r>
              <a:rPr lang="en-US" dirty="0" smtClean="0"/>
              <a:t/>
            </a:r>
            <a:br>
              <a:rPr lang="en-US" dirty="0" smtClean="0"/>
            </a:br>
            <a:endParaRPr lang="he-IL" dirty="0" smtClean="0"/>
          </a:p>
          <a:p>
            <a:r>
              <a:rPr lang="he-IL" dirty="0" smtClean="0"/>
              <a:t>הגדרת </a:t>
            </a:r>
            <a:r>
              <a:rPr lang="he-IL" dirty="0" smtClean="0"/>
              <a:t>הטווח הדינאמי </a:t>
            </a:r>
            <a:r>
              <a:rPr lang="he-IL" dirty="0" smtClean="0"/>
              <a:t>לגירוי</a:t>
            </a:r>
            <a:r>
              <a:rPr lang="he-IL" dirty="0" smtClean="0"/>
              <a:t> </a:t>
            </a:r>
            <a:r>
              <a:rPr lang="he-IL" dirty="0" smtClean="0"/>
              <a:t>חשמלי</a:t>
            </a:r>
            <a:r>
              <a:rPr lang="en-US" dirty="0" smtClean="0"/>
              <a:t/>
            </a:r>
            <a:br>
              <a:rPr lang="en-US" dirty="0" smtClean="0"/>
            </a:br>
            <a:r>
              <a:rPr lang="he-IL" dirty="0" smtClean="0"/>
              <a:t>בטוח </a:t>
            </a:r>
            <a:r>
              <a:rPr lang="he-IL" dirty="0" smtClean="0"/>
              <a:t>של </a:t>
            </a:r>
            <a:r>
              <a:rPr lang="he-IL" dirty="0" smtClean="0"/>
              <a:t>הרשתית.</a:t>
            </a:r>
          </a:p>
          <a:p>
            <a:pPr>
              <a:buNone/>
            </a:pPr>
            <a:endParaRPr lang="he-IL" dirty="0" smtClean="0"/>
          </a:p>
          <a:p>
            <a:r>
              <a:rPr lang="he-IL" dirty="0" smtClean="0"/>
              <a:t>לקבוע </a:t>
            </a:r>
            <a:r>
              <a:rPr lang="he-IL" dirty="0" smtClean="0"/>
              <a:t>פרמטרי הפעלה </a:t>
            </a:r>
            <a:r>
              <a:rPr lang="he-IL" dirty="0" smtClean="0"/>
              <a:t>אופטימאליים</a:t>
            </a:r>
            <a:r>
              <a:rPr lang="en-US" dirty="0" smtClean="0"/>
              <a:t/>
            </a:r>
            <a:br>
              <a:rPr lang="en-US" dirty="0" smtClean="0"/>
            </a:br>
            <a:r>
              <a:rPr lang="he-IL" dirty="0" smtClean="0"/>
              <a:t>למכשיר </a:t>
            </a:r>
            <a:r>
              <a:rPr lang="he-IL" dirty="0" smtClean="0"/>
              <a:t>מושתל.</a:t>
            </a:r>
            <a:endParaRPr lang="en-US" dirty="0" smtClean="0"/>
          </a:p>
          <a:p>
            <a:pPr marL="0" indent="0" algn="ctr">
              <a:buNone/>
            </a:pPr>
            <a:endParaRPr lang="he-IL" dirty="0" smtClean="0"/>
          </a:p>
        </p:txBody>
      </p:sp>
      <p:sp>
        <p:nvSpPr>
          <p:cNvPr id="4" name="Content Placeholder 2">
            <a:extLst>
              <a:ext uri="{FF2B5EF4-FFF2-40B4-BE49-F238E27FC236}">
                <a16:creationId xmlns:a16="http://schemas.microsoft.com/office/drawing/2014/main" xmlns="" id="{7D67E5BC-5E2A-4759-8463-C93E2C3ED705}"/>
              </a:ext>
            </a:extLst>
          </p:cNvPr>
          <p:cNvSpPr txBox="1">
            <a:spLocks/>
          </p:cNvSpPr>
          <p:nvPr/>
        </p:nvSpPr>
        <p:spPr>
          <a:xfrm>
            <a:off x="838200" y="4800600"/>
            <a:ext cx="10820400" cy="2057400"/>
          </a:xfrm>
          <a:prstGeom prst="rect">
            <a:avLst/>
          </a:prstGeom>
        </p:spPr>
        <p:txBody>
          <a:bodyPr vert="horz" lIns="91440" tIns="45720" rIns="91440" bIns="45720" rtlCol="0">
            <a:normAutofit/>
          </a:bodyPr>
          <a:lstStyle/>
          <a:p>
            <a:pPr marL="0" marR="0" lvl="0" indent="0" algn="ct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he-IL" sz="2200" b="0"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ct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he-IL" sz="2200" b="0" i="0" u="none" strike="noStrike" kern="1200" cap="none" spc="0" normalizeH="0" baseline="0" noProof="0" dirty="0" smtClean="0">
              <a:ln>
                <a:noFill/>
              </a:ln>
              <a:solidFill>
                <a:schemeClr val="tx1"/>
              </a:solidFill>
              <a:effectLst/>
              <a:uLnTx/>
              <a:uFillTx/>
              <a:latin typeface="+mn-lt"/>
              <a:ea typeface="+mn-ea"/>
              <a:cs typeface="+mn-cs"/>
            </a:endParaRPr>
          </a:p>
          <a:p>
            <a:pPr marL="0" marR="0" lvl="0" indent="0" algn="ct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200" b="0" i="0" u="none" strike="noStrike" kern="1200" cap="none" spc="0" normalizeH="0" baseline="0" noProof="0" dirty="0" smtClean="0">
                <a:ln>
                  <a:noFill/>
                </a:ln>
                <a:solidFill>
                  <a:schemeClr val="tx1"/>
                </a:solidFill>
                <a:effectLst/>
                <a:uLnTx/>
                <a:uFillTx/>
                <a:latin typeface="+mn-lt"/>
                <a:ea typeface="+mn-ea"/>
                <a:cs typeface="+mn-cs"/>
              </a:rPr>
              <a:t>צורך להבנה טובה יותר של הגבולות הבטוחים בגירוי חשמלי אקוטי וכרוני של רקמות ביולוגיות בכלל ורקמה רשתית בפרט</a:t>
            </a:r>
            <a:endParaRPr kumimoji="0" lang="en-US" sz="2200" b="0" i="0" u="none" strike="noStrike" kern="1200" cap="none" spc="0" normalizeH="0" baseline="0" noProof="0" dirty="0">
              <a:ln>
                <a:noFill/>
              </a:ln>
              <a:solidFill>
                <a:schemeClr val="tx1"/>
              </a:solidFill>
              <a:effectLst/>
              <a:uLnTx/>
              <a:uFillTx/>
              <a:latin typeface="+mn-lt"/>
              <a:ea typeface="+mn-ea"/>
              <a:cs typeface="+mn-cs"/>
            </a:endParaRPr>
          </a:p>
        </p:txBody>
      </p:sp>
      <p:pic>
        <p:nvPicPr>
          <p:cNvPr id="5" name="תמונה 4" descr="מבנה העין.jpg"/>
          <p:cNvPicPr>
            <a:picLocks noChangeAspect="1"/>
          </p:cNvPicPr>
          <p:nvPr/>
        </p:nvPicPr>
        <p:blipFill>
          <a:blip r:embed="rId2"/>
          <a:stretch>
            <a:fillRect/>
          </a:stretch>
        </p:blipFill>
        <p:spPr>
          <a:xfrm>
            <a:off x="761999" y="1790701"/>
            <a:ext cx="4762501" cy="3494938"/>
          </a:xfrm>
          <a:prstGeom prst="rect">
            <a:avLst/>
          </a:prstGeom>
        </p:spPr>
      </p:pic>
    </p:spTree>
    <p:extLst>
      <p:ext uri="{BB962C8B-B14F-4D97-AF65-F5344CB8AC3E}">
        <p14:creationId xmlns="" xmlns:p14="http://schemas.microsoft.com/office/powerpoint/2010/main" val="31602404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35500" y="272004"/>
            <a:ext cx="3263900" cy="624812"/>
          </a:xfrm>
        </p:spPr>
        <p:txBody>
          <a:bodyPr>
            <a:noAutofit/>
          </a:bodyPr>
          <a:lstStyle/>
          <a:p>
            <a:r>
              <a:rPr lang="he-IL" dirty="0" smtClean="0">
                <a:latin typeface="Calibri" panose="020F0502020204030204" pitchFamily="34" charset="0"/>
                <a:cs typeface="Calibri" panose="020F0502020204030204" pitchFamily="34" charset="0"/>
              </a:rPr>
              <a:t>הכנת הרקמות</a:t>
            </a:r>
            <a:endParaRPr lang="he-IL" dirty="0">
              <a:latin typeface="Calibri" panose="020F0502020204030204" pitchFamily="34" charset="0"/>
              <a:cs typeface="Calibri" panose="020F0502020204030204" pitchFamily="34" charset="0"/>
            </a:endParaRPr>
          </a:p>
        </p:txBody>
      </p:sp>
      <p:sp>
        <p:nvSpPr>
          <p:cNvPr id="3" name="Content Placeholder 2"/>
          <p:cNvSpPr>
            <a:spLocks noGrp="1"/>
          </p:cNvSpPr>
          <p:nvPr>
            <p:ph idx="1"/>
          </p:nvPr>
        </p:nvSpPr>
        <p:spPr>
          <a:xfrm>
            <a:off x="685800" y="940778"/>
            <a:ext cx="10820400" cy="5277908"/>
          </a:xfrm>
        </p:spPr>
        <p:txBody>
          <a:bodyPr/>
          <a:lstStyle/>
          <a:p>
            <a:r>
              <a:rPr lang="he-IL" dirty="0" smtClean="0"/>
              <a:t>רקמות הרשתית למחקר זה נלקחו מעוברי עוף. להכנות הרשתית, העובר נערף והעין הוסרה. בתוך שלוש דקות מהמתת חסד הופרד גביע העין, הזגוגית הוסרה והחלק האחורי של גביע העין הוכנס לתוך תמיסת-מגן (</a:t>
            </a:r>
            <a:r>
              <a:rPr lang="en-US" dirty="0" smtClean="0"/>
              <a:t>DPBS</a:t>
            </a:r>
            <a:r>
              <a:rPr lang="he-IL" dirty="0" smtClean="0"/>
              <a:t>).</a:t>
            </a:r>
            <a:r>
              <a:rPr lang="he-IL" u="sng" dirty="0" smtClean="0">
                <a:hlinkClick r:id="rId2"/>
              </a:rPr>
              <a:t> </a:t>
            </a:r>
            <a:endParaRPr lang="he-IL" u="sng" dirty="0" smtClean="0"/>
          </a:p>
          <a:p>
            <a:r>
              <a:rPr lang="he-IL" dirty="0" smtClean="0"/>
              <a:t>ברגע שהרשתית החלה להיפרד מאפיתל הרשתית הצבעני, הכורואיד והסקלרה מוסרות מהרשתית שכאמור מבודדת כעת. לצורך גירוי,הרשתית הוחזקה בטמפרטורת החדר בתמיסת-מגן (</a:t>
            </a:r>
            <a:r>
              <a:rPr lang="en-US" dirty="0" smtClean="0"/>
              <a:t>DPBS</a:t>
            </a:r>
            <a:r>
              <a:rPr lang="he-IL" dirty="0" smtClean="0"/>
              <a:t>) כאשר הפוטו-קולטנים פונים כלפי מעלה, לכיוון האלקטרודות המגרות. כל חשיפה לגירוי חשמלי נעשה באזור חדש ובריא ברקמה.</a:t>
            </a:r>
            <a:endParaRPr lang="he-IL" dirty="0"/>
          </a:p>
        </p:txBody>
      </p:sp>
      <p:pic>
        <p:nvPicPr>
          <p:cNvPr id="4" name="תמונה 3" descr="שכבה דמית.jpg"/>
          <p:cNvPicPr>
            <a:picLocks noChangeAspect="1"/>
          </p:cNvPicPr>
          <p:nvPr/>
        </p:nvPicPr>
        <p:blipFill>
          <a:blip r:embed="rId3"/>
          <a:stretch>
            <a:fillRect/>
          </a:stretch>
        </p:blipFill>
        <p:spPr>
          <a:xfrm>
            <a:off x="406400" y="3241877"/>
            <a:ext cx="4965700" cy="3361397"/>
          </a:xfrm>
          <a:prstGeom prst="rect">
            <a:avLst/>
          </a:prstGeom>
        </p:spPr>
      </p:pic>
    </p:spTree>
    <p:extLst>
      <p:ext uri="{BB962C8B-B14F-4D97-AF65-F5344CB8AC3E}">
        <p14:creationId xmlns="" xmlns:p14="http://schemas.microsoft.com/office/powerpoint/2010/main" val="3831298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508000" y="1714500"/>
            <a:ext cx="11010900" cy="3771899"/>
          </a:xfrm>
        </p:spPr>
        <p:txBody>
          <a:bodyPr>
            <a:normAutofit/>
          </a:bodyPr>
          <a:lstStyle/>
          <a:p>
            <a:r>
              <a:rPr lang="he-IL" dirty="0" smtClean="0"/>
              <a:t>שלמות הממברנה התאית נבדקה על ידי שימוש בסמן הפלורוסנטי פרופידיום יודיד (</a:t>
            </a:r>
            <a:r>
              <a:rPr lang="en-GB" dirty="0" smtClean="0"/>
              <a:t>PI</a:t>
            </a:r>
            <a:r>
              <a:rPr lang="he-IL" dirty="0" smtClean="0"/>
              <a:t>),</a:t>
            </a:r>
            <a:r>
              <a:rPr lang="en-US" dirty="0" smtClean="0"/>
              <a:t/>
            </a:r>
            <a:br>
              <a:rPr lang="en-US" dirty="0" smtClean="0"/>
            </a:br>
            <a:r>
              <a:rPr lang="he-IL" dirty="0" smtClean="0"/>
              <a:t>שאינו </a:t>
            </a:r>
            <a:r>
              <a:rPr lang="he-IL" dirty="0" smtClean="0"/>
              <a:t>חודר ממברנות של תאים חיים</a:t>
            </a:r>
            <a:r>
              <a:rPr lang="he-IL" dirty="0" smtClean="0"/>
              <a:t>.</a:t>
            </a:r>
            <a:r>
              <a:rPr lang="en-US" dirty="0" smtClean="0"/>
              <a:t/>
            </a:r>
            <a:br>
              <a:rPr lang="en-US" dirty="0" smtClean="0"/>
            </a:br>
            <a:endParaRPr lang="he-IL" dirty="0" smtClean="0"/>
          </a:p>
          <a:p>
            <a:r>
              <a:rPr lang="he-IL" dirty="0" smtClean="0"/>
              <a:t>כאשר </a:t>
            </a:r>
            <a:r>
              <a:rPr lang="he-IL" dirty="0" smtClean="0"/>
              <a:t>פרופידיום </a:t>
            </a:r>
            <a:r>
              <a:rPr lang="he-IL" dirty="0" smtClean="0"/>
              <a:t>יודיד נקשר לחומצות גרעין תוך תאיות הוא הופך </a:t>
            </a:r>
            <a:r>
              <a:rPr lang="he-IL" dirty="0" smtClean="0"/>
              <a:t>לניאון.</a:t>
            </a:r>
            <a:r>
              <a:rPr lang="en-US" dirty="0" smtClean="0"/>
              <a:t/>
            </a:r>
            <a:br>
              <a:rPr lang="en-US" dirty="0" smtClean="0"/>
            </a:br>
            <a:r>
              <a:rPr lang="he-IL" dirty="0" smtClean="0"/>
              <a:t>בעזרת </a:t>
            </a:r>
            <a:r>
              <a:rPr lang="he-IL" dirty="0" smtClean="0"/>
              <a:t>מנגנון זה ניתן לזהות חדירות לא תקינה של הממברנה התאית והתפוררות הגרעין</a:t>
            </a:r>
            <a:r>
              <a:rPr lang="he-IL" dirty="0" smtClean="0"/>
              <a:t>.</a:t>
            </a:r>
            <a:r>
              <a:rPr lang="en-US" dirty="0" smtClean="0"/>
              <a:t/>
            </a:r>
            <a:br>
              <a:rPr lang="en-US" dirty="0" smtClean="0"/>
            </a:br>
            <a:endParaRPr lang="he-IL" dirty="0" smtClean="0"/>
          </a:p>
          <a:p>
            <a:r>
              <a:rPr lang="he-IL" dirty="0" smtClean="0"/>
              <a:t>במהלך הערכת הנזק עורבב </a:t>
            </a:r>
            <a:r>
              <a:rPr lang="el-GR" dirty="0" smtClean="0"/>
              <a:t>μ</a:t>
            </a:r>
            <a:r>
              <a:rPr lang="en-US" dirty="0" smtClean="0"/>
              <a:t>L</a:t>
            </a:r>
            <a:r>
              <a:rPr lang="he-IL" dirty="0" smtClean="0"/>
              <a:t>100</a:t>
            </a:r>
            <a:r>
              <a:rPr lang="en-US" dirty="0" smtClean="0"/>
              <a:t> </a:t>
            </a:r>
            <a:r>
              <a:rPr lang="he-IL" dirty="0" smtClean="0"/>
              <a:t>של הפרודידיום יוד </a:t>
            </a:r>
            <a:r>
              <a:rPr lang="en-US" dirty="0" smtClean="0"/>
              <a:t>Sigma-Aldrich, MO)</a:t>
            </a:r>
            <a:r>
              <a:rPr lang="he-IL" dirty="0" smtClean="0"/>
              <a:t>) עם </a:t>
            </a:r>
            <a:r>
              <a:rPr lang="he-IL" dirty="0" err="1" smtClean="0"/>
              <a:t>התמיסת</a:t>
            </a:r>
            <a:r>
              <a:rPr lang="he-IL" dirty="0" smtClean="0"/>
              <a:t>-מגן (</a:t>
            </a:r>
            <a:r>
              <a:rPr lang="en-US" dirty="0" smtClean="0"/>
              <a:t>DPBS</a:t>
            </a:r>
            <a:r>
              <a:rPr lang="he-IL" dirty="0" smtClean="0"/>
              <a:t>).</a:t>
            </a:r>
            <a:r>
              <a:rPr lang="en-US" dirty="0" smtClean="0"/>
              <a:t/>
            </a:r>
            <a:br>
              <a:rPr lang="en-US" dirty="0" smtClean="0"/>
            </a:br>
            <a:endParaRPr lang="he-IL" dirty="0" smtClean="0"/>
          </a:p>
          <a:p>
            <a:r>
              <a:rPr lang="he-IL" dirty="0" smtClean="0"/>
              <a:t>ערכי הפלורוסנציה: עירור ב-</a:t>
            </a:r>
            <a:r>
              <a:rPr lang="en-US" dirty="0" smtClean="0"/>
              <a:t> ,560 nm</a:t>
            </a:r>
            <a:r>
              <a:rPr lang="he-IL" dirty="0" smtClean="0"/>
              <a:t>פליטה ב-</a:t>
            </a:r>
            <a:r>
              <a:rPr lang="en-US" dirty="0" smtClean="0"/>
              <a:t>  .630 nm </a:t>
            </a:r>
            <a:endParaRPr lang="he-IL" dirty="0"/>
          </a:p>
        </p:txBody>
      </p:sp>
      <p:sp>
        <p:nvSpPr>
          <p:cNvPr id="4" name="Title 1"/>
          <p:cNvSpPr txBox="1">
            <a:spLocks/>
          </p:cNvSpPr>
          <p:nvPr/>
        </p:nvSpPr>
        <p:spPr>
          <a:xfrm>
            <a:off x="3556000" y="272004"/>
            <a:ext cx="6134100" cy="1163096"/>
          </a:xfrm>
          <a:prstGeom prst="rect">
            <a:avLst/>
          </a:prstGeom>
        </p:spPr>
        <p:txBody>
          <a:bodyPr vert="horz" lIns="91440" tIns="45720" rIns="91440" bIns="45720" rtlCol="0" anchor="ctr">
            <a:noAutofit/>
          </a:bodyPr>
          <a:lstStyle/>
          <a:p>
            <a:pPr lvl="0" algn="r" defTabSz="914400" rtl="1">
              <a:lnSpc>
                <a:spcPct val="90000"/>
              </a:lnSpc>
              <a:spcBef>
                <a:spcPct val="0"/>
              </a:spcBef>
            </a:pPr>
            <a:r>
              <a:rPr lang="he-IL" sz="4000" cap="all" dirty="0" smtClean="0">
                <a:latin typeface="Calibri" panose="020F0502020204030204" pitchFamily="34" charset="0"/>
                <a:ea typeface="+mj-ea"/>
                <a:cs typeface="Calibri" panose="020F0502020204030204" pitchFamily="34" charset="0"/>
              </a:rPr>
              <a:t>הליך מדידת הנזק הנגרם לרקמה</a:t>
            </a:r>
            <a:endParaRPr lang="he-IL" sz="4000" cap="all" dirty="0">
              <a:latin typeface="Calibri" panose="020F0502020204030204" pitchFamily="34" charset="0"/>
              <a:ea typeface="+mj-ea"/>
              <a:cs typeface="Calibri" panose="020F050202020403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597400" y="330199"/>
            <a:ext cx="2857500" cy="1079501"/>
          </a:xfrm>
        </p:spPr>
        <p:txBody>
          <a:bodyPr>
            <a:normAutofit/>
          </a:bodyPr>
          <a:lstStyle/>
          <a:p>
            <a:r>
              <a:rPr lang="he-IL" dirty="0" smtClean="0">
                <a:latin typeface="Calibri" panose="020F0502020204030204" pitchFamily="34" charset="0"/>
                <a:cs typeface="Calibri" panose="020F0502020204030204" pitchFamily="34" charset="0"/>
              </a:rPr>
              <a:t>אופן המדידות</a:t>
            </a:r>
            <a:endParaRPr lang="he-IL" dirty="0" smtClean="0">
              <a:latin typeface="Calibri" panose="020F0502020204030204" pitchFamily="34" charset="0"/>
              <a:cs typeface="Calibri" panose="020F0502020204030204" pitchFamily="34" charset="0"/>
            </a:endParaRPr>
          </a:p>
        </p:txBody>
      </p:sp>
      <p:sp>
        <p:nvSpPr>
          <p:cNvPr id="3" name="מציין מיקום תוכן 2"/>
          <p:cNvSpPr>
            <a:spLocks noGrp="1"/>
          </p:cNvSpPr>
          <p:nvPr>
            <p:ph idx="1"/>
          </p:nvPr>
        </p:nvSpPr>
        <p:spPr>
          <a:xfrm>
            <a:off x="685800" y="1308100"/>
            <a:ext cx="10934700" cy="5372100"/>
          </a:xfrm>
        </p:spPr>
        <p:txBody>
          <a:bodyPr>
            <a:normAutofit lnSpcReduction="10000"/>
          </a:bodyPr>
          <a:lstStyle/>
          <a:p>
            <a:pPr>
              <a:spcBef>
                <a:spcPts val="300"/>
              </a:spcBef>
              <a:spcAft>
                <a:spcPts val="500"/>
              </a:spcAft>
            </a:pPr>
            <a:r>
              <a:rPr lang="he-IL" sz="2400" dirty="0" smtClean="0"/>
              <a:t>מחקרים </a:t>
            </a:r>
            <a:r>
              <a:rPr lang="he-IL" sz="2400" dirty="0" smtClean="0"/>
              <a:t>קודמים זיהו רמות סף עליון</a:t>
            </a:r>
            <a:r>
              <a:rPr lang="he-IL" sz="2400" dirty="0" smtClean="0"/>
              <a:t> </a:t>
            </a:r>
            <a:r>
              <a:rPr lang="he-IL" sz="2400" dirty="0" smtClean="0"/>
              <a:t>ל</a:t>
            </a:r>
            <a:r>
              <a:rPr lang="he-IL" sz="2400" u="sng" dirty="0" smtClean="0"/>
              <a:t>זרם כולל</a:t>
            </a:r>
            <a:r>
              <a:rPr lang="he-IL" sz="2400" dirty="0" smtClean="0"/>
              <a:t> / </a:t>
            </a:r>
            <a:r>
              <a:rPr lang="he-IL" sz="2400" u="sng" dirty="0" smtClean="0"/>
              <a:t>צפיפויות </a:t>
            </a:r>
            <a:r>
              <a:rPr lang="he-IL" sz="2400" u="sng" dirty="0" smtClean="0"/>
              <a:t>זרם</a:t>
            </a:r>
            <a:r>
              <a:rPr lang="he-IL" sz="2400" dirty="0" smtClean="0"/>
              <a:t> כתלות ב</a:t>
            </a:r>
            <a:r>
              <a:rPr lang="he-IL" sz="2800" u="sng" dirty="0" smtClean="0">
                <a:solidFill>
                  <a:srgbClr val="FF0000"/>
                </a:solidFill>
              </a:rPr>
              <a:t>אחד</a:t>
            </a:r>
            <a:r>
              <a:rPr lang="he-IL" sz="2400" b="1" dirty="0" smtClean="0"/>
              <a:t> </a:t>
            </a:r>
            <a:r>
              <a:rPr lang="he-IL" sz="2400" dirty="0" smtClean="0"/>
              <a:t>מהבאים:</a:t>
            </a:r>
            <a:endParaRPr lang="he-IL" sz="2400" dirty="0" smtClean="0">
              <a:latin typeface="Calibri" panose="020F0502020204030204" pitchFamily="34" charset="0"/>
              <a:cs typeface="Calibri" panose="020F0502020204030204" pitchFamily="34" charset="0"/>
            </a:endParaRPr>
          </a:p>
          <a:p>
            <a:pPr marL="914400" lvl="2" indent="457200">
              <a:spcAft>
                <a:spcPts val="500"/>
              </a:spcAft>
              <a:buFont typeface="Courier New" pitchFamily="49" charset="0"/>
              <a:buChar char="o"/>
            </a:pPr>
            <a:r>
              <a:rPr lang="he-IL" sz="2000" dirty="0" smtClean="0">
                <a:latin typeface="Arial Narrow" pitchFamily="34" charset="0"/>
              </a:rPr>
              <a:t>גודל </a:t>
            </a:r>
            <a:r>
              <a:rPr lang="he-IL" sz="2000" dirty="0" smtClean="0">
                <a:latin typeface="Arial Narrow" pitchFamily="34" charset="0"/>
              </a:rPr>
              <a:t>האלקטרודה</a:t>
            </a:r>
            <a:r>
              <a:rPr lang="he-IL" sz="2000" dirty="0" smtClean="0">
                <a:latin typeface="Calibri" panose="020F0502020204030204" pitchFamily="34" charset="0"/>
                <a:cs typeface="Calibri" panose="020F0502020204030204" pitchFamily="34" charset="0"/>
              </a:rPr>
              <a:t>	 </a:t>
            </a:r>
            <a:endParaRPr lang="he-IL" sz="2000" dirty="0" smtClean="0">
              <a:latin typeface="Calibri" panose="020F0502020204030204" pitchFamily="34" charset="0"/>
              <a:cs typeface="Calibri" panose="020F0502020204030204" pitchFamily="34" charset="0"/>
            </a:endParaRPr>
          </a:p>
          <a:p>
            <a:pPr marL="914400" lvl="2" indent="457200">
              <a:spcAft>
                <a:spcPts val="500"/>
              </a:spcAft>
              <a:buFont typeface="Courier New" pitchFamily="49" charset="0"/>
              <a:buChar char="o"/>
            </a:pPr>
            <a:r>
              <a:rPr lang="he-IL" sz="2000" dirty="0" smtClean="0">
                <a:latin typeface="Calibri" panose="020F0502020204030204" pitchFamily="34" charset="0"/>
              </a:rPr>
              <a:t>משך </a:t>
            </a:r>
            <a:r>
              <a:rPr lang="he-IL" sz="2000" dirty="0" smtClean="0">
                <a:latin typeface="Calibri" panose="020F0502020204030204" pitchFamily="34" charset="0"/>
              </a:rPr>
              <a:t>זמן </a:t>
            </a:r>
            <a:r>
              <a:rPr lang="he-IL" sz="2000" dirty="0" smtClean="0">
                <a:latin typeface="Calibri" panose="020F0502020204030204" pitchFamily="34" charset="0"/>
              </a:rPr>
              <a:t>פעימה </a:t>
            </a:r>
            <a:r>
              <a:rPr lang="he-IL" sz="2000" dirty="0" smtClean="0">
                <a:latin typeface="Calibri" panose="020F0502020204030204" pitchFamily="34" charset="0"/>
                <a:cs typeface="Calibri" panose="020F0502020204030204" pitchFamily="34" charset="0"/>
              </a:rPr>
              <a:t>		</a:t>
            </a:r>
            <a:endParaRPr lang="he-IL" sz="2000" dirty="0" smtClean="0">
              <a:latin typeface="Calibri" panose="020F0502020204030204" pitchFamily="34" charset="0"/>
              <a:cs typeface="Calibri" panose="020F0502020204030204" pitchFamily="34" charset="0"/>
            </a:endParaRPr>
          </a:p>
          <a:p>
            <a:pPr marL="914400" lvl="2" indent="457200">
              <a:spcAft>
                <a:spcPts val="500"/>
              </a:spcAft>
              <a:buFont typeface="Courier New" pitchFamily="49" charset="0"/>
              <a:buChar char="o"/>
            </a:pPr>
            <a:r>
              <a:rPr lang="he-IL" sz="2000" dirty="0" smtClean="0">
                <a:latin typeface="Calibri" panose="020F0502020204030204" pitchFamily="34" charset="0"/>
              </a:rPr>
              <a:t>סה"כ </a:t>
            </a:r>
            <a:r>
              <a:rPr lang="he-IL" sz="2000" dirty="0" smtClean="0">
                <a:latin typeface="Calibri" panose="020F0502020204030204" pitchFamily="34" charset="0"/>
              </a:rPr>
              <a:t>זמן החשיפה לזרם </a:t>
            </a:r>
            <a:r>
              <a:rPr lang="he-IL" sz="2000" dirty="0" smtClean="0">
                <a:latin typeface="Calibri" panose="020F0502020204030204" pitchFamily="34" charset="0"/>
              </a:rPr>
              <a:t>חשמלי</a:t>
            </a:r>
          </a:p>
          <a:p>
            <a:pPr marL="914400" lvl="2" indent="457200">
              <a:spcAft>
                <a:spcPts val="500"/>
              </a:spcAft>
              <a:buNone/>
            </a:pPr>
            <a:endParaRPr lang="he-IL" sz="1400" dirty="0" smtClean="0">
              <a:latin typeface="Calibri" panose="020F0502020204030204" pitchFamily="34" charset="0"/>
              <a:cs typeface="Calibri" panose="020F0502020204030204" pitchFamily="34" charset="0"/>
            </a:endParaRPr>
          </a:p>
          <a:p>
            <a:r>
              <a:rPr lang="he-IL" sz="2400" dirty="0" smtClean="0"/>
              <a:t>ההבנה </a:t>
            </a:r>
            <a:r>
              <a:rPr lang="he-IL" sz="2400" dirty="0" smtClean="0"/>
              <a:t>של נזק לרשתית כתוצאה מגירוי חשמלי נותרה מוגבלת </a:t>
            </a:r>
            <a:r>
              <a:rPr lang="he-IL" sz="2400" dirty="0" smtClean="0"/>
              <a:t>ביותר.</a:t>
            </a:r>
          </a:p>
          <a:p>
            <a:pPr>
              <a:buNone/>
            </a:pPr>
            <a:endParaRPr lang="he-IL" dirty="0" smtClean="0"/>
          </a:p>
          <a:p>
            <a:pPr>
              <a:spcBef>
                <a:spcPts val="300"/>
              </a:spcBef>
              <a:spcAft>
                <a:spcPts val="500"/>
              </a:spcAft>
            </a:pPr>
            <a:r>
              <a:rPr lang="he-IL" sz="2400" dirty="0" smtClean="0">
                <a:latin typeface="Calibri" panose="020F0502020204030204" pitchFamily="34" charset="0"/>
              </a:rPr>
              <a:t>אנו בוחנים </a:t>
            </a:r>
            <a:r>
              <a:rPr lang="he-IL" sz="2400" dirty="0" smtClean="0"/>
              <a:t>סף עליון ל</a:t>
            </a:r>
            <a:r>
              <a:rPr lang="he-IL" sz="2400" u="sng" dirty="0" smtClean="0"/>
              <a:t>זרם </a:t>
            </a:r>
            <a:r>
              <a:rPr lang="he-IL" sz="2400" u="sng" dirty="0" smtClean="0"/>
              <a:t>כולל</a:t>
            </a:r>
            <a:r>
              <a:rPr lang="he-IL" sz="2400" dirty="0" smtClean="0"/>
              <a:t> /</a:t>
            </a:r>
            <a:r>
              <a:rPr lang="he-IL" sz="2400" dirty="0" smtClean="0"/>
              <a:t> </a:t>
            </a:r>
            <a:r>
              <a:rPr lang="he-IL" sz="2400" u="sng" dirty="0" smtClean="0"/>
              <a:t>צפיפויות זרם</a:t>
            </a:r>
            <a:r>
              <a:rPr lang="he-IL" sz="2400" dirty="0" smtClean="0">
                <a:latin typeface="Calibri" panose="020F0502020204030204" pitchFamily="34" charset="0"/>
              </a:rPr>
              <a:t>  כתלות משותפת בין:</a:t>
            </a:r>
            <a:endParaRPr lang="he-IL" sz="2400" dirty="0" smtClean="0">
              <a:latin typeface="Calibri" panose="020F0502020204030204" pitchFamily="34" charset="0"/>
            </a:endParaRPr>
          </a:p>
          <a:p>
            <a:pPr marL="914400" lvl="2" indent="457200">
              <a:spcAft>
                <a:spcPts val="500"/>
              </a:spcAft>
              <a:buFont typeface="Courier New" pitchFamily="49" charset="0"/>
              <a:buChar char="o"/>
            </a:pPr>
            <a:r>
              <a:rPr lang="he-IL" sz="2000" dirty="0" smtClean="0">
                <a:latin typeface="Calibri" panose="020F0502020204030204" pitchFamily="34" charset="0"/>
              </a:rPr>
              <a:t>גודל </a:t>
            </a:r>
            <a:r>
              <a:rPr lang="he-IL" sz="2000" dirty="0" smtClean="0">
                <a:latin typeface="Calibri" panose="020F0502020204030204" pitchFamily="34" charset="0"/>
              </a:rPr>
              <a:t>האלקטרודה</a:t>
            </a:r>
            <a:r>
              <a:rPr lang="he-IL" sz="2000" dirty="0" smtClean="0">
                <a:latin typeface="Calibri" panose="020F0502020204030204" pitchFamily="34" charset="0"/>
                <a:cs typeface="Calibri" panose="020F0502020204030204" pitchFamily="34" charset="0"/>
              </a:rPr>
              <a:t>				</a:t>
            </a:r>
            <a:r>
              <a:rPr lang="en-US" sz="2000" dirty="0" smtClean="0">
                <a:latin typeface="Arial Narrow" pitchFamily="34" charset="0"/>
              </a:rPr>
              <a:t>1</a:t>
            </a:r>
            <a:r>
              <a:rPr lang="en-US" sz="1400" dirty="0" smtClean="0">
                <a:latin typeface="Arial Rounded MT Bold" pitchFamily="34" charset="0"/>
              </a:rPr>
              <a:t>[µm]  </a:t>
            </a:r>
            <a:r>
              <a:rPr lang="en-US" sz="2400" dirty="0" smtClean="0"/>
              <a:t>– </a:t>
            </a:r>
            <a:r>
              <a:rPr lang="en-US" sz="2000" dirty="0" smtClean="0">
                <a:latin typeface="Arial Narrow" pitchFamily="34" charset="0"/>
              </a:rPr>
              <a:t>1</a:t>
            </a:r>
            <a:r>
              <a:rPr lang="en-US" sz="1400" dirty="0" smtClean="0">
                <a:latin typeface="Arial Rounded MT Bold" pitchFamily="34" charset="0"/>
              </a:rPr>
              <a:t>[mm]</a:t>
            </a:r>
            <a:endParaRPr lang="he-IL" sz="1400" dirty="0" smtClean="0">
              <a:latin typeface="Calibri" panose="020F0502020204030204" pitchFamily="34" charset="0"/>
              <a:cs typeface="Calibri" panose="020F0502020204030204" pitchFamily="34" charset="0"/>
            </a:endParaRPr>
          </a:p>
          <a:p>
            <a:pPr marL="914400" lvl="2" indent="457200">
              <a:spcAft>
                <a:spcPts val="500"/>
              </a:spcAft>
              <a:buFont typeface="Courier New" pitchFamily="49" charset="0"/>
              <a:buChar char="o"/>
            </a:pPr>
            <a:r>
              <a:rPr lang="he-IL" sz="2000" dirty="0" smtClean="0">
                <a:latin typeface="Calibri" panose="020F0502020204030204" pitchFamily="34" charset="0"/>
              </a:rPr>
              <a:t>משך </a:t>
            </a:r>
            <a:r>
              <a:rPr lang="he-IL" sz="2000" dirty="0" smtClean="0">
                <a:latin typeface="Calibri" panose="020F0502020204030204" pitchFamily="34" charset="0"/>
              </a:rPr>
              <a:t>זמן פעימה</a:t>
            </a:r>
            <a:r>
              <a:rPr lang="he-IL" sz="2000" dirty="0" smtClean="0">
                <a:latin typeface="Calibri" panose="020F0502020204030204" pitchFamily="34" charset="0"/>
                <a:cs typeface="Calibri" panose="020F0502020204030204" pitchFamily="34" charset="0"/>
              </a:rPr>
              <a:t>				</a:t>
            </a:r>
            <a:r>
              <a:rPr lang="en-US" sz="2000" dirty="0" smtClean="0">
                <a:latin typeface="Arial Narrow" pitchFamily="34" charset="0"/>
                <a:cs typeface="Calibri" panose="020F0502020204030204" pitchFamily="34" charset="0"/>
              </a:rPr>
              <a:t>6</a:t>
            </a:r>
            <a:r>
              <a:rPr lang="en-US" sz="1400" dirty="0" smtClean="0">
                <a:latin typeface="Arial Rounded MT Bold" pitchFamily="34" charset="0"/>
              </a:rPr>
              <a:t>[µs/phase</a:t>
            </a:r>
            <a:r>
              <a:rPr lang="en-US" sz="1400" dirty="0" smtClean="0">
                <a:latin typeface="Arial Rounded MT Bold" pitchFamily="34" charset="0"/>
              </a:rPr>
              <a:t>]</a:t>
            </a:r>
            <a:r>
              <a:rPr lang="en-US" sz="2000" dirty="0" smtClean="0">
                <a:latin typeface="Arial Rounded MT Bold" pitchFamily="34" charset="0"/>
              </a:rPr>
              <a:t> </a:t>
            </a:r>
            <a:r>
              <a:rPr lang="en-US" sz="2000" dirty="0" smtClean="0"/>
              <a:t>– </a:t>
            </a:r>
            <a:r>
              <a:rPr lang="en-US" sz="2000" dirty="0" smtClean="0">
                <a:latin typeface="Arial Narrow" pitchFamily="34" charset="0"/>
              </a:rPr>
              <a:t>6</a:t>
            </a:r>
            <a:r>
              <a:rPr lang="en-US" sz="1400" dirty="0" smtClean="0">
                <a:latin typeface="Arial Rounded MT Bold" pitchFamily="34" charset="0"/>
              </a:rPr>
              <a:t>[ms/phase]</a:t>
            </a:r>
            <a:endParaRPr lang="he-IL" sz="1400" dirty="0" smtClean="0">
              <a:latin typeface="Arial Rounded MT Bold" pitchFamily="34" charset="0"/>
            </a:endParaRPr>
          </a:p>
          <a:p>
            <a:pPr marL="914400" lvl="2" indent="457200">
              <a:spcAft>
                <a:spcPts val="500"/>
              </a:spcAft>
              <a:buFont typeface="Courier New" pitchFamily="49" charset="0"/>
              <a:buChar char="o"/>
            </a:pPr>
            <a:r>
              <a:rPr lang="he-IL" sz="2000" dirty="0" smtClean="0">
                <a:latin typeface="Calibri" panose="020F0502020204030204" pitchFamily="34" charset="0"/>
              </a:rPr>
              <a:t>מספר </a:t>
            </a:r>
            <a:r>
              <a:rPr lang="he-IL" sz="2000" dirty="0" smtClean="0">
                <a:latin typeface="Calibri" panose="020F0502020204030204" pitchFamily="34" charset="0"/>
              </a:rPr>
              <a:t>פעמיות לפרקי זמן</a:t>
            </a:r>
            <a:r>
              <a:rPr lang="en-US" sz="2000" dirty="0" smtClean="0">
                <a:latin typeface="Calibri" panose="020F0502020204030204" pitchFamily="34" charset="0"/>
                <a:cs typeface="Calibri" panose="020F0502020204030204" pitchFamily="34" charset="0"/>
              </a:rPr>
              <a:t>			</a:t>
            </a:r>
            <a:r>
              <a:rPr lang="en-US" sz="2000" dirty="0" smtClean="0">
                <a:latin typeface="Arial Narrow" pitchFamily="34" charset="0"/>
                <a:cs typeface="Calibri" panose="020F0502020204030204" pitchFamily="34" charset="0"/>
              </a:rPr>
              <a:t>1-7,500</a:t>
            </a:r>
            <a:r>
              <a:rPr lang="en-US" sz="1400" dirty="0" smtClean="0">
                <a:latin typeface="Arial Rounded MT Bold" pitchFamily="34" charset="0"/>
              </a:rPr>
              <a:t>[pulses]</a:t>
            </a:r>
          </a:p>
          <a:p>
            <a:pPr marL="914400" lvl="2" indent="457200">
              <a:spcAft>
                <a:spcPts val="500"/>
              </a:spcAft>
              <a:buFont typeface="Courier New" pitchFamily="49" charset="0"/>
              <a:buChar char="o"/>
            </a:pPr>
            <a:r>
              <a:rPr lang="he-IL" sz="2000" dirty="0" smtClean="0">
                <a:latin typeface="Calibri" panose="020F0502020204030204" pitchFamily="34" charset="0"/>
              </a:rPr>
              <a:t>קצב </a:t>
            </a:r>
            <a:r>
              <a:rPr lang="he-IL" sz="2000" dirty="0" smtClean="0">
                <a:latin typeface="Calibri" panose="020F0502020204030204" pitchFamily="34" charset="0"/>
              </a:rPr>
              <a:t>פעמיות לפרקי </a:t>
            </a:r>
            <a:r>
              <a:rPr lang="he-IL" sz="2000" dirty="0" smtClean="0">
                <a:latin typeface="Calibri" panose="020F0502020204030204" pitchFamily="34" charset="0"/>
              </a:rPr>
              <a:t>זמן</a:t>
            </a:r>
            <a:r>
              <a:rPr lang="en-US" sz="2000" dirty="0" smtClean="0">
                <a:latin typeface="Calibri" panose="020F0502020204030204" pitchFamily="34" charset="0"/>
              </a:rPr>
              <a:t>	</a:t>
            </a:r>
            <a:r>
              <a:rPr lang="en-US" sz="2000" dirty="0" smtClean="0">
                <a:latin typeface="Calibri" panose="020F0502020204030204" pitchFamily="34" charset="0"/>
                <a:cs typeface="Calibri" panose="020F0502020204030204" pitchFamily="34" charset="0"/>
              </a:rPr>
              <a:t>			</a:t>
            </a:r>
            <a:r>
              <a:rPr lang="en-US" sz="2000" dirty="0" smtClean="0">
                <a:latin typeface="Arial Narrow" pitchFamily="34" charset="0"/>
                <a:cs typeface="Calibri" panose="020F0502020204030204" pitchFamily="34" charset="0"/>
              </a:rPr>
              <a:t>0.003-25</a:t>
            </a:r>
            <a:r>
              <a:rPr lang="en-US" sz="1400" dirty="0" smtClean="0"/>
              <a:t>[</a:t>
            </a:r>
            <a:r>
              <a:rPr lang="en-US" sz="1400" dirty="0" smtClean="0">
                <a:latin typeface="Arial Rounded MT Bold" pitchFamily="34" charset="0"/>
              </a:rPr>
              <a:t>Hz</a:t>
            </a:r>
            <a:r>
              <a:rPr lang="en-US" sz="1400" dirty="0" smtClean="0">
                <a:latin typeface="Arial Rounded MT Bold" pitchFamily="34" charset="0"/>
              </a:rPr>
              <a:t>]</a:t>
            </a:r>
            <a:endParaRPr lang="he-IL" sz="2000" dirty="0" smtClean="0">
              <a:latin typeface="Arial Rounded MT Bold" pitchFamily="34" charset="0"/>
              <a:cs typeface="Calibri" panose="020F0502020204030204" pitchFamily="34" charset="0"/>
            </a:endParaRPr>
          </a:p>
          <a:p>
            <a:pPr marL="914400" lvl="2" indent="457200">
              <a:spcAft>
                <a:spcPts val="500"/>
              </a:spcAft>
              <a:buFont typeface="Courier New" pitchFamily="49" charset="0"/>
              <a:buChar char="o"/>
            </a:pPr>
            <a:r>
              <a:rPr lang="he-IL" sz="2000" dirty="0" smtClean="0">
                <a:latin typeface="Calibri" panose="020F0502020204030204" pitchFamily="34" charset="0"/>
              </a:rPr>
              <a:t>סה"כ זמן </a:t>
            </a:r>
            <a:r>
              <a:rPr lang="he-IL" sz="2000" dirty="0" smtClean="0">
                <a:latin typeface="Calibri" panose="020F0502020204030204" pitchFamily="34" charset="0"/>
              </a:rPr>
              <a:t>החשיפה </a:t>
            </a:r>
            <a:r>
              <a:rPr lang="he-IL" sz="2000" dirty="0" smtClean="0">
                <a:latin typeface="Calibri" panose="020F0502020204030204" pitchFamily="34" charset="0"/>
              </a:rPr>
              <a:t>לזרם חשמלי</a:t>
            </a:r>
            <a:r>
              <a:rPr lang="he-IL" sz="2000" dirty="0" smtClean="0">
                <a:latin typeface="Calibri" panose="020F0502020204030204" pitchFamily="34" charset="0"/>
                <a:cs typeface="Calibri" panose="020F0502020204030204" pitchFamily="34" charset="0"/>
              </a:rPr>
              <a:t>			</a:t>
            </a:r>
            <a:r>
              <a:rPr lang="en-US" sz="2000" dirty="0" smtClean="0">
                <a:latin typeface="Arial Narrow" pitchFamily="34" charset="0"/>
                <a:cs typeface="Calibri" panose="020F0502020204030204" pitchFamily="34" charset="0"/>
              </a:rPr>
              <a:t>5</a:t>
            </a:r>
            <a:r>
              <a:rPr lang="en-US" sz="1400" dirty="0" smtClean="0">
                <a:latin typeface="Arial Rounded MT Bold" pitchFamily="34" charset="0"/>
              </a:rPr>
              <a:t>[min]</a:t>
            </a:r>
            <a:endParaRPr lang="he-IL" sz="1400" dirty="0" smtClean="0">
              <a:latin typeface="Arial Rounded MT Bold" pitchFamily="34" charset="0"/>
            </a:endParaRPr>
          </a:p>
          <a:p>
            <a:endParaRPr lang="he-IL" sz="2000" dirty="0" smtClean="0">
              <a:latin typeface="Calibri" panose="020F0502020204030204" pitchFamily="34" charset="0"/>
              <a:cs typeface="Calibri" panose="020F050202020403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892974F-7CED-42D9-8CE8-3D2E81412074}"/>
              </a:ext>
            </a:extLst>
          </p:cNvPr>
          <p:cNvSpPr>
            <a:spLocks noGrp="1"/>
          </p:cNvSpPr>
          <p:nvPr>
            <p:ph type="title"/>
          </p:nvPr>
        </p:nvSpPr>
        <p:spPr>
          <a:xfrm>
            <a:off x="1790700" y="222105"/>
            <a:ext cx="8610600" cy="1293028"/>
          </a:xfrm>
        </p:spPr>
        <p:txBody>
          <a:bodyPr/>
          <a:lstStyle/>
          <a:p>
            <a:pPr algn="ctr"/>
            <a:r>
              <a:rPr lang="he-IL" dirty="0">
                <a:solidFill>
                  <a:schemeClr val="accent3"/>
                </a:solidFill>
                <a:latin typeface="Calibri" panose="020F0502020204030204" pitchFamily="34" charset="0"/>
                <a:cs typeface="Calibri" panose="020F0502020204030204" pitchFamily="34" charset="0"/>
              </a:rPr>
              <a:t>מסלול האחיזה </a:t>
            </a:r>
          </a:p>
        </p:txBody>
      </p:sp>
      <p:graphicFrame>
        <p:nvGraphicFramePr>
          <p:cNvPr id="4" name="Content Placeholder 3">
            <a:extLst>
              <a:ext uri="{FF2B5EF4-FFF2-40B4-BE49-F238E27FC236}">
                <a16:creationId xmlns:a16="http://schemas.microsoft.com/office/drawing/2014/main" xmlns="" id="{2418DCB7-6B03-4400-8BAE-19163C45B0EB}"/>
              </a:ext>
            </a:extLst>
          </p:cNvPr>
          <p:cNvGraphicFramePr>
            <a:graphicFrameLocks noGrp="1"/>
          </p:cNvGraphicFramePr>
          <p:nvPr>
            <p:ph idx="1"/>
            <p:extLst>
              <p:ext uri="{D42A27DB-BD31-4B8C-83A1-F6EECF244321}">
                <p14:modId xmlns="" xmlns:p14="http://schemas.microsoft.com/office/powerpoint/2010/main" val="362676502"/>
              </p:ext>
            </p:extLst>
          </p:nvPr>
        </p:nvGraphicFramePr>
        <p:xfrm>
          <a:off x="685800" y="1790700"/>
          <a:ext cx="10820400" cy="44275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a:hlinkClick r:id="rId6"/>
            <a:extLst>
              <a:ext uri="{FF2B5EF4-FFF2-40B4-BE49-F238E27FC236}">
                <a16:creationId xmlns:a16="http://schemas.microsoft.com/office/drawing/2014/main" xmlns="" id="{6D89C5CD-F4CB-43F9-AB9B-24C5933710EC}"/>
              </a:ext>
            </a:extLst>
          </p:cNvPr>
          <p:cNvPicPr>
            <a:picLocks noChangeAspect="1"/>
          </p:cNvPicPr>
          <p:nvPr/>
        </p:nvPicPr>
        <p:blipFill>
          <a:blip r:embed="rId7">
            <a:extLst>
              <a:ext uri="{BEBA8EAE-BF5A-486C-A8C5-ECC9F3942E4B}">
                <a14:imgProps xmlns="" xmlns:a14="http://schemas.microsoft.com/office/drawing/2010/main">
                  <a14:imgLayer r:embed="rId9">
                    <a14:imgEffect>
                      <a14:backgroundRemoval t="10000" b="90000" l="10000" r="90000">
                        <a14:foregroundMark x1="50884" y1="71064" x2="50884" y2="71064"/>
                        <a14:foregroundMark x1="67780" y1="80213" x2="67780" y2="80213"/>
                        <a14:foregroundMark x1="66012" y1="34468" x2="66012" y2="34468"/>
                        <a14:foregroundMark x1="47544" y1="33191" x2="47544" y2="33191"/>
                        <a14:foregroundMark x1="36739" y1="44255" x2="36739" y2="44255"/>
                        <a14:foregroundMark x1="28291" y1="64255" x2="28291" y2="64255"/>
                      </a14:backgroundRemoval>
                    </a14:imgEffect>
                  </a14:imgLayer>
                </a14:imgProps>
              </a:ext>
            </a:extLst>
          </a:blip>
          <a:stretch>
            <a:fillRect/>
          </a:stretch>
        </p:blipFill>
        <p:spPr>
          <a:xfrm>
            <a:off x="9650677" y="1889454"/>
            <a:ext cx="1501246" cy="1386219"/>
          </a:xfrm>
          <a:prstGeom prst="rect">
            <a:avLst/>
          </a:prstGeom>
        </p:spPr>
      </p:pic>
      <p:pic>
        <p:nvPicPr>
          <p:cNvPr id="6" name="Picture 5">
            <a:extLst>
              <a:ext uri="{FF2B5EF4-FFF2-40B4-BE49-F238E27FC236}">
                <a16:creationId xmlns:a16="http://schemas.microsoft.com/office/drawing/2014/main" xmlns="" id="{15706155-5F98-4959-B3C5-C04D34159FCC}"/>
              </a:ext>
            </a:extLst>
          </p:cNvPr>
          <p:cNvPicPr>
            <a:picLocks noChangeAspect="1"/>
          </p:cNvPicPr>
          <p:nvPr/>
        </p:nvPicPr>
        <p:blipFill>
          <a:blip r:embed="rId10"/>
          <a:stretch>
            <a:fillRect/>
          </a:stretch>
        </p:blipFill>
        <p:spPr>
          <a:xfrm>
            <a:off x="1105959" y="2057401"/>
            <a:ext cx="1501246" cy="1129700"/>
          </a:xfrm>
          <a:prstGeom prst="rect">
            <a:avLst/>
          </a:prstGeom>
        </p:spPr>
      </p:pic>
      <p:sp>
        <p:nvSpPr>
          <p:cNvPr id="7" name="Oval 6">
            <a:extLst>
              <a:ext uri="{FF2B5EF4-FFF2-40B4-BE49-F238E27FC236}">
                <a16:creationId xmlns:a16="http://schemas.microsoft.com/office/drawing/2014/main" xmlns="" id="{AAE7D9BF-3B13-48B9-8E94-8D16DFE8F8B4}"/>
              </a:ext>
            </a:extLst>
          </p:cNvPr>
          <p:cNvSpPr/>
          <p:nvPr/>
        </p:nvSpPr>
        <p:spPr>
          <a:xfrm>
            <a:off x="3767667" y="4963927"/>
            <a:ext cx="431800" cy="12454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 name="Oval 7">
            <a:extLst>
              <a:ext uri="{FF2B5EF4-FFF2-40B4-BE49-F238E27FC236}">
                <a16:creationId xmlns:a16="http://schemas.microsoft.com/office/drawing/2014/main" xmlns="" id="{CB9D9003-4FCD-4A01-9757-FE42A023CF49}"/>
              </a:ext>
            </a:extLst>
          </p:cNvPr>
          <p:cNvSpPr/>
          <p:nvPr/>
        </p:nvSpPr>
        <p:spPr>
          <a:xfrm>
            <a:off x="5283729" y="4952457"/>
            <a:ext cx="431800" cy="12454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cxnSp>
        <p:nvCxnSpPr>
          <p:cNvPr id="10" name="Connector: Curved 9">
            <a:extLst>
              <a:ext uri="{FF2B5EF4-FFF2-40B4-BE49-F238E27FC236}">
                <a16:creationId xmlns:a16="http://schemas.microsoft.com/office/drawing/2014/main" xmlns="" id="{A73DBE8C-AE1B-4B6D-B8BC-50B24B15BEE2}"/>
              </a:ext>
            </a:extLst>
          </p:cNvPr>
          <p:cNvCxnSpPr>
            <a:cxnSpLocks/>
          </p:cNvCxnSpPr>
          <p:nvPr/>
        </p:nvCxnSpPr>
        <p:spPr>
          <a:xfrm rot="10800000">
            <a:off x="2607205" y="2380950"/>
            <a:ext cx="7194816" cy="403226"/>
          </a:xfrm>
          <a:prstGeom prst="curvedConnector3">
            <a:avLst>
              <a:gd name="adj1" fmla="val 50000"/>
            </a:avLst>
          </a:prstGeom>
          <a:ln w="57150">
            <a:solidFill>
              <a:srgbClr val="00B05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2" name="Multiplication Sign 21">
            <a:extLst>
              <a:ext uri="{FF2B5EF4-FFF2-40B4-BE49-F238E27FC236}">
                <a16:creationId xmlns:a16="http://schemas.microsoft.com/office/drawing/2014/main" xmlns="" id="{3A435AC8-A013-4C8F-8C82-C0DB28F11274}"/>
              </a:ext>
            </a:extLst>
          </p:cNvPr>
          <p:cNvSpPr/>
          <p:nvPr/>
        </p:nvSpPr>
        <p:spPr>
          <a:xfrm>
            <a:off x="5432293" y="1987884"/>
            <a:ext cx="1501246" cy="1030946"/>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 xmlns:p14="http://schemas.microsoft.com/office/powerpoint/2010/main" val="4106390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ppt_x"/>
                                          </p:val>
                                        </p:tav>
                                        <p:tav tm="100000">
                                          <p:val>
                                            <p:strVal val="#ppt_x"/>
                                          </p:val>
                                        </p:tav>
                                      </p:tavLst>
                                    </p:anim>
                                    <p:anim calcmode="lin" valueType="num">
                                      <p:cBhvr additive="base">
                                        <p:cTn id="8"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46075"/>
            <a:ext cx="8534400" cy="1507067"/>
          </a:xfr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lIns="91440" tIns="45720" rIns="91440" bIns="45720" rtlCol="0" anchor="ctr">
            <a:normAutofit/>
            <a:scene3d>
              <a:camera prst="orthographicFront"/>
              <a:lightRig rig="soft" dir="t">
                <a:rot lat="0" lon="0" rev="16800000"/>
              </a:lightRig>
            </a:scene3d>
            <a:sp3d prstMaterial="softEdge">
              <a:bevelT w="38100" h="38100"/>
            </a:sp3d>
          </a:bodyPr>
          <a:lstStyle/>
          <a:p>
            <a:pPr algn="ctr"/>
            <a:r>
              <a:rPr lang="he-IL" dirty="0">
                <a:latin typeface="Calibri" panose="020F0502020204030204" pitchFamily="34" charset="0"/>
                <a:cs typeface="Calibri" panose="020F0502020204030204" pitchFamily="34" charset="0"/>
              </a:rPr>
              <a:t>הגדרות לשיטה</a:t>
            </a:r>
          </a:p>
        </p:txBody>
      </p:sp>
      <p:sp>
        <p:nvSpPr>
          <p:cNvPr id="4" name="Rectangle: Rounded Corners 3">
            <a:extLst>
              <a:ext uri="{FF2B5EF4-FFF2-40B4-BE49-F238E27FC236}">
                <a16:creationId xmlns:a16="http://schemas.microsoft.com/office/drawing/2014/main" xmlns="" id="{507BFA90-89E3-498E-AF03-9AD43AABB681}"/>
              </a:ext>
            </a:extLst>
          </p:cNvPr>
          <p:cNvSpPr/>
          <p:nvPr/>
        </p:nvSpPr>
        <p:spPr>
          <a:xfrm>
            <a:off x="7974412" y="1616934"/>
            <a:ext cx="2151322" cy="1062471"/>
          </a:xfrm>
          <a:prstGeom prst="roundRect">
            <a:avLst/>
          </a:prstGeom>
          <a:ln/>
        </p:spPr>
        <p:style>
          <a:lnRef idx="0">
            <a:schemeClr val="accent5"/>
          </a:lnRef>
          <a:fillRef idx="3">
            <a:schemeClr val="accent5"/>
          </a:fillRef>
          <a:effectRef idx="3">
            <a:schemeClr val="accent5"/>
          </a:effectRef>
          <a:fontRef idx="minor">
            <a:schemeClr val="lt1"/>
          </a:fontRef>
        </p:style>
        <p:txBody>
          <a:bodyPr rtlCol="1" anchor="ctr"/>
          <a:lstStyle/>
          <a:p>
            <a:pPr algn="ctr"/>
            <a:r>
              <a:rPr lang="he-IL" sz="3200" dirty="0">
                <a:solidFill>
                  <a:srgbClr val="002060"/>
                </a:solidFill>
              </a:rPr>
              <a:t>חוג פתוח</a:t>
            </a:r>
          </a:p>
          <a:p>
            <a:pPr algn="ctr"/>
            <a:r>
              <a:rPr lang="he-IL" sz="3200" dirty="0">
                <a:solidFill>
                  <a:srgbClr val="DEFFFF"/>
                </a:solidFill>
              </a:rPr>
              <a:t>ללא משוב</a:t>
            </a:r>
          </a:p>
        </p:txBody>
      </p:sp>
      <p:sp>
        <p:nvSpPr>
          <p:cNvPr id="6" name="Rectangle: Rounded Corners 5">
            <a:extLst>
              <a:ext uri="{FF2B5EF4-FFF2-40B4-BE49-F238E27FC236}">
                <a16:creationId xmlns:a16="http://schemas.microsoft.com/office/drawing/2014/main" xmlns="" id="{D2DA974C-2DB8-47B5-A714-FBBC85DAE1F9}"/>
              </a:ext>
            </a:extLst>
          </p:cNvPr>
          <p:cNvSpPr/>
          <p:nvPr/>
        </p:nvSpPr>
        <p:spPr>
          <a:xfrm>
            <a:off x="2020186" y="1510608"/>
            <a:ext cx="2151322" cy="1062471"/>
          </a:xfrm>
          <a:prstGeom prst="roundRect">
            <a:avLst/>
          </a:prstGeom>
          <a:ln/>
        </p:spPr>
        <p:style>
          <a:lnRef idx="0">
            <a:schemeClr val="accent5"/>
          </a:lnRef>
          <a:fillRef idx="3">
            <a:schemeClr val="accent5"/>
          </a:fillRef>
          <a:effectRef idx="3">
            <a:schemeClr val="accent5"/>
          </a:effectRef>
          <a:fontRef idx="minor">
            <a:schemeClr val="lt1"/>
          </a:fontRef>
        </p:style>
        <p:txBody>
          <a:bodyPr rtlCol="1" anchor="ctr"/>
          <a:lstStyle/>
          <a:p>
            <a:pPr algn="ctr"/>
            <a:r>
              <a:rPr lang="he-IL" sz="3200" dirty="0">
                <a:solidFill>
                  <a:srgbClr val="002060"/>
                </a:solidFill>
              </a:rPr>
              <a:t>חוג סגור</a:t>
            </a:r>
          </a:p>
          <a:p>
            <a:pPr algn="ctr"/>
            <a:r>
              <a:rPr lang="he-IL" sz="3200" dirty="0">
                <a:solidFill>
                  <a:srgbClr val="DEFFFF"/>
                </a:solidFill>
              </a:rPr>
              <a:t>עם משוב</a:t>
            </a:r>
          </a:p>
        </p:txBody>
      </p:sp>
      <p:sp>
        <p:nvSpPr>
          <p:cNvPr id="7" name="Content Placeholder 2">
            <a:extLst>
              <a:ext uri="{FF2B5EF4-FFF2-40B4-BE49-F238E27FC236}">
                <a16:creationId xmlns:a16="http://schemas.microsoft.com/office/drawing/2014/main" xmlns="" id="{EF1C7B0B-B0A0-4BC8-818B-B37C66F44E7B}"/>
              </a:ext>
            </a:extLst>
          </p:cNvPr>
          <p:cNvSpPr>
            <a:spLocks noGrp="1"/>
          </p:cNvSpPr>
          <p:nvPr>
            <p:ph idx="1"/>
          </p:nvPr>
        </p:nvSpPr>
        <p:spPr>
          <a:xfrm>
            <a:off x="6298021" y="2817628"/>
            <a:ext cx="5536019" cy="3887972"/>
          </a:xfrm>
          <a:noFill/>
          <a:extLst>
            <a:ext uri="{909E8E84-426E-40DD-AFC4-6F175D3DCCD1}">
              <a14:hiddenFill xmlns="" xmlns:a14="http://schemas.microsoft.com/office/drawing/2010/main">
                <a:solidFill>
                  <a:srgbClr val="FFFFFF"/>
                </a:solidFill>
              </a14:hiddenFill>
            </a:ext>
          </a:extLst>
        </p:spPr>
        <p:txBody>
          <a:bodyPr>
            <a:noAutofit/>
          </a:bodyPr>
          <a:lstStyle/>
          <a:p>
            <a:r>
              <a:rPr lang="he-IL" sz="2800" dirty="0">
                <a:solidFill>
                  <a:schemeClr val="accent2">
                    <a:lumMod val="75000"/>
                  </a:schemeClr>
                </a:solidFill>
                <a:latin typeface="Arial" panose="020B0604020202020204" pitchFamily="34" charset="0"/>
                <a:cs typeface="Arial" panose="020B0604020202020204" pitchFamily="34" charset="0"/>
              </a:rPr>
              <a:t>בדיקה המתבצעת בגירוי ברוחב קבוע</a:t>
            </a:r>
          </a:p>
          <a:p>
            <a:r>
              <a:rPr lang="he-IL" sz="2800" dirty="0">
                <a:solidFill>
                  <a:schemeClr val="accent2">
                    <a:lumMod val="75000"/>
                  </a:schemeClr>
                </a:solidFill>
                <a:latin typeface="Arial" panose="020B0604020202020204" pitchFamily="34" charset="0"/>
                <a:cs typeface="Arial" panose="020B0604020202020204" pitchFamily="34" charset="0"/>
              </a:rPr>
              <a:t>תהליך חד כיווני </a:t>
            </a:r>
          </a:p>
        </p:txBody>
      </p:sp>
      <p:sp>
        <p:nvSpPr>
          <p:cNvPr id="8" name="Content Placeholder 2">
            <a:extLst>
              <a:ext uri="{FF2B5EF4-FFF2-40B4-BE49-F238E27FC236}">
                <a16:creationId xmlns:a16="http://schemas.microsoft.com/office/drawing/2014/main" xmlns="" id="{5BF476BA-B0A8-4387-AA9B-BB2036DC5084}"/>
              </a:ext>
            </a:extLst>
          </p:cNvPr>
          <p:cNvSpPr txBox="1">
            <a:spLocks/>
          </p:cNvSpPr>
          <p:nvPr/>
        </p:nvSpPr>
        <p:spPr>
          <a:xfrm>
            <a:off x="326066" y="2817628"/>
            <a:ext cx="5536019" cy="3887972"/>
          </a:xfrm>
          <a:prstGeom prst="rect">
            <a:avLst/>
          </a:prstGeom>
          <a:noFill/>
          <a:extLst>
            <a:ext uri="{909E8E84-426E-40DD-AFC4-6F175D3DCCD1}">
              <a14:hiddenFill xmlns="" xmlns:a14="http://schemas.microsoft.com/office/drawing/2010/main">
                <a:solidFill>
                  <a:srgbClr val="FFFFFF"/>
                </a:solidFill>
              </a14:hiddenFill>
            </a:ext>
          </a:extLst>
        </p:spPr>
        <p:txBody>
          <a:bodyPr vert="horz" lIns="91440" tIns="45720" rIns="91440" bIns="45720" rtlCol="0">
            <a:noAutofit/>
          </a:bodyPr>
          <a:lstStyle>
            <a:lvl1pPr marL="228600" indent="-228600" algn="r" defTabSz="914400" rtl="1"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r>
              <a:rPr lang="he-IL" sz="2800" dirty="0">
                <a:solidFill>
                  <a:srgbClr val="00B050"/>
                </a:solidFill>
                <a:latin typeface="Arial" panose="020B0604020202020204" pitchFamily="34" charset="0"/>
                <a:cs typeface="Arial" panose="020B0604020202020204" pitchFamily="34" charset="0"/>
              </a:rPr>
              <a:t>בדיקה המתבצעת בגירוי משתנה בהתאם לרישום</a:t>
            </a:r>
          </a:p>
          <a:p>
            <a:r>
              <a:rPr lang="he-IL" sz="2800" dirty="0">
                <a:solidFill>
                  <a:srgbClr val="00B050"/>
                </a:solidFill>
                <a:latin typeface="Arial" panose="020B0604020202020204" pitchFamily="34" charset="0"/>
                <a:cs typeface="Arial" panose="020B0604020202020204" pitchFamily="34" charset="0"/>
              </a:rPr>
              <a:t>גירוי ותגובה </a:t>
            </a:r>
          </a:p>
          <a:p>
            <a:r>
              <a:rPr lang="he-IL" sz="2800" dirty="0">
                <a:solidFill>
                  <a:srgbClr val="00B050"/>
                </a:solidFill>
                <a:latin typeface="Arial" panose="020B0604020202020204" pitchFamily="34" charset="0"/>
                <a:cs typeface="Arial" panose="020B0604020202020204" pitchFamily="34" charset="0"/>
              </a:rPr>
              <a:t>בזמן הרישום האות המנותח מכיל בתוכו מידע לכוח הנדרש למניעת החלקת העצם</a:t>
            </a:r>
            <a:endParaRPr lang="he-IL" sz="2800" dirty="0">
              <a:solidFill>
                <a:srgbClr val="00B050"/>
              </a:solidFill>
            </a:endParaRPr>
          </a:p>
        </p:txBody>
      </p:sp>
    </p:spTree>
    <p:extLst>
      <p:ext uri="{BB962C8B-B14F-4D97-AF65-F5344CB8AC3E}">
        <p14:creationId xmlns="" xmlns:p14="http://schemas.microsoft.com/office/powerpoint/2010/main" val="24444732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48126"/>
            <a:ext cx="8534400" cy="1507067"/>
          </a:xfr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lIns="91440" tIns="45720" rIns="91440" bIns="45720" rtlCol="0" anchor="ctr">
            <a:normAutofit/>
            <a:scene3d>
              <a:camera prst="orthographicFront"/>
              <a:lightRig rig="soft" dir="t">
                <a:rot lat="0" lon="0" rev="16800000"/>
              </a:lightRig>
            </a:scene3d>
            <a:sp3d prstMaterial="softEdge">
              <a:bevelT w="38100" h="38100"/>
            </a:sp3d>
          </a:bodyPr>
          <a:lstStyle/>
          <a:p>
            <a:pPr algn="ctr"/>
            <a:r>
              <a:rPr lang="he-IL" dirty="0">
                <a:latin typeface="Calibri" panose="020F0502020204030204" pitchFamily="34" charset="0"/>
                <a:cs typeface="Calibri" panose="020F0502020204030204" pitchFamily="34" charset="0"/>
              </a:rPr>
              <a:t>חומרים</a:t>
            </a:r>
          </a:p>
        </p:txBody>
      </p:sp>
      <p:sp>
        <p:nvSpPr>
          <p:cNvPr id="3" name="Content Placeholder 2"/>
          <p:cNvSpPr>
            <a:spLocks noGrp="1"/>
          </p:cNvSpPr>
          <p:nvPr>
            <p:ph idx="1"/>
          </p:nvPr>
        </p:nvSpPr>
        <p:spPr>
          <a:xfrm>
            <a:off x="5082363" y="1219200"/>
            <a:ext cx="6788391" cy="5486400"/>
          </a:xfrm>
          <a:noFill/>
          <a:extLst>
            <a:ext uri="{909E8E84-426E-40DD-AFC4-6F175D3DCCD1}">
              <a14:hiddenFill xmlns="" xmlns:a14="http://schemas.microsoft.com/office/drawing/2010/main">
                <a:solidFill>
                  <a:srgbClr val="FFFFFF"/>
                </a:solidFill>
              </a14:hiddenFill>
            </a:ext>
          </a:extLst>
        </p:spPr>
        <p:txBody>
          <a:bodyPr>
            <a:noAutofit/>
          </a:bodyPr>
          <a:lstStyle/>
          <a:p>
            <a:r>
              <a:rPr lang="he-IL" sz="3000" dirty="0">
                <a:latin typeface="Calibri" panose="020F0502020204030204" pitchFamily="34" charset="0"/>
                <a:cs typeface="Calibri" panose="020F0502020204030204" pitchFamily="34" charset="0"/>
              </a:rPr>
              <a:t>מטופל בן 28 בעל טטרפלגיה (לא מולד)</a:t>
            </a:r>
          </a:p>
          <a:p>
            <a:r>
              <a:rPr lang="he-IL" sz="3000" dirty="0">
                <a:solidFill>
                  <a:schemeClr val="accent6"/>
                </a:solidFill>
                <a:latin typeface="Calibri" panose="020F0502020204030204" pitchFamily="34" charset="0"/>
                <a:cs typeface="Calibri" panose="020F0502020204030204" pitchFamily="34" charset="0"/>
              </a:rPr>
              <a:t>מגרה שרירים 8 ערוצים עם אלקטרודות גירוי</a:t>
            </a:r>
          </a:p>
          <a:p>
            <a:r>
              <a:rPr lang="he-IL" sz="3000" dirty="0">
                <a:solidFill>
                  <a:schemeClr val="tx1">
                    <a:lumMod val="95000"/>
                  </a:schemeClr>
                </a:solidFill>
                <a:latin typeface="Calibri" panose="020F0502020204030204" pitchFamily="34" charset="0"/>
                <a:cs typeface="Calibri" panose="020F0502020204030204" pitchFamily="34" charset="0"/>
              </a:rPr>
              <a:t>יחידת בקרה בחוג סגור בהתאמה אישית</a:t>
            </a:r>
          </a:p>
          <a:p>
            <a:r>
              <a:rPr lang="he-IL" sz="3000" dirty="0">
                <a:solidFill>
                  <a:schemeClr val="accent2">
                    <a:lumMod val="75000"/>
                  </a:schemeClr>
                </a:solidFill>
                <a:latin typeface="Calibri" panose="020F0502020204030204" pitchFamily="34" charset="0"/>
                <a:cs typeface="Calibri" panose="020F0502020204030204" pitchFamily="34" charset="0"/>
              </a:rPr>
              <a:t>חוטי הובלה תת-עורי ומחבר יציאה בזרוע</a:t>
            </a:r>
          </a:p>
          <a:p>
            <a:endParaRPr lang="he-IL" sz="2800" dirty="0">
              <a:solidFill>
                <a:schemeClr val="accent2">
                  <a:lumMod val="75000"/>
                </a:schemeClr>
              </a:solidFill>
              <a:latin typeface="Calibri" panose="020F0502020204030204" pitchFamily="34" charset="0"/>
              <a:cs typeface="Calibri" panose="020F0502020204030204" pitchFamily="34" charset="0"/>
            </a:endParaRPr>
          </a:p>
          <a:p>
            <a:r>
              <a:rPr lang="he-IL" sz="3000" dirty="0">
                <a:solidFill>
                  <a:srgbClr val="00B050"/>
                </a:solidFill>
                <a:latin typeface="Calibri" panose="020F0502020204030204" pitchFamily="34" charset="0"/>
                <a:cs typeface="Calibri" panose="020F0502020204030204" pitchFamily="34" charset="0"/>
              </a:rPr>
              <a:t> אלקטרודת שרוול (</a:t>
            </a:r>
            <a:r>
              <a:rPr lang="en-US" sz="3000" dirty="0">
                <a:solidFill>
                  <a:srgbClr val="00B050"/>
                </a:solidFill>
                <a:latin typeface="Calibri" panose="020F0502020204030204" pitchFamily="34" charset="0"/>
                <a:cs typeface="Calibri" panose="020F0502020204030204" pitchFamily="34" charset="0"/>
              </a:rPr>
              <a:t>(cuff</a:t>
            </a:r>
            <a:r>
              <a:rPr lang="he-IL" sz="3000" dirty="0">
                <a:solidFill>
                  <a:srgbClr val="00B050"/>
                </a:solidFill>
                <a:latin typeface="Calibri" panose="020F0502020204030204" pitchFamily="34" charset="0"/>
                <a:cs typeface="Calibri" panose="020F0502020204030204" pitchFamily="34" charset="0"/>
              </a:rPr>
              <a:t> </a:t>
            </a:r>
          </a:p>
          <a:p>
            <a:pPr lvl="1"/>
            <a:r>
              <a:rPr lang="he-IL" sz="3000" dirty="0">
                <a:solidFill>
                  <a:srgbClr val="00B050"/>
                </a:solidFill>
                <a:latin typeface="Calibri" panose="020F0502020204030204" pitchFamily="34" charset="0"/>
                <a:cs typeface="Calibri" panose="020F0502020204030204" pitchFamily="34" charset="0"/>
              </a:rPr>
              <a:t>אורך 2 ס"מ, קוטר 2.6 מ"מ</a:t>
            </a:r>
          </a:p>
        </p:txBody>
      </p:sp>
      <p:pic>
        <p:nvPicPr>
          <p:cNvPr id="6" name="Picture 2" descr="https://www.machinedesign.com/sites/machinedesign.com/files/uploads/2014/07/ATPC_setup.jpg">
            <a:extLst>
              <a:ext uri="{FF2B5EF4-FFF2-40B4-BE49-F238E27FC236}">
                <a16:creationId xmlns:a16="http://schemas.microsoft.com/office/drawing/2014/main" xmlns="" id="{A9D81177-B32C-4B8D-9FD2-8FC818AB811F}"/>
              </a:ext>
            </a:extLst>
          </p:cNvPr>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321246" y="932748"/>
            <a:ext cx="3995379" cy="3975234"/>
          </a:xfrm>
          <a:prstGeom prst="rect">
            <a:avLst/>
          </a:prstGeom>
          <a:noFill/>
          <a:extLst>
            <a:ext uri="{909E8E84-426E-40DD-AFC4-6F175D3DCCD1}">
              <a14:hiddenFill xmlns=""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xmlns="" id="{C6BBD107-01D5-4921-8CAF-123F5C775622}"/>
              </a:ext>
            </a:extLst>
          </p:cNvPr>
          <p:cNvPicPr>
            <a:picLocks noChangeAspect="1"/>
          </p:cNvPicPr>
          <p:nvPr/>
        </p:nvPicPr>
        <p:blipFill>
          <a:blip r:embed="rId3"/>
          <a:stretch>
            <a:fillRect/>
          </a:stretch>
        </p:blipFill>
        <p:spPr>
          <a:xfrm>
            <a:off x="5944296" y="4816982"/>
            <a:ext cx="3995380" cy="1643636"/>
          </a:xfrm>
          <a:prstGeom prst="rect">
            <a:avLst/>
          </a:prstGeom>
        </p:spPr>
      </p:pic>
      <p:cxnSp>
        <p:nvCxnSpPr>
          <p:cNvPr id="9" name="Straight Arrow Connector 8">
            <a:extLst>
              <a:ext uri="{FF2B5EF4-FFF2-40B4-BE49-F238E27FC236}">
                <a16:creationId xmlns:a16="http://schemas.microsoft.com/office/drawing/2014/main" xmlns="" id="{3A9E9A43-49CC-45AA-8204-1E24088CAFEA}"/>
              </a:ext>
            </a:extLst>
          </p:cNvPr>
          <p:cNvCxnSpPr>
            <a:cxnSpLocks/>
          </p:cNvCxnSpPr>
          <p:nvPr/>
        </p:nvCxnSpPr>
        <p:spPr>
          <a:xfrm flipH="1">
            <a:off x="2318935" y="1952625"/>
            <a:ext cx="3082405" cy="0"/>
          </a:xfrm>
          <a:prstGeom prst="straightConnector1">
            <a:avLst/>
          </a:prstGeom>
          <a:ln w="571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xmlns="" id="{C4BE8247-4C48-4E63-B1C5-05B006CBF027}"/>
              </a:ext>
            </a:extLst>
          </p:cNvPr>
          <p:cNvCxnSpPr>
            <a:cxnSpLocks/>
          </p:cNvCxnSpPr>
          <p:nvPr/>
        </p:nvCxnSpPr>
        <p:spPr>
          <a:xfrm flipH="1">
            <a:off x="1962152" y="3187642"/>
            <a:ext cx="3864490" cy="1003358"/>
          </a:xfrm>
          <a:prstGeom prst="straightConnector1">
            <a:avLst/>
          </a:prstGeom>
          <a:ln w="5715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xmlns="" id="{FCB05396-FCD7-46F4-8612-69FC694DBA11}"/>
              </a:ext>
            </a:extLst>
          </p:cNvPr>
          <p:cNvCxnSpPr>
            <a:cxnSpLocks/>
          </p:cNvCxnSpPr>
          <p:nvPr/>
        </p:nvCxnSpPr>
        <p:spPr>
          <a:xfrm flipH="1">
            <a:off x="3352800" y="2488368"/>
            <a:ext cx="2657475" cy="326277"/>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 xmlns:p14="http://schemas.microsoft.com/office/powerpoint/2010/main" val="1032436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2"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heel(2)">
                                      <p:cBhvr>
                                        <p:cTn id="7" dur="2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heel(1)">
                                      <p:cBhvr>
                                        <p:cTn id="12" dur="20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heel(1)">
                                      <p:cBhvr>
                                        <p:cTn id="17"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0"/>
            <a:ext cx="8534400" cy="1507067"/>
          </a:xfr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lIns="91440" tIns="45720" rIns="91440" bIns="45720" rtlCol="0" anchor="ctr">
            <a:normAutofit/>
            <a:scene3d>
              <a:camera prst="orthographicFront"/>
              <a:lightRig rig="soft" dir="t">
                <a:rot lat="0" lon="0" rev="16800000"/>
              </a:lightRig>
            </a:scene3d>
            <a:sp3d prstMaterial="softEdge">
              <a:bevelT w="38100" h="38100"/>
            </a:sp3d>
          </a:bodyPr>
          <a:lstStyle/>
          <a:p>
            <a:pPr algn="ctr"/>
            <a:r>
              <a:rPr lang="he-IL" dirty="0">
                <a:latin typeface="Calibri" panose="020F0502020204030204" pitchFamily="34" charset="0"/>
                <a:cs typeface="Calibri" panose="020F0502020204030204" pitchFamily="34" charset="0"/>
              </a:rPr>
              <a:t>שיטת הבדיקה</a:t>
            </a:r>
          </a:p>
        </p:txBody>
      </p:sp>
      <p:pic>
        <p:nvPicPr>
          <p:cNvPr id="4" name="Picture 3"/>
          <p:cNvPicPr>
            <a:picLocks noChangeAspect="1"/>
          </p:cNvPicPr>
          <p:nvPr/>
        </p:nvPicPr>
        <p:blipFill>
          <a:blip r:embed="rId2">
            <a:duotone>
              <a:prstClr val="black"/>
              <a:schemeClr val="accent2">
                <a:tint val="45000"/>
                <a:satMod val="400000"/>
              </a:schemeClr>
            </a:duotone>
          </a:blip>
          <a:stretch>
            <a:fillRect/>
          </a:stretch>
        </p:blipFill>
        <p:spPr>
          <a:xfrm>
            <a:off x="385010" y="1375135"/>
            <a:ext cx="4254525" cy="3635025"/>
          </a:xfrm>
          <a:prstGeom prst="rect">
            <a:avLst/>
          </a:prstGeom>
        </p:spPr>
      </p:pic>
      <p:pic>
        <p:nvPicPr>
          <p:cNvPr id="5" name="Picture 4">
            <a:extLst>
              <a:ext uri="{FF2B5EF4-FFF2-40B4-BE49-F238E27FC236}">
                <a16:creationId xmlns:a16="http://schemas.microsoft.com/office/drawing/2014/main" xmlns="" id="{A9DC8A73-C782-43DC-BA2D-DB12B3016AFA}"/>
              </a:ext>
            </a:extLst>
          </p:cNvPr>
          <p:cNvPicPr>
            <a:picLocks noChangeAspect="1"/>
          </p:cNvPicPr>
          <p:nvPr/>
        </p:nvPicPr>
        <p:blipFill>
          <a:blip r:embed="rId3"/>
          <a:stretch>
            <a:fillRect/>
          </a:stretch>
        </p:blipFill>
        <p:spPr>
          <a:xfrm>
            <a:off x="6215642" y="2368171"/>
            <a:ext cx="5304807" cy="2121657"/>
          </a:xfrm>
          <a:prstGeom prst="rect">
            <a:avLst/>
          </a:prstGeom>
        </p:spPr>
      </p:pic>
      <p:sp>
        <p:nvSpPr>
          <p:cNvPr id="6" name="TextBox 5">
            <a:extLst>
              <a:ext uri="{FF2B5EF4-FFF2-40B4-BE49-F238E27FC236}">
                <a16:creationId xmlns:a16="http://schemas.microsoft.com/office/drawing/2014/main" xmlns="" id="{2030A57D-65C7-4B7C-BEA2-E1384BF5FF1F}"/>
              </a:ext>
            </a:extLst>
          </p:cNvPr>
          <p:cNvSpPr txBox="1"/>
          <p:nvPr/>
        </p:nvSpPr>
        <p:spPr>
          <a:xfrm>
            <a:off x="9692640" y="1820363"/>
            <a:ext cx="1082289" cy="369332"/>
          </a:xfrm>
          <a:prstGeom prst="rect">
            <a:avLst/>
          </a:prstGeom>
          <a:noFill/>
        </p:spPr>
        <p:txBody>
          <a:bodyPr wrap="square" rtlCol="1">
            <a:spAutoFit/>
          </a:bodyPr>
          <a:lstStyle/>
          <a:p>
            <a:r>
              <a:rPr lang="en-US" b="1" dirty="0">
                <a:latin typeface="Calibri" panose="020F0502020204030204" pitchFamily="34" charset="0"/>
                <a:cs typeface="Calibri" panose="020F0502020204030204" pitchFamily="34" charset="0"/>
              </a:rPr>
              <a:t>100 Hz</a:t>
            </a:r>
            <a:endParaRPr lang="he-IL" b="1"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xmlns="" id="{B4417FC7-073B-437C-A567-826A2C588D29}"/>
              </a:ext>
            </a:extLst>
          </p:cNvPr>
          <p:cNvSpPr txBox="1"/>
          <p:nvPr/>
        </p:nvSpPr>
        <p:spPr>
          <a:xfrm>
            <a:off x="7275095" y="1820363"/>
            <a:ext cx="1082289" cy="369332"/>
          </a:xfrm>
          <a:prstGeom prst="rect">
            <a:avLst/>
          </a:prstGeom>
          <a:noFill/>
        </p:spPr>
        <p:txBody>
          <a:bodyPr wrap="square" rtlCol="1">
            <a:spAutoFit/>
          </a:bodyPr>
          <a:lstStyle/>
          <a:p>
            <a:r>
              <a:rPr lang="en-US" b="1" dirty="0">
                <a:latin typeface="Calibri" panose="020F0502020204030204" pitchFamily="34" charset="0"/>
                <a:cs typeface="Calibri" panose="020F0502020204030204" pitchFamily="34" charset="0"/>
              </a:rPr>
              <a:t>0 Hz</a:t>
            </a:r>
            <a:endParaRPr lang="he-IL" b="1"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xmlns="" id="{6AF4A761-5C8C-45F3-B476-D756AA43BCCD}"/>
              </a:ext>
            </a:extLst>
          </p:cNvPr>
          <p:cNvSpPr txBox="1"/>
          <p:nvPr/>
        </p:nvSpPr>
        <p:spPr>
          <a:xfrm>
            <a:off x="7220123" y="1307012"/>
            <a:ext cx="3072588" cy="400110"/>
          </a:xfrm>
          <a:prstGeom prst="rect">
            <a:avLst/>
          </a:prstGeom>
          <a:noFill/>
        </p:spPr>
        <p:txBody>
          <a:bodyPr wrap="square" rtlCol="1">
            <a:spAutoFit/>
          </a:bodyPr>
          <a:lstStyle/>
          <a:p>
            <a:pPr algn="ctr" rtl="1"/>
            <a:r>
              <a:rPr lang="he-IL" sz="2000" b="1" u="sng" dirty="0">
                <a:latin typeface="Calibri" panose="020F0502020204030204" pitchFamily="34" charset="0"/>
                <a:cs typeface="Calibri" panose="020F0502020204030204" pitchFamily="34" charset="0"/>
              </a:rPr>
              <a:t>גירוי בתדר של </a:t>
            </a:r>
            <a:r>
              <a:rPr lang="en-US" sz="2000" b="1" u="sng" dirty="0">
                <a:latin typeface="Calibri" panose="020F0502020204030204" pitchFamily="34" charset="0"/>
                <a:cs typeface="Calibri" panose="020F0502020204030204" pitchFamily="34" charset="0"/>
              </a:rPr>
              <a:t>H</a:t>
            </a:r>
            <a:r>
              <a:rPr lang="en-GB" sz="2000" b="1" u="sng" dirty="0">
                <a:latin typeface="Calibri" panose="020F0502020204030204" pitchFamily="34" charset="0"/>
                <a:cs typeface="Calibri" panose="020F0502020204030204" pitchFamily="34" charset="0"/>
              </a:rPr>
              <a:t>z</a:t>
            </a:r>
            <a:r>
              <a:rPr lang="he-IL" sz="2000" b="1" u="sng" dirty="0">
                <a:latin typeface="Calibri" panose="020F0502020204030204" pitchFamily="34" charset="0"/>
                <a:cs typeface="Calibri" panose="020F0502020204030204" pitchFamily="34" charset="0"/>
              </a:rPr>
              <a:t> 20</a:t>
            </a:r>
          </a:p>
        </p:txBody>
      </p:sp>
      <p:graphicFrame>
        <p:nvGraphicFramePr>
          <p:cNvPr id="10" name="Diagram 9">
            <a:extLst>
              <a:ext uri="{FF2B5EF4-FFF2-40B4-BE49-F238E27FC236}">
                <a16:creationId xmlns:a16="http://schemas.microsoft.com/office/drawing/2014/main" xmlns="" id="{5C9C9B0D-1463-41BD-9C46-F47CABDB1547}"/>
              </a:ext>
            </a:extLst>
          </p:cNvPr>
          <p:cNvGraphicFramePr/>
          <p:nvPr>
            <p:extLst>
              <p:ext uri="{D42A27DB-BD31-4B8C-83A1-F6EECF244321}">
                <p14:modId xmlns="" xmlns:p14="http://schemas.microsoft.com/office/powerpoint/2010/main" val="4128847919"/>
              </p:ext>
            </p:extLst>
          </p:nvPr>
        </p:nvGraphicFramePr>
        <p:xfrm>
          <a:off x="1855780" y="3222890"/>
          <a:ext cx="8128000" cy="541866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3" name="Picture 12">
            <a:extLst>
              <a:ext uri="{FF2B5EF4-FFF2-40B4-BE49-F238E27FC236}">
                <a16:creationId xmlns:a16="http://schemas.microsoft.com/office/drawing/2014/main" xmlns="" id="{1E2B2A7B-F853-4131-A72A-3D108E3AB09E}"/>
              </a:ext>
            </a:extLst>
          </p:cNvPr>
          <p:cNvPicPr>
            <a:picLocks noChangeAspect="1"/>
          </p:cNvPicPr>
          <p:nvPr/>
        </p:nvPicPr>
        <p:blipFill>
          <a:blip r:embed="rId8"/>
          <a:stretch>
            <a:fillRect/>
          </a:stretch>
        </p:blipFill>
        <p:spPr>
          <a:xfrm>
            <a:off x="10497285" y="5150877"/>
            <a:ext cx="1523499" cy="1596294"/>
          </a:xfrm>
          <a:prstGeom prst="rect">
            <a:avLst/>
          </a:prstGeom>
        </p:spPr>
      </p:pic>
    </p:spTree>
    <p:extLst>
      <p:ext uri="{BB962C8B-B14F-4D97-AF65-F5344CB8AC3E}">
        <p14:creationId xmlns="" xmlns:p14="http://schemas.microsoft.com/office/powerpoint/2010/main" val="9517426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54229"/>
            <a:ext cx="8534400" cy="1507067"/>
          </a:xfr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lIns="91440" tIns="45720" rIns="91440" bIns="45720" rtlCol="0" anchor="ctr">
            <a:normAutofit/>
            <a:scene3d>
              <a:camera prst="orthographicFront"/>
              <a:lightRig rig="soft" dir="t">
                <a:rot lat="0" lon="0" rev="16800000"/>
              </a:lightRig>
            </a:scene3d>
            <a:sp3d prstMaterial="softEdge">
              <a:bevelT w="38100" h="38100"/>
            </a:sp3d>
          </a:bodyPr>
          <a:lstStyle/>
          <a:p>
            <a:pPr algn="ctr"/>
            <a:r>
              <a:rPr lang="he-IL" dirty="0">
                <a:latin typeface="Calibri" panose="020F0502020204030204" pitchFamily="34" charset="0"/>
                <a:cs typeface="Calibri" panose="020F0502020204030204" pitchFamily="34" charset="0"/>
              </a:rPr>
              <a:t>מהלך הניסוי</a:t>
            </a:r>
          </a:p>
        </p:txBody>
      </p:sp>
      <p:sp>
        <p:nvSpPr>
          <p:cNvPr id="3" name="Content Placeholder 2"/>
          <p:cNvSpPr>
            <a:spLocks noGrp="1"/>
          </p:cNvSpPr>
          <p:nvPr>
            <p:ph idx="1"/>
          </p:nvPr>
        </p:nvSpPr>
        <p:spPr>
          <a:xfrm>
            <a:off x="354404" y="5196704"/>
            <a:ext cx="10446167" cy="2381315"/>
          </a:xfrm>
        </p:spPr>
        <p:txBody>
          <a:bodyPr>
            <a:noAutofit/>
          </a:bodyPr>
          <a:lstStyle/>
          <a:p>
            <a:r>
              <a:rPr lang="he-IL" sz="2800" dirty="0">
                <a:solidFill>
                  <a:schemeClr val="tx1">
                    <a:lumMod val="95000"/>
                  </a:schemeClr>
                </a:solidFill>
                <a:latin typeface="Arial" panose="020B0604020202020204" pitchFamily="34" charset="0"/>
                <a:cs typeface="Arial" panose="020B0604020202020204" pitchFamily="34" charset="0"/>
              </a:rPr>
              <a:t>סה"כ בוצעו 10 מחזורים:</a:t>
            </a:r>
          </a:p>
          <a:p>
            <a:pPr lvl="1"/>
            <a:r>
              <a:rPr lang="he-IL" sz="2400" b="1" u="sng" dirty="0">
                <a:solidFill>
                  <a:schemeClr val="tx1">
                    <a:lumMod val="95000"/>
                  </a:schemeClr>
                </a:solidFill>
                <a:latin typeface="Arial" panose="020B0604020202020204" pitchFamily="34" charset="0"/>
                <a:cs typeface="Arial" panose="020B0604020202020204" pitchFamily="34" charset="0"/>
              </a:rPr>
              <a:t>5 בחוג פתוח </a:t>
            </a:r>
            <a:r>
              <a:rPr lang="he-IL" sz="2400" dirty="0">
                <a:solidFill>
                  <a:schemeClr val="tx1">
                    <a:lumMod val="95000"/>
                  </a:schemeClr>
                </a:solidFill>
                <a:latin typeface="Arial" panose="020B0604020202020204" pitchFamily="34" charset="0"/>
                <a:cs typeface="Arial" panose="020B0604020202020204" pitchFamily="34" charset="0"/>
              </a:rPr>
              <a:t>–לאפשר אחיזה בטוחה ולמנוע נפילת מזלג</a:t>
            </a:r>
          </a:p>
          <a:p>
            <a:pPr lvl="1"/>
            <a:r>
              <a:rPr lang="he-IL" sz="2400" b="1" u="sng" dirty="0">
                <a:solidFill>
                  <a:schemeClr val="tx1">
                    <a:lumMod val="95000"/>
                  </a:schemeClr>
                </a:solidFill>
                <a:latin typeface="Arial" panose="020B0604020202020204" pitchFamily="34" charset="0"/>
                <a:cs typeface="Arial" panose="020B0604020202020204" pitchFamily="34" charset="0"/>
              </a:rPr>
              <a:t>5 חוג סגור</a:t>
            </a:r>
          </a:p>
          <a:p>
            <a:pPr marL="457189" lvl="1" indent="0">
              <a:buNone/>
            </a:pPr>
            <a:endParaRPr lang="he-IL" dirty="0">
              <a:solidFill>
                <a:schemeClr val="tx1">
                  <a:lumMod val="95000"/>
                </a:schemeClr>
              </a:solidFill>
            </a:endParaRPr>
          </a:p>
          <a:p>
            <a:pPr lvl="1"/>
            <a:endParaRPr lang="he-IL" dirty="0">
              <a:solidFill>
                <a:schemeClr val="tx1">
                  <a:lumMod val="95000"/>
                </a:schemeClr>
              </a:solidFill>
            </a:endParaRPr>
          </a:p>
          <a:p>
            <a:pPr marL="0" indent="0">
              <a:buNone/>
            </a:pPr>
            <a:endParaRPr lang="he-IL" dirty="0">
              <a:solidFill>
                <a:schemeClr val="tx1">
                  <a:lumMod val="95000"/>
                </a:schemeClr>
              </a:solidFill>
            </a:endParaRPr>
          </a:p>
        </p:txBody>
      </p:sp>
      <p:pic>
        <p:nvPicPr>
          <p:cNvPr id="4" name="Picture 3">
            <a:extLst>
              <a:ext uri="{FF2B5EF4-FFF2-40B4-BE49-F238E27FC236}">
                <a16:creationId xmlns:a16="http://schemas.microsoft.com/office/drawing/2014/main" xmlns="" id="{1554AA23-81BE-4605-8C8B-432B8AF34482}"/>
              </a:ext>
            </a:extLst>
          </p:cNvPr>
          <p:cNvPicPr>
            <a:picLocks noChangeAspect="1"/>
          </p:cNvPicPr>
          <p:nvPr/>
        </p:nvPicPr>
        <p:blipFill>
          <a:blip r:embed="rId2"/>
          <a:stretch>
            <a:fillRect/>
          </a:stretch>
        </p:blipFill>
        <p:spPr>
          <a:xfrm>
            <a:off x="8509070" y="1386345"/>
            <a:ext cx="2322311" cy="1948825"/>
          </a:xfrm>
          <a:prstGeom prst="rect">
            <a:avLst/>
          </a:prstGeom>
        </p:spPr>
      </p:pic>
      <p:pic>
        <p:nvPicPr>
          <p:cNvPr id="5" name="Picture 4">
            <a:extLst>
              <a:ext uri="{FF2B5EF4-FFF2-40B4-BE49-F238E27FC236}">
                <a16:creationId xmlns:a16="http://schemas.microsoft.com/office/drawing/2014/main" xmlns="" id="{905A1BE9-D71A-494C-85FF-33B466C0DD12}"/>
              </a:ext>
            </a:extLst>
          </p:cNvPr>
          <p:cNvPicPr>
            <a:picLocks noChangeAspect="1"/>
          </p:cNvPicPr>
          <p:nvPr/>
        </p:nvPicPr>
        <p:blipFill>
          <a:blip r:embed="rId3"/>
          <a:stretch>
            <a:fillRect/>
          </a:stretch>
        </p:blipFill>
        <p:spPr>
          <a:xfrm>
            <a:off x="5731269" y="1386345"/>
            <a:ext cx="2322311" cy="1948826"/>
          </a:xfrm>
          <a:prstGeom prst="rect">
            <a:avLst/>
          </a:prstGeom>
        </p:spPr>
      </p:pic>
      <p:pic>
        <p:nvPicPr>
          <p:cNvPr id="6" name="Picture 5">
            <a:extLst>
              <a:ext uri="{FF2B5EF4-FFF2-40B4-BE49-F238E27FC236}">
                <a16:creationId xmlns:a16="http://schemas.microsoft.com/office/drawing/2014/main" xmlns="" id="{2EBFCE6B-2B97-4568-BF52-BE81325DCA31}"/>
              </a:ext>
            </a:extLst>
          </p:cNvPr>
          <p:cNvPicPr>
            <a:picLocks noChangeAspect="1"/>
          </p:cNvPicPr>
          <p:nvPr/>
        </p:nvPicPr>
        <p:blipFill>
          <a:blip r:embed="rId4"/>
          <a:stretch>
            <a:fillRect/>
          </a:stretch>
        </p:blipFill>
        <p:spPr>
          <a:xfrm>
            <a:off x="2912177" y="1386345"/>
            <a:ext cx="2387400" cy="1948826"/>
          </a:xfrm>
          <a:prstGeom prst="rect">
            <a:avLst/>
          </a:prstGeom>
        </p:spPr>
      </p:pic>
      <p:graphicFrame>
        <p:nvGraphicFramePr>
          <p:cNvPr id="7" name="Diagram 6">
            <a:extLst>
              <a:ext uri="{FF2B5EF4-FFF2-40B4-BE49-F238E27FC236}">
                <a16:creationId xmlns:a16="http://schemas.microsoft.com/office/drawing/2014/main" xmlns="" id="{91820E7D-9988-4972-B01D-05C70715AEFD}"/>
              </a:ext>
            </a:extLst>
          </p:cNvPr>
          <p:cNvGraphicFramePr/>
          <p:nvPr>
            <p:extLst>
              <p:ext uri="{D42A27DB-BD31-4B8C-83A1-F6EECF244321}">
                <p14:modId xmlns="" xmlns:p14="http://schemas.microsoft.com/office/powerpoint/2010/main" val="1749807500"/>
              </p:ext>
            </p:extLst>
          </p:nvPr>
        </p:nvGraphicFramePr>
        <p:xfrm>
          <a:off x="2912177" y="2981450"/>
          <a:ext cx="8128000" cy="251090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13" name="Picture 12">
            <a:extLst>
              <a:ext uri="{FF2B5EF4-FFF2-40B4-BE49-F238E27FC236}">
                <a16:creationId xmlns:a16="http://schemas.microsoft.com/office/drawing/2014/main" xmlns="" id="{5FF593EC-D939-41F4-8B12-24ECDEB9920B}"/>
              </a:ext>
            </a:extLst>
          </p:cNvPr>
          <p:cNvPicPr>
            <a:picLocks noChangeAspect="1"/>
          </p:cNvPicPr>
          <p:nvPr/>
        </p:nvPicPr>
        <p:blipFill>
          <a:blip r:embed="rId9"/>
          <a:stretch>
            <a:fillRect/>
          </a:stretch>
        </p:blipFill>
        <p:spPr>
          <a:xfrm>
            <a:off x="186130" y="1784066"/>
            <a:ext cx="2348977" cy="2510905"/>
          </a:xfrm>
          <a:prstGeom prst="rect">
            <a:avLst/>
          </a:prstGeom>
        </p:spPr>
      </p:pic>
    </p:spTree>
    <p:extLst>
      <p:ext uri="{BB962C8B-B14F-4D97-AF65-F5344CB8AC3E}">
        <p14:creationId xmlns="" xmlns:p14="http://schemas.microsoft.com/office/powerpoint/2010/main" val="2119980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54229"/>
            <a:ext cx="8534400" cy="1507067"/>
          </a:xfr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lIns="91440" tIns="45720" rIns="91440" bIns="45720" rtlCol="0" anchor="ctr">
            <a:normAutofit/>
            <a:scene3d>
              <a:camera prst="orthographicFront"/>
              <a:lightRig rig="soft" dir="t">
                <a:rot lat="0" lon="0" rev="16800000"/>
              </a:lightRig>
            </a:scene3d>
            <a:sp3d prstMaterial="softEdge">
              <a:bevelT w="38100" h="38100"/>
            </a:sp3d>
          </a:bodyPr>
          <a:lstStyle/>
          <a:p>
            <a:pPr algn="ctr"/>
            <a:r>
              <a:rPr lang="he-IL" dirty="0">
                <a:latin typeface="Calibri" panose="020F0502020204030204" pitchFamily="34" charset="0"/>
                <a:cs typeface="Calibri" panose="020F0502020204030204" pitchFamily="34" charset="0"/>
              </a:rPr>
              <a:t>תוצאות - חוג סגור</a:t>
            </a:r>
          </a:p>
        </p:txBody>
      </p:sp>
      <p:sp>
        <p:nvSpPr>
          <p:cNvPr id="3" name="Content Placeholder 2"/>
          <p:cNvSpPr>
            <a:spLocks noGrp="1"/>
          </p:cNvSpPr>
          <p:nvPr>
            <p:ph idx="1"/>
          </p:nvPr>
        </p:nvSpPr>
        <p:spPr>
          <a:xfrm>
            <a:off x="7706976" y="1347012"/>
            <a:ext cx="3954635" cy="4759971"/>
          </a:xfrm>
        </p:spPr>
        <p:txBody>
          <a:bodyPr>
            <a:normAutofit/>
          </a:bodyPr>
          <a:lstStyle/>
          <a:p>
            <a:pPr marL="0" indent="0">
              <a:buNone/>
            </a:pPr>
            <a:endParaRPr lang="he-IL" sz="2800" dirty="0">
              <a:solidFill>
                <a:schemeClr val="tx1">
                  <a:lumMod val="95000"/>
                </a:schemeClr>
              </a:solidFill>
              <a:latin typeface="Calibri" panose="020F0502020204030204" pitchFamily="34" charset="0"/>
              <a:cs typeface="Calibri" panose="020F0502020204030204" pitchFamily="34" charset="0"/>
            </a:endParaRPr>
          </a:p>
          <a:p>
            <a:r>
              <a:rPr lang="he-IL" sz="2800" dirty="0">
                <a:solidFill>
                  <a:schemeClr val="tx1">
                    <a:lumMod val="95000"/>
                  </a:schemeClr>
                </a:solidFill>
                <a:latin typeface="Calibri" panose="020F0502020204030204" pitchFamily="34" charset="0"/>
                <a:cs typeface="Calibri" panose="020F0502020204030204" pitchFamily="34" charset="0"/>
              </a:rPr>
              <a:t>גרף עליון - אות עצבי מוקלט ע"י אלקטרודת שרוול</a:t>
            </a:r>
          </a:p>
          <a:p>
            <a:r>
              <a:rPr lang="he-IL" sz="2800" dirty="0">
                <a:solidFill>
                  <a:schemeClr val="tx1">
                    <a:lumMod val="95000"/>
                  </a:schemeClr>
                </a:solidFill>
                <a:latin typeface="Calibri" panose="020F0502020204030204" pitchFamily="34" charset="0"/>
                <a:cs typeface="Calibri" panose="020F0502020204030204" pitchFamily="34" charset="0"/>
              </a:rPr>
              <a:t>גרף אמצעי - אות פיקוד של נוירופרוטזה</a:t>
            </a:r>
          </a:p>
          <a:p>
            <a:r>
              <a:rPr lang="he-IL" sz="2800" dirty="0">
                <a:solidFill>
                  <a:schemeClr val="tx1">
                    <a:lumMod val="95000"/>
                  </a:schemeClr>
                </a:solidFill>
                <a:latin typeface="Calibri" panose="020F0502020204030204" pitchFamily="34" charset="0"/>
                <a:cs typeface="Calibri" panose="020F0502020204030204" pitchFamily="34" charset="0"/>
              </a:rPr>
              <a:t>גרף תחתון - כוח אחיזה במזלג</a:t>
            </a:r>
          </a:p>
        </p:txBody>
      </p:sp>
      <p:pic>
        <p:nvPicPr>
          <p:cNvPr id="4" name="Picture 3"/>
          <p:cNvPicPr>
            <a:picLocks noChangeAspect="1"/>
          </p:cNvPicPr>
          <p:nvPr/>
        </p:nvPicPr>
        <p:blipFill>
          <a:blip r:embed="rId2">
            <a:duotone>
              <a:schemeClr val="accent6">
                <a:shade val="45000"/>
                <a:satMod val="135000"/>
              </a:schemeClr>
              <a:prstClr val="white"/>
            </a:duotone>
          </a:blip>
          <a:stretch>
            <a:fillRect/>
          </a:stretch>
        </p:blipFill>
        <p:spPr>
          <a:xfrm>
            <a:off x="222349" y="1430920"/>
            <a:ext cx="7150503" cy="4592157"/>
          </a:xfrm>
          <a:prstGeom prst="rect">
            <a:avLst/>
          </a:prstGeom>
        </p:spPr>
      </p:pic>
    </p:spTree>
    <p:extLst>
      <p:ext uri="{BB962C8B-B14F-4D97-AF65-F5344CB8AC3E}">
        <p14:creationId xmlns="" xmlns:p14="http://schemas.microsoft.com/office/powerpoint/2010/main" val="2975378061"/>
      </p:ext>
    </p:extLst>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2024" y="192365"/>
            <a:ext cx="8534400" cy="910280"/>
          </a:xfr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lIns="91440" tIns="45720" rIns="91440" bIns="45720" rtlCol="0" anchor="ctr">
            <a:normAutofit/>
            <a:scene3d>
              <a:camera prst="orthographicFront"/>
              <a:lightRig rig="soft" dir="t">
                <a:rot lat="0" lon="0" rev="16800000"/>
              </a:lightRig>
            </a:scene3d>
            <a:sp3d prstMaterial="softEdge">
              <a:bevelT w="38100" h="38100"/>
            </a:sp3d>
          </a:bodyPr>
          <a:lstStyle/>
          <a:p>
            <a:pPr algn="ctr"/>
            <a:r>
              <a:rPr lang="he-IL" dirty="0">
                <a:latin typeface="Calibri" panose="020F0502020204030204" pitchFamily="34" charset="0"/>
                <a:cs typeface="Calibri" panose="020F0502020204030204" pitchFamily="34" charset="0"/>
              </a:rPr>
              <a:t>תוצאות - חוג סגור</a:t>
            </a:r>
          </a:p>
        </p:txBody>
      </p:sp>
      <p:pic>
        <p:nvPicPr>
          <p:cNvPr id="5" name="Picture 4">
            <a:extLst>
              <a:ext uri="{FF2B5EF4-FFF2-40B4-BE49-F238E27FC236}">
                <a16:creationId xmlns:a16="http://schemas.microsoft.com/office/drawing/2014/main" xmlns="" id="{D8DD1A1A-86A6-4965-9270-75EABF14A841}"/>
              </a:ext>
            </a:extLst>
          </p:cNvPr>
          <p:cNvPicPr>
            <a:picLocks noChangeAspect="1"/>
          </p:cNvPicPr>
          <p:nvPr/>
        </p:nvPicPr>
        <p:blipFill>
          <a:blip r:embed="rId2"/>
          <a:stretch>
            <a:fillRect/>
          </a:stretch>
        </p:blipFill>
        <p:spPr>
          <a:xfrm>
            <a:off x="2147217" y="1245156"/>
            <a:ext cx="7528413" cy="1547507"/>
          </a:xfrm>
          <a:prstGeom prst="rect">
            <a:avLst/>
          </a:prstGeom>
        </p:spPr>
      </p:pic>
      <p:pic>
        <p:nvPicPr>
          <p:cNvPr id="7" name="Picture 6">
            <a:extLst>
              <a:ext uri="{FF2B5EF4-FFF2-40B4-BE49-F238E27FC236}">
                <a16:creationId xmlns:a16="http://schemas.microsoft.com/office/drawing/2014/main" xmlns="" id="{4D724E95-C3EC-41AE-B264-4B7B13342E3B}"/>
              </a:ext>
            </a:extLst>
          </p:cNvPr>
          <p:cNvPicPr>
            <a:picLocks noChangeAspect="1"/>
          </p:cNvPicPr>
          <p:nvPr/>
        </p:nvPicPr>
        <p:blipFill>
          <a:blip r:embed="rId3"/>
          <a:stretch>
            <a:fillRect/>
          </a:stretch>
        </p:blipFill>
        <p:spPr>
          <a:xfrm>
            <a:off x="2147217" y="3115365"/>
            <a:ext cx="7528413" cy="1547508"/>
          </a:xfrm>
          <a:prstGeom prst="rect">
            <a:avLst/>
          </a:prstGeom>
        </p:spPr>
      </p:pic>
      <p:sp>
        <p:nvSpPr>
          <p:cNvPr id="8" name="TextBox 7">
            <a:extLst>
              <a:ext uri="{FF2B5EF4-FFF2-40B4-BE49-F238E27FC236}">
                <a16:creationId xmlns:a16="http://schemas.microsoft.com/office/drawing/2014/main" xmlns="" id="{03DFF9A8-DF31-4EC8-8F81-38FFBAD3AA4F}"/>
              </a:ext>
            </a:extLst>
          </p:cNvPr>
          <p:cNvSpPr txBox="1"/>
          <p:nvPr/>
        </p:nvSpPr>
        <p:spPr>
          <a:xfrm>
            <a:off x="4127205" y="875824"/>
            <a:ext cx="3676851" cy="369332"/>
          </a:xfrm>
          <a:prstGeom prst="rect">
            <a:avLst/>
          </a:prstGeom>
          <a:noFill/>
        </p:spPr>
        <p:txBody>
          <a:bodyPr wrap="square" rtlCol="1">
            <a:spAutoFit/>
          </a:bodyPr>
          <a:lstStyle/>
          <a:p>
            <a:pPr algn="ctr"/>
            <a:r>
              <a:rPr lang="he-IL" dirty="0">
                <a:latin typeface="Calibri" panose="020F0502020204030204" pitchFamily="34" charset="0"/>
                <a:cs typeface="Calibri" panose="020F0502020204030204" pitchFamily="34" charset="0"/>
              </a:rPr>
              <a:t>אות עצבי מוקלט ע"י אלקטרודת שרוול </a:t>
            </a:r>
          </a:p>
        </p:txBody>
      </p:sp>
      <p:pic>
        <p:nvPicPr>
          <p:cNvPr id="11" name="Picture 10">
            <a:extLst>
              <a:ext uri="{FF2B5EF4-FFF2-40B4-BE49-F238E27FC236}">
                <a16:creationId xmlns:a16="http://schemas.microsoft.com/office/drawing/2014/main" xmlns="" id="{044A1A0E-F2FB-4AD1-880C-B99D198E3A71}"/>
              </a:ext>
            </a:extLst>
          </p:cNvPr>
          <p:cNvPicPr>
            <a:picLocks noChangeAspect="1"/>
          </p:cNvPicPr>
          <p:nvPr/>
        </p:nvPicPr>
        <p:blipFill>
          <a:blip r:embed="rId4"/>
          <a:stretch>
            <a:fillRect/>
          </a:stretch>
        </p:blipFill>
        <p:spPr>
          <a:xfrm>
            <a:off x="2147217" y="4998525"/>
            <a:ext cx="7528413" cy="1527793"/>
          </a:xfrm>
          <a:prstGeom prst="rect">
            <a:avLst/>
          </a:prstGeom>
        </p:spPr>
      </p:pic>
      <p:sp>
        <p:nvSpPr>
          <p:cNvPr id="12" name="TextBox 11">
            <a:extLst>
              <a:ext uri="{FF2B5EF4-FFF2-40B4-BE49-F238E27FC236}">
                <a16:creationId xmlns:a16="http://schemas.microsoft.com/office/drawing/2014/main" xmlns="" id="{375E53D3-4873-48B6-A63D-6AD4F6EF1EA3}"/>
              </a:ext>
            </a:extLst>
          </p:cNvPr>
          <p:cNvSpPr txBox="1"/>
          <p:nvPr/>
        </p:nvSpPr>
        <p:spPr>
          <a:xfrm>
            <a:off x="4130747" y="2761331"/>
            <a:ext cx="3676851" cy="369332"/>
          </a:xfrm>
          <a:prstGeom prst="rect">
            <a:avLst/>
          </a:prstGeom>
          <a:noFill/>
        </p:spPr>
        <p:txBody>
          <a:bodyPr wrap="square" rtlCol="1">
            <a:spAutoFit/>
          </a:bodyPr>
          <a:lstStyle/>
          <a:p>
            <a:pPr algn="ctr"/>
            <a:r>
              <a:rPr lang="he-IL" dirty="0">
                <a:latin typeface="Calibri" panose="020F0502020204030204" pitchFamily="34" charset="0"/>
                <a:cs typeface="Calibri" panose="020F0502020204030204" pitchFamily="34" charset="0"/>
              </a:rPr>
              <a:t>אות פיקוד של נוירופרוטזה</a:t>
            </a:r>
          </a:p>
        </p:txBody>
      </p:sp>
      <p:sp>
        <p:nvSpPr>
          <p:cNvPr id="13" name="TextBox 12">
            <a:extLst>
              <a:ext uri="{FF2B5EF4-FFF2-40B4-BE49-F238E27FC236}">
                <a16:creationId xmlns:a16="http://schemas.microsoft.com/office/drawing/2014/main" xmlns="" id="{00614EA4-3B6A-432A-81B7-04646CCECF7E}"/>
              </a:ext>
            </a:extLst>
          </p:cNvPr>
          <p:cNvSpPr txBox="1"/>
          <p:nvPr/>
        </p:nvSpPr>
        <p:spPr>
          <a:xfrm>
            <a:off x="4123657" y="4604313"/>
            <a:ext cx="3676851" cy="369332"/>
          </a:xfrm>
          <a:prstGeom prst="rect">
            <a:avLst/>
          </a:prstGeom>
          <a:noFill/>
        </p:spPr>
        <p:txBody>
          <a:bodyPr wrap="square" rtlCol="1">
            <a:spAutoFit/>
          </a:bodyPr>
          <a:lstStyle/>
          <a:p>
            <a:pPr algn="ctr"/>
            <a:r>
              <a:rPr lang="he-IL" dirty="0">
                <a:latin typeface="Calibri" panose="020F0502020204030204" pitchFamily="34" charset="0"/>
                <a:cs typeface="Calibri" panose="020F0502020204030204" pitchFamily="34" charset="0"/>
              </a:rPr>
              <a:t>כח אחיזה במזלג</a:t>
            </a:r>
          </a:p>
        </p:txBody>
      </p:sp>
    </p:spTree>
    <p:extLst>
      <p:ext uri="{BB962C8B-B14F-4D97-AF65-F5344CB8AC3E}">
        <p14:creationId xmlns="" xmlns:p14="http://schemas.microsoft.com/office/powerpoint/2010/main" val="38124655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06102"/>
            <a:ext cx="8534400" cy="1507067"/>
          </a:xfr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lIns="91440" tIns="45720" rIns="91440" bIns="45720" rtlCol="0" anchor="ctr">
            <a:normAutofit/>
            <a:scene3d>
              <a:camera prst="orthographicFront"/>
              <a:lightRig rig="soft" dir="t">
                <a:rot lat="0" lon="0" rev="16800000"/>
              </a:lightRig>
            </a:scene3d>
            <a:sp3d prstMaterial="softEdge">
              <a:bevelT w="38100" h="38100"/>
            </a:sp3d>
          </a:bodyPr>
          <a:lstStyle/>
          <a:p>
            <a:pPr algn="ctr"/>
            <a:r>
              <a:rPr lang="he-IL" dirty="0">
                <a:latin typeface="Calibri" panose="020F0502020204030204" pitchFamily="34" charset="0"/>
                <a:cs typeface="Calibri" panose="020F0502020204030204" pitchFamily="34" charset="0"/>
              </a:rPr>
              <a:t>ניתוח התוצאות – חוג סגור</a:t>
            </a:r>
          </a:p>
        </p:txBody>
      </p:sp>
      <p:pic>
        <p:nvPicPr>
          <p:cNvPr id="4" name="Picture 3"/>
          <p:cNvPicPr>
            <a:picLocks noChangeAspect="1"/>
          </p:cNvPicPr>
          <p:nvPr/>
        </p:nvPicPr>
        <p:blipFill>
          <a:blip r:embed="rId2">
            <a:duotone>
              <a:schemeClr val="accent6">
                <a:shade val="45000"/>
                <a:satMod val="135000"/>
              </a:schemeClr>
              <a:prstClr val="white"/>
            </a:duotone>
          </a:blip>
          <a:stretch>
            <a:fillRect/>
          </a:stretch>
        </p:blipFill>
        <p:spPr>
          <a:xfrm>
            <a:off x="222349" y="1430920"/>
            <a:ext cx="7150503" cy="4592157"/>
          </a:xfrm>
          <a:prstGeom prst="rect">
            <a:avLst/>
          </a:prstGeom>
        </p:spPr>
      </p:pic>
      <p:sp>
        <p:nvSpPr>
          <p:cNvPr id="5" name="Rectangular Callout 4"/>
          <p:cNvSpPr/>
          <p:nvPr/>
        </p:nvSpPr>
        <p:spPr>
          <a:xfrm>
            <a:off x="7834715" y="1316656"/>
            <a:ext cx="4184823" cy="3845417"/>
          </a:xfrm>
          <a:prstGeom prst="wedgeRectCallout">
            <a:avLst>
              <a:gd name="adj1" fmla="val -158526"/>
              <a:gd name="adj2" fmla="val 6867"/>
            </a:avLst>
          </a:prstGeom>
          <a:solidFill>
            <a:schemeClr val="bg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r"/>
            <a:r>
              <a:rPr lang="he-IL" sz="3600" dirty="0">
                <a:latin typeface="Arial" panose="020B0604020202020204" pitchFamily="34" charset="0"/>
                <a:cs typeface="Arial" panose="020B0604020202020204" pitchFamily="34" charset="0"/>
              </a:rPr>
              <a:t>הבדל בין רמת גירוי מינימאלית (65) בזמן אחיזת המזלג לבין רמת גירוי בזמן אכילה (כמעט מקסימלית)</a:t>
            </a:r>
          </a:p>
        </p:txBody>
      </p:sp>
      <p:sp>
        <p:nvSpPr>
          <p:cNvPr id="8" name="Rectangular Callout 7"/>
          <p:cNvSpPr/>
          <p:nvPr/>
        </p:nvSpPr>
        <p:spPr>
          <a:xfrm>
            <a:off x="7834715" y="1316656"/>
            <a:ext cx="4184823" cy="3845417"/>
          </a:xfrm>
          <a:prstGeom prst="wedgeRectCallout">
            <a:avLst>
              <a:gd name="adj1" fmla="val -132515"/>
              <a:gd name="adj2" fmla="val -1570"/>
            </a:avLst>
          </a:prstGeom>
          <a:solidFill>
            <a:schemeClr val="bg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r" rtl="1"/>
            <a:r>
              <a:rPr lang="he-IL" sz="3600" dirty="0">
                <a:latin typeface="Calibri" panose="020F0502020204030204" pitchFamily="34" charset="0"/>
                <a:cs typeface="Calibri" panose="020F0502020204030204" pitchFamily="34" charset="0"/>
              </a:rPr>
              <a:t>הבדל בין רמת גירוי מינימאלית (65) בזמן אחיזת המזלג, לבין רמת גירוי בזמן אכילה (כמעט מקסימלית)</a:t>
            </a:r>
          </a:p>
        </p:txBody>
      </p:sp>
    </p:spTree>
    <p:extLst>
      <p:ext uri="{BB962C8B-B14F-4D97-AF65-F5344CB8AC3E}">
        <p14:creationId xmlns="" xmlns:p14="http://schemas.microsoft.com/office/powerpoint/2010/main" val="3180597071"/>
      </p:ext>
    </p:extLst>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06102"/>
            <a:ext cx="8534400" cy="1507067"/>
          </a:xfr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lIns="91440" tIns="45720" rIns="91440" bIns="45720" rtlCol="0" anchor="ctr">
            <a:normAutofit/>
            <a:scene3d>
              <a:camera prst="orthographicFront"/>
              <a:lightRig rig="soft" dir="t">
                <a:rot lat="0" lon="0" rev="16800000"/>
              </a:lightRig>
            </a:scene3d>
            <a:sp3d prstMaterial="softEdge">
              <a:bevelT w="38100" h="38100"/>
            </a:sp3d>
          </a:bodyPr>
          <a:lstStyle/>
          <a:p>
            <a:pPr algn="ctr"/>
            <a:r>
              <a:rPr lang="he-IL" dirty="0">
                <a:latin typeface="Calibri" panose="020F0502020204030204" pitchFamily="34" charset="0"/>
                <a:cs typeface="Calibri" panose="020F0502020204030204" pitchFamily="34" charset="0"/>
              </a:rPr>
              <a:t>ניתוח התוצאות – חוג סגור</a:t>
            </a:r>
          </a:p>
        </p:txBody>
      </p:sp>
      <p:pic>
        <p:nvPicPr>
          <p:cNvPr id="4" name="Picture 3"/>
          <p:cNvPicPr>
            <a:picLocks noChangeAspect="1"/>
          </p:cNvPicPr>
          <p:nvPr/>
        </p:nvPicPr>
        <p:blipFill>
          <a:blip r:embed="rId2">
            <a:duotone>
              <a:schemeClr val="accent6">
                <a:shade val="45000"/>
                <a:satMod val="135000"/>
              </a:schemeClr>
              <a:prstClr val="white"/>
            </a:duotone>
          </a:blip>
          <a:stretch>
            <a:fillRect/>
          </a:stretch>
        </p:blipFill>
        <p:spPr>
          <a:xfrm>
            <a:off x="222349" y="1430920"/>
            <a:ext cx="7150503" cy="4592157"/>
          </a:xfrm>
          <a:prstGeom prst="rect">
            <a:avLst/>
          </a:prstGeom>
        </p:spPr>
      </p:pic>
      <p:sp>
        <p:nvSpPr>
          <p:cNvPr id="3" name="Oval 2">
            <a:extLst>
              <a:ext uri="{FF2B5EF4-FFF2-40B4-BE49-F238E27FC236}">
                <a16:creationId xmlns:a16="http://schemas.microsoft.com/office/drawing/2014/main" xmlns="" id="{B0A6EDC1-E363-45A3-8E1B-7603F0B92BD0}"/>
              </a:ext>
            </a:extLst>
          </p:cNvPr>
          <p:cNvSpPr/>
          <p:nvPr/>
        </p:nvSpPr>
        <p:spPr>
          <a:xfrm>
            <a:off x="3232301" y="3423681"/>
            <a:ext cx="138223" cy="13866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7" name="Oval 6">
            <a:extLst>
              <a:ext uri="{FF2B5EF4-FFF2-40B4-BE49-F238E27FC236}">
                <a16:creationId xmlns:a16="http://schemas.microsoft.com/office/drawing/2014/main" xmlns="" id="{CC89A5F6-B968-4F6E-9E81-E39013DFCE7B}"/>
              </a:ext>
            </a:extLst>
          </p:cNvPr>
          <p:cNvSpPr/>
          <p:nvPr/>
        </p:nvSpPr>
        <p:spPr>
          <a:xfrm>
            <a:off x="4318151" y="3099831"/>
            <a:ext cx="138223" cy="13866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6" name="TextBox 5">
            <a:extLst>
              <a:ext uri="{FF2B5EF4-FFF2-40B4-BE49-F238E27FC236}">
                <a16:creationId xmlns:a16="http://schemas.microsoft.com/office/drawing/2014/main" xmlns="" id="{BB324DC8-DDD9-487D-A642-51B80D8EFBA9}"/>
              </a:ext>
            </a:extLst>
          </p:cNvPr>
          <p:cNvSpPr txBox="1"/>
          <p:nvPr/>
        </p:nvSpPr>
        <p:spPr>
          <a:xfrm>
            <a:off x="7696200" y="1765300"/>
            <a:ext cx="4076700" cy="1569660"/>
          </a:xfrm>
          <a:prstGeom prst="rect">
            <a:avLst/>
          </a:prstGeom>
          <a:noFill/>
        </p:spPr>
        <p:txBody>
          <a:bodyPr wrap="square" rtlCol="1">
            <a:spAutoFit/>
          </a:bodyPr>
          <a:lstStyle/>
          <a:p>
            <a:pPr marL="285750" indent="-285750" algn="r" rtl="1">
              <a:buClr>
                <a:srgbClr val="FF0000"/>
              </a:buClr>
              <a:buSzPct val="170000"/>
              <a:buFont typeface="Arial" panose="020B0604020202020204" pitchFamily="34" charset="0"/>
              <a:buChar char="•"/>
            </a:pPr>
            <a:r>
              <a:rPr lang="he-IL" sz="2400" dirty="0">
                <a:latin typeface="Calibri" panose="020F0502020204030204" pitchFamily="34" charset="0"/>
                <a:cs typeface="Calibri" panose="020F0502020204030204" pitchFamily="34" charset="0"/>
              </a:rPr>
              <a:t>הבדל בין רמת גירוי מינימאלית (65) בזמן אחיזת המזלג, לבין רמת גירוי בזמן אכילה (כמעט מקסימלית)</a:t>
            </a:r>
          </a:p>
        </p:txBody>
      </p:sp>
    </p:spTree>
    <p:extLst>
      <p:ext uri="{BB962C8B-B14F-4D97-AF65-F5344CB8AC3E}">
        <p14:creationId xmlns="" xmlns:p14="http://schemas.microsoft.com/office/powerpoint/2010/main" val="6110825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54229"/>
            <a:ext cx="8534400" cy="1507067"/>
          </a:xfr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lIns="91440" tIns="45720" rIns="91440" bIns="45720" rtlCol="0" anchor="ctr">
            <a:normAutofit/>
            <a:scene3d>
              <a:camera prst="orthographicFront"/>
              <a:lightRig rig="soft" dir="t">
                <a:rot lat="0" lon="0" rev="16800000"/>
              </a:lightRig>
            </a:scene3d>
            <a:sp3d prstMaterial="softEdge">
              <a:bevelT w="38100" h="38100"/>
            </a:sp3d>
          </a:bodyPr>
          <a:lstStyle/>
          <a:p>
            <a:pPr algn="ctr"/>
            <a:r>
              <a:rPr lang="he-IL" dirty="0">
                <a:latin typeface="Calibri" panose="020F0502020204030204" pitchFamily="34" charset="0"/>
                <a:cs typeface="Calibri" panose="020F0502020204030204" pitchFamily="34" charset="0"/>
              </a:rPr>
              <a:t>ניתוח התוצאות – חוג סגור</a:t>
            </a:r>
          </a:p>
        </p:txBody>
      </p:sp>
      <p:pic>
        <p:nvPicPr>
          <p:cNvPr id="4" name="Picture 3"/>
          <p:cNvPicPr>
            <a:picLocks noChangeAspect="1"/>
          </p:cNvPicPr>
          <p:nvPr/>
        </p:nvPicPr>
        <p:blipFill>
          <a:blip r:embed="rId2">
            <a:duotone>
              <a:schemeClr val="accent6">
                <a:shade val="45000"/>
                <a:satMod val="135000"/>
              </a:schemeClr>
              <a:prstClr val="white"/>
            </a:duotone>
          </a:blip>
          <a:stretch>
            <a:fillRect/>
          </a:stretch>
        </p:blipFill>
        <p:spPr>
          <a:xfrm>
            <a:off x="222349" y="1430920"/>
            <a:ext cx="7150503" cy="4592157"/>
          </a:xfrm>
          <a:prstGeom prst="rect">
            <a:avLst/>
          </a:prstGeom>
        </p:spPr>
      </p:pic>
      <p:sp>
        <p:nvSpPr>
          <p:cNvPr id="5" name="Rectangular Callout 4"/>
          <p:cNvSpPr/>
          <p:nvPr/>
        </p:nvSpPr>
        <p:spPr>
          <a:xfrm>
            <a:off x="7834715" y="1316656"/>
            <a:ext cx="4184823" cy="3845417"/>
          </a:xfrm>
          <a:prstGeom prst="wedgeRectCallout">
            <a:avLst>
              <a:gd name="adj1" fmla="val -116964"/>
              <a:gd name="adj2" fmla="val 56271"/>
            </a:avLst>
          </a:prstGeom>
          <a:solidFill>
            <a:schemeClr val="bg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r"/>
            <a:r>
              <a:rPr lang="he-IL" sz="3600" dirty="0">
                <a:latin typeface="Arial" panose="020B0604020202020204" pitchFamily="34" charset="0"/>
                <a:cs typeface="Arial" panose="020B0604020202020204" pitchFamily="34" charset="0"/>
              </a:rPr>
              <a:t>הבדל בין רמת גירוי מינימאלית (65) בזמן אחיזת המזלג לבין רמת גירוי בזמן אכילה (כמעט מקסימלית)</a:t>
            </a:r>
          </a:p>
        </p:txBody>
      </p:sp>
      <p:sp>
        <p:nvSpPr>
          <p:cNvPr id="8" name="Rectangular Callout 7"/>
          <p:cNvSpPr/>
          <p:nvPr/>
        </p:nvSpPr>
        <p:spPr>
          <a:xfrm>
            <a:off x="7834715" y="1316656"/>
            <a:ext cx="4184823" cy="3845417"/>
          </a:xfrm>
          <a:prstGeom prst="wedgeRectCallout">
            <a:avLst>
              <a:gd name="adj1" fmla="val -131334"/>
              <a:gd name="adj2" fmla="val 38276"/>
            </a:avLst>
          </a:prstGeom>
          <a:solidFill>
            <a:schemeClr val="bg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r" rtl="1"/>
            <a:r>
              <a:rPr lang="he-IL" sz="3600" dirty="0">
                <a:latin typeface="Calibri" panose="020F0502020204030204" pitchFamily="34" charset="0"/>
                <a:cs typeface="Calibri" panose="020F0502020204030204" pitchFamily="34" charset="0"/>
              </a:rPr>
              <a:t>ניתן להבדיל בבירור בין הפעלת כוחות בזמן פעולת האכילה (כ-</a:t>
            </a:r>
            <a:r>
              <a:rPr lang="en-US" sz="3600" dirty="0">
                <a:latin typeface="Calibri" panose="020F0502020204030204" pitchFamily="34" charset="0"/>
                <a:cs typeface="Calibri" panose="020F0502020204030204" pitchFamily="34" charset="0"/>
              </a:rPr>
              <a:t>4.52N </a:t>
            </a:r>
            <a:r>
              <a:rPr lang="he-IL" sz="3600" dirty="0">
                <a:latin typeface="Calibri" panose="020F0502020204030204" pitchFamily="34" charset="0"/>
                <a:cs typeface="Calibri" panose="020F0502020204030204" pitchFamily="34" charset="0"/>
              </a:rPr>
              <a:t> בממוצע) לבין הפעלת כוחות בזמן מנוחה (כ-</a:t>
            </a:r>
            <a:r>
              <a:rPr lang="en-US" sz="3600" dirty="0">
                <a:latin typeface="Calibri" panose="020F0502020204030204" pitchFamily="34" charset="0"/>
                <a:cs typeface="Calibri" panose="020F0502020204030204" pitchFamily="34" charset="0"/>
              </a:rPr>
              <a:t>2.21N</a:t>
            </a:r>
            <a:r>
              <a:rPr lang="he-IL" sz="3600" dirty="0">
                <a:latin typeface="Calibri" panose="020F0502020204030204" pitchFamily="34" charset="0"/>
                <a:cs typeface="Calibri" panose="020F0502020204030204" pitchFamily="34" charset="0"/>
              </a:rPr>
              <a:t>)</a:t>
            </a:r>
          </a:p>
        </p:txBody>
      </p:sp>
    </p:spTree>
    <p:extLst>
      <p:ext uri="{BB962C8B-B14F-4D97-AF65-F5344CB8AC3E}">
        <p14:creationId xmlns="" xmlns:p14="http://schemas.microsoft.com/office/powerpoint/2010/main" val="841382117"/>
      </p:ext>
    </p:extLst>
  </p:cSld>
  <p:clrMapOvr>
    <a:masterClrMapping/>
  </p:clrMapOvr>
  <mc:AlternateContent xmlns:mc="http://schemas.openxmlformats.org/markup-compatibility/2006">
    <mc:Choice xmlns="" xmlns:p14="http://schemas.microsoft.com/office/powerpoint/2010/main" Requires="p14">
      <p:transition spd="slow" p14:dur="2000"/>
    </mc:Choice>
    <mc:Fallback>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54229"/>
            <a:ext cx="8534400" cy="1507067"/>
          </a:xfr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lIns="91440" tIns="45720" rIns="91440" bIns="45720" rtlCol="0" anchor="ctr">
            <a:normAutofit/>
            <a:scene3d>
              <a:camera prst="orthographicFront"/>
              <a:lightRig rig="soft" dir="t">
                <a:rot lat="0" lon="0" rev="16800000"/>
              </a:lightRig>
            </a:scene3d>
            <a:sp3d prstMaterial="softEdge">
              <a:bevelT w="38100" h="38100"/>
            </a:sp3d>
          </a:bodyPr>
          <a:lstStyle/>
          <a:p>
            <a:pPr algn="ctr"/>
            <a:r>
              <a:rPr lang="he-IL" dirty="0">
                <a:latin typeface="Calibri" panose="020F0502020204030204" pitchFamily="34" charset="0"/>
                <a:cs typeface="Calibri" panose="020F0502020204030204" pitchFamily="34" charset="0"/>
              </a:rPr>
              <a:t>ניתוח התוצאות – חוג סגור</a:t>
            </a:r>
          </a:p>
        </p:txBody>
      </p:sp>
      <p:pic>
        <p:nvPicPr>
          <p:cNvPr id="4" name="Picture 3"/>
          <p:cNvPicPr>
            <a:picLocks noChangeAspect="1"/>
          </p:cNvPicPr>
          <p:nvPr/>
        </p:nvPicPr>
        <p:blipFill>
          <a:blip r:embed="rId2">
            <a:duotone>
              <a:schemeClr val="accent6">
                <a:shade val="45000"/>
                <a:satMod val="135000"/>
              </a:schemeClr>
              <a:prstClr val="white"/>
            </a:duotone>
          </a:blip>
          <a:stretch>
            <a:fillRect/>
          </a:stretch>
        </p:blipFill>
        <p:spPr>
          <a:xfrm>
            <a:off x="222349" y="1430920"/>
            <a:ext cx="7150503" cy="4592157"/>
          </a:xfrm>
          <a:prstGeom prst="rect">
            <a:avLst/>
          </a:prstGeom>
        </p:spPr>
      </p:pic>
      <p:sp>
        <p:nvSpPr>
          <p:cNvPr id="6" name="Oval 5">
            <a:extLst>
              <a:ext uri="{FF2B5EF4-FFF2-40B4-BE49-F238E27FC236}">
                <a16:creationId xmlns:a16="http://schemas.microsoft.com/office/drawing/2014/main" xmlns="" id="{535BAFBC-0873-494A-9CDB-1A57E73CA33E}"/>
              </a:ext>
            </a:extLst>
          </p:cNvPr>
          <p:cNvSpPr/>
          <p:nvPr/>
        </p:nvSpPr>
        <p:spPr>
          <a:xfrm>
            <a:off x="4374431" y="4652440"/>
            <a:ext cx="138223" cy="13866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7" name="Oval 6">
            <a:extLst>
              <a:ext uri="{FF2B5EF4-FFF2-40B4-BE49-F238E27FC236}">
                <a16:creationId xmlns:a16="http://schemas.microsoft.com/office/drawing/2014/main" xmlns="" id="{439B20CE-726E-42A3-9AA2-61DBA80F4CCB}"/>
              </a:ext>
            </a:extLst>
          </p:cNvPr>
          <p:cNvSpPr/>
          <p:nvPr/>
        </p:nvSpPr>
        <p:spPr>
          <a:xfrm>
            <a:off x="4984031" y="5338240"/>
            <a:ext cx="138223" cy="138669"/>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TextBox 8">
            <a:extLst>
              <a:ext uri="{FF2B5EF4-FFF2-40B4-BE49-F238E27FC236}">
                <a16:creationId xmlns:a16="http://schemas.microsoft.com/office/drawing/2014/main" xmlns="" id="{9E8ED98D-2FC1-4D5B-B184-2238646F4AC6}"/>
              </a:ext>
            </a:extLst>
          </p:cNvPr>
          <p:cNvSpPr txBox="1"/>
          <p:nvPr/>
        </p:nvSpPr>
        <p:spPr>
          <a:xfrm>
            <a:off x="7645400" y="1765300"/>
            <a:ext cx="4127500" cy="1938992"/>
          </a:xfrm>
          <a:prstGeom prst="rect">
            <a:avLst/>
          </a:prstGeom>
          <a:noFill/>
        </p:spPr>
        <p:txBody>
          <a:bodyPr wrap="square" rtlCol="1">
            <a:spAutoFit/>
          </a:bodyPr>
          <a:lstStyle/>
          <a:p>
            <a:pPr marL="285750" indent="-285750" algn="r" rtl="1">
              <a:buClr>
                <a:schemeClr val="accent3"/>
              </a:buClr>
              <a:buSzPct val="170000"/>
              <a:buFont typeface="Arial" panose="020B0604020202020204" pitchFamily="34" charset="0"/>
              <a:buChar char="•"/>
            </a:pPr>
            <a:r>
              <a:rPr lang="he-IL" sz="2400" dirty="0">
                <a:latin typeface="Calibri" panose="020F0502020204030204" pitchFamily="34" charset="0"/>
                <a:cs typeface="Calibri" panose="020F0502020204030204" pitchFamily="34" charset="0"/>
              </a:rPr>
              <a:t>ניתן להבדיל בבירור בין הפעלת כוחות בזמן פעולת האכילה (כ-</a:t>
            </a:r>
            <a:r>
              <a:rPr lang="en-US" sz="2400" dirty="0">
                <a:latin typeface="Calibri" panose="020F0502020204030204" pitchFamily="34" charset="0"/>
                <a:cs typeface="Calibri" panose="020F0502020204030204" pitchFamily="34" charset="0"/>
              </a:rPr>
              <a:t>4.52N </a:t>
            </a:r>
            <a:r>
              <a:rPr lang="he-IL" sz="2400" dirty="0">
                <a:latin typeface="Calibri" panose="020F0502020204030204" pitchFamily="34" charset="0"/>
                <a:cs typeface="Calibri" panose="020F0502020204030204" pitchFamily="34" charset="0"/>
              </a:rPr>
              <a:t> בממוצע) לבין הפעלת כוחות בזמן מנוחה (כ-</a:t>
            </a:r>
            <a:r>
              <a:rPr lang="en-US" sz="2400" dirty="0">
                <a:latin typeface="Calibri" panose="020F0502020204030204" pitchFamily="34" charset="0"/>
                <a:cs typeface="Calibri" panose="020F0502020204030204" pitchFamily="34" charset="0"/>
              </a:rPr>
              <a:t>2.21N</a:t>
            </a:r>
            <a:r>
              <a:rPr lang="he-IL" sz="2400" dirty="0">
                <a:latin typeface="Calibri" panose="020F0502020204030204" pitchFamily="34" charset="0"/>
                <a:cs typeface="Calibri" panose="020F0502020204030204" pitchFamily="34" charset="0"/>
              </a:rPr>
              <a:t>)</a:t>
            </a:r>
          </a:p>
          <a:p>
            <a:pPr marL="285750" indent="-285750" algn="r" rtl="1">
              <a:buClr>
                <a:schemeClr val="accent3"/>
              </a:buClr>
              <a:buSzPct val="170000"/>
              <a:buFont typeface="Arial" panose="020B0604020202020204" pitchFamily="34" charset="0"/>
              <a:buChar char="•"/>
            </a:pPr>
            <a:endParaRPr lang="he-IL" sz="2400" dirty="0">
              <a:latin typeface="Calibri" panose="020F0502020204030204" pitchFamily="34" charset="0"/>
              <a:cs typeface="Calibri" panose="020F0502020204030204" pitchFamily="34" charset="0"/>
            </a:endParaRPr>
          </a:p>
        </p:txBody>
      </p:sp>
    </p:spTree>
    <p:extLst>
      <p:ext uri="{BB962C8B-B14F-4D97-AF65-F5344CB8AC3E}">
        <p14:creationId xmlns="" xmlns:p14="http://schemas.microsoft.com/office/powerpoint/2010/main" val="14275496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54229"/>
            <a:ext cx="8534400" cy="1507067"/>
          </a:xfr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lIns="91440" tIns="45720" rIns="91440" bIns="45720" rtlCol="0" anchor="ctr">
            <a:normAutofit/>
            <a:scene3d>
              <a:camera prst="orthographicFront"/>
              <a:lightRig rig="soft" dir="t">
                <a:rot lat="0" lon="0" rev="16800000"/>
              </a:lightRig>
            </a:scene3d>
            <a:sp3d prstMaterial="softEdge">
              <a:bevelT w="38100" h="38100"/>
            </a:sp3d>
          </a:bodyPr>
          <a:lstStyle/>
          <a:p>
            <a:pPr algn="ctr"/>
            <a:r>
              <a:rPr lang="he-IL" dirty="0">
                <a:latin typeface="Calibri" panose="020F0502020204030204" pitchFamily="34" charset="0"/>
                <a:cs typeface="Calibri" panose="020F0502020204030204" pitchFamily="34" charset="0"/>
              </a:rPr>
              <a:t>ניתוח התוצאות - השוואה</a:t>
            </a:r>
          </a:p>
        </p:txBody>
      </p:sp>
      <p:sp>
        <p:nvSpPr>
          <p:cNvPr id="3" name="Content Placeholder 2"/>
          <p:cNvSpPr>
            <a:spLocks noGrp="1"/>
          </p:cNvSpPr>
          <p:nvPr>
            <p:ph idx="1"/>
          </p:nvPr>
        </p:nvSpPr>
        <p:spPr>
          <a:xfrm>
            <a:off x="2084174" y="1632591"/>
            <a:ext cx="9333943" cy="4160108"/>
          </a:xfrm>
        </p:spPr>
        <p:txBody>
          <a:bodyPr/>
          <a:lstStyle/>
          <a:p>
            <a:endParaRPr lang="he-IL" dirty="0"/>
          </a:p>
          <a:p>
            <a:pPr lvl="1"/>
            <a:endParaRPr lang="he-IL" dirty="0"/>
          </a:p>
          <a:p>
            <a:pPr marL="0" indent="0">
              <a:buNone/>
            </a:pPr>
            <a:endParaRPr lang="he-IL" dirty="0"/>
          </a:p>
        </p:txBody>
      </p:sp>
      <p:graphicFrame>
        <p:nvGraphicFramePr>
          <p:cNvPr id="4" name="Table 3"/>
          <p:cNvGraphicFramePr>
            <a:graphicFrameLocks noGrp="1"/>
          </p:cNvGraphicFramePr>
          <p:nvPr>
            <p:extLst>
              <p:ext uri="{D42A27DB-BD31-4B8C-83A1-F6EECF244321}">
                <p14:modId xmlns="" xmlns:p14="http://schemas.microsoft.com/office/powerpoint/2010/main" val="178690992"/>
              </p:ext>
            </p:extLst>
          </p:nvPr>
        </p:nvGraphicFramePr>
        <p:xfrm>
          <a:off x="2169060" y="1555047"/>
          <a:ext cx="7853880" cy="1737360"/>
        </p:xfrm>
        <a:graphic>
          <a:graphicData uri="http://schemas.openxmlformats.org/drawingml/2006/table">
            <a:tbl>
              <a:tblPr rtl="1" firstRow="1" bandRow="1">
                <a:tableStyleId>{7DF18680-E054-41AD-8BC1-D1AEF772440D}</a:tableStyleId>
              </a:tblPr>
              <a:tblGrid>
                <a:gridCol w="2617960">
                  <a:extLst>
                    <a:ext uri="{9D8B030D-6E8A-4147-A177-3AD203B41FA5}">
                      <a16:colId xmlns:a16="http://schemas.microsoft.com/office/drawing/2014/main" xmlns="" val="20000"/>
                    </a:ext>
                  </a:extLst>
                </a:gridCol>
                <a:gridCol w="2617960">
                  <a:extLst>
                    <a:ext uri="{9D8B030D-6E8A-4147-A177-3AD203B41FA5}">
                      <a16:colId xmlns:a16="http://schemas.microsoft.com/office/drawing/2014/main" xmlns="" val="20001"/>
                    </a:ext>
                  </a:extLst>
                </a:gridCol>
                <a:gridCol w="2617960">
                  <a:extLst>
                    <a:ext uri="{9D8B030D-6E8A-4147-A177-3AD203B41FA5}">
                      <a16:colId xmlns:a16="http://schemas.microsoft.com/office/drawing/2014/main" xmlns="" val="20002"/>
                    </a:ext>
                  </a:extLst>
                </a:gridCol>
              </a:tblGrid>
              <a:tr h="822960">
                <a:tc>
                  <a:txBody>
                    <a:bodyPr/>
                    <a:lstStyle/>
                    <a:p>
                      <a:pPr algn="ctr" rtl="1"/>
                      <a:r>
                        <a:rPr lang="he-IL" sz="2400" dirty="0">
                          <a:latin typeface="Calibri" panose="020F0502020204030204" pitchFamily="34" charset="0"/>
                          <a:cs typeface="Calibri" panose="020F0502020204030204" pitchFamily="34" charset="0"/>
                        </a:rPr>
                        <a:t>פעולה</a:t>
                      </a:r>
                    </a:p>
                  </a:txBody>
                  <a:tcPr anchor="ctr"/>
                </a:tc>
                <a:tc>
                  <a:txBody>
                    <a:bodyPr/>
                    <a:lstStyle/>
                    <a:p>
                      <a:pPr marL="0" marR="0" lvl="0" indent="0" algn="ctr" defTabSz="457200" rtl="1" eaLnBrk="1" fontAlgn="auto" latinLnBrk="0" hangingPunct="1">
                        <a:lnSpc>
                          <a:spcPct val="100000"/>
                        </a:lnSpc>
                        <a:spcBef>
                          <a:spcPts val="0"/>
                        </a:spcBef>
                        <a:spcAft>
                          <a:spcPts val="0"/>
                        </a:spcAft>
                        <a:buClrTx/>
                        <a:buSzTx/>
                        <a:buFontTx/>
                        <a:buNone/>
                        <a:tabLst/>
                        <a:defRPr/>
                      </a:pPr>
                      <a:r>
                        <a:rPr lang="he-IL" sz="2400" dirty="0">
                          <a:latin typeface="Calibri" panose="020F0502020204030204" pitchFamily="34" charset="0"/>
                          <a:cs typeface="Calibri" panose="020F0502020204030204" pitchFamily="34" charset="0"/>
                        </a:rPr>
                        <a:t>כוח ממוצע נמדד בחוג פתוח </a:t>
                      </a:r>
                      <a:r>
                        <a:rPr lang="he-IL" sz="2400" baseline="0" dirty="0">
                          <a:latin typeface="Calibri" panose="020F0502020204030204" pitchFamily="34" charset="0"/>
                          <a:cs typeface="Calibri" panose="020F0502020204030204" pitchFamily="34" charset="0"/>
                        </a:rPr>
                        <a:t>(</a:t>
                      </a:r>
                      <a:r>
                        <a:rPr lang="en-US" sz="2400" baseline="0" dirty="0">
                          <a:latin typeface="Calibri" panose="020F0502020204030204" pitchFamily="34" charset="0"/>
                          <a:cs typeface="Calibri" panose="020F0502020204030204" pitchFamily="34" charset="0"/>
                        </a:rPr>
                        <a:t>N</a:t>
                      </a:r>
                      <a:r>
                        <a:rPr lang="he-IL" sz="2400" baseline="0" dirty="0">
                          <a:latin typeface="Calibri" panose="020F0502020204030204" pitchFamily="34" charset="0"/>
                          <a:cs typeface="Calibri" panose="020F0502020204030204" pitchFamily="34" charset="0"/>
                        </a:rPr>
                        <a:t>)</a:t>
                      </a:r>
                      <a:endParaRPr lang="he-IL" sz="2400" dirty="0">
                        <a:latin typeface="Calibri" panose="020F0502020204030204" pitchFamily="34" charset="0"/>
                        <a:cs typeface="Calibri" panose="020F0502020204030204" pitchFamily="34" charset="0"/>
                      </a:endParaRPr>
                    </a:p>
                  </a:txBody>
                  <a:tcPr/>
                </a:tc>
                <a:tc>
                  <a:txBody>
                    <a:bodyPr/>
                    <a:lstStyle/>
                    <a:p>
                      <a:pPr algn="ctr" rtl="1"/>
                      <a:r>
                        <a:rPr lang="he-IL" sz="2400" dirty="0">
                          <a:latin typeface="Calibri" panose="020F0502020204030204" pitchFamily="34" charset="0"/>
                          <a:cs typeface="Calibri" panose="020F0502020204030204" pitchFamily="34" charset="0"/>
                        </a:rPr>
                        <a:t>כוח ממוצע נמדד בחוג סגור</a:t>
                      </a:r>
                      <a:r>
                        <a:rPr lang="he-IL" sz="2400" baseline="0" dirty="0">
                          <a:latin typeface="Calibri" panose="020F0502020204030204" pitchFamily="34" charset="0"/>
                          <a:cs typeface="Calibri" panose="020F0502020204030204" pitchFamily="34" charset="0"/>
                        </a:rPr>
                        <a:t> (</a:t>
                      </a:r>
                      <a:r>
                        <a:rPr lang="en-US" sz="2400" baseline="0" dirty="0">
                          <a:latin typeface="Calibri" panose="020F0502020204030204" pitchFamily="34" charset="0"/>
                          <a:cs typeface="Calibri" panose="020F0502020204030204" pitchFamily="34" charset="0"/>
                        </a:rPr>
                        <a:t>N</a:t>
                      </a:r>
                      <a:r>
                        <a:rPr lang="he-IL" sz="2400" baseline="0" dirty="0">
                          <a:latin typeface="Calibri" panose="020F0502020204030204" pitchFamily="34" charset="0"/>
                          <a:cs typeface="Calibri" panose="020F0502020204030204" pitchFamily="34" charset="0"/>
                        </a:rPr>
                        <a:t>)</a:t>
                      </a:r>
                      <a:endParaRPr lang="he-IL" sz="24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xmlns="" val="10000"/>
                  </a:ext>
                </a:extLst>
              </a:tr>
              <a:tr h="457200">
                <a:tc>
                  <a:txBody>
                    <a:bodyPr/>
                    <a:lstStyle/>
                    <a:p>
                      <a:pPr algn="ctr" rtl="1"/>
                      <a:r>
                        <a:rPr lang="he-IL" sz="2400" dirty="0">
                          <a:latin typeface="Calibri" panose="020F0502020204030204" pitchFamily="34" charset="0"/>
                          <a:cs typeface="Calibri" panose="020F0502020204030204" pitchFamily="34" charset="0"/>
                        </a:rPr>
                        <a:t>מנוחה</a:t>
                      </a:r>
                      <a:endParaRPr lang="he-IL" sz="2400" b="1" dirty="0">
                        <a:latin typeface="Calibri" panose="020F0502020204030204" pitchFamily="34" charset="0"/>
                        <a:cs typeface="Calibri" panose="020F0502020204030204" pitchFamily="34" charset="0"/>
                      </a:endParaRPr>
                    </a:p>
                  </a:txBody>
                  <a:tcPr/>
                </a:tc>
                <a:tc>
                  <a:txBody>
                    <a:bodyPr/>
                    <a:lstStyle/>
                    <a:p>
                      <a:pPr algn="ctr" rtl="1"/>
                      <a:r>
                        <a:rPr lang="he-IL" sz="2400" dirty="0">
                          <a:latin typeface="Calibri" panose="020F0502020204030204" pitchFamily="34" charset="0"/>
                          <a:cs typeface="Calibri" panose="020F0502020204030204" pitchFamily="34" charset="0"/>
                        </a:rPr>
                        <a:t>5.69</a:t>
                      </a:r>
                      <a:endParaRPr lang="he-IL" sz="2400" b="1" dirty="0">
                        <a:latin typeface="Calibri" panose="020F0502020204030204" pitchFamily="34" charset="0"/>
                        <a:cs typeface="Calibri" panose="020F0502020204030204" pitchFamily="34" charset="0"/>
                      </a:endParaRPr>
                    </a:p>
                  </a:txBody>
                  <a:tcPr/>
                </a:tc>
                <a:tc>
                  <a:txBody>
                    <a:bodyPr/>
                    <a:lstStyle/>
                    <a:p>
                      <a:pPr algn="ctr" rtl="1"/>
                      <a:r>
                        <a:rPr lang="en-US" sz="2400" dirty="0">
                          <a:latin typeface="Calibri" panose="020F0502020204030204" pitchFamily="34" charset="0"/>
                          <a:cs typeface="Calibri" panose="020F0502020204030204" pitchFamily="34" charset="0"/>
                        </a:rPr>
                        <a:t>2.21</a:t>
                      </a:r>
                      <a:endParaRPr lang="he-IL" sz="2400" b="1"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xmlns="" val="10001"/>
                  </a:ext>
                </a:extLst>
              </a:tr>
              <a:tr h="457200">
                <a:tc>
                  <a:txBody>
                    <a:bodyPr/>
                    <a:lstStyle/>
                    <a:p>
                      <a:pPr algn="ctr" rtl="1"/>
                      <a:r>
                        <a:rPr lang="he-IL" sz="2400" dirty="0">
                          <a:latin typeface="Calibri" panose="020F0502020204030204" pitchFamily="34" charset="0"/>
                          <a:cs typeface="Calibri" panose="020F0502020204030204" pitchFamily="34" charset="0"/>
                        </a:rPr>
                        <a:t>אכילה</a:t>
                      </a:r>
                      <a:endParaRPr lang="he-IL" sz="2400" b="1" dirty="0">
                        <a:latin typeface="Calibri" panose="020F0502020204030204" pitchFamily="34" charset="0"/>
                        <a:cs typeface="Calibri" panose="020F0502020204030204" pitchFamily="34" charset="0"/>
                      </a:endParaRPr>
                    </a:p>
                  </a:txBody>
                  <a:tcPr/>
                </a:tc>
                <a:tc>
                  <a:txBody>
                    <a:bodyPr/>
                    <a:lstStyle/>
                    <a:p>
                      <a:pPr algn="ctr" rtl="1"/>
                      <a:r>
                        <a:rPr lang="he-IL" sz="2400" dirty="0">
                          <a:latin typeface="Calibri" panose="020F0502020204030204" pitchFamily="34" charset="0"/>
                          <a:cs typeface="Calibri" panose="020F0502020204030204" pitchFamily="34" charset="0"/>
                        </a:rPr>
                        <a:t>5.48</a:t>
                      </a:r>
                      <a:endParaRPr lang="he-IL" sz="2400" b="1" dirty="0">
                        <a:latin typeface="Calibri" panose="020F0502020204030204" pitchFamily="34" charset="0"/>
                        <a:cs typeface="Calibri" panose="020F0502020204030204" pitchFamily="34" charset="0"/>
                      </a:endParaRPr>
                    </a:p>
                  </a:txBody>
                  <a:tcPr/>
                </a:tc>
                <a:tc>
                  <a:txBody>
                    <a:bodyPr/>
                    <a:lstStyle/>
                    <a:p>
                      <a:pPr algn="ctr" rtl="1"/>
                      <a:r>
                        <a:rPr lang="en-US" sz="2400" dirty="0">
                          <a:latin typeface="Calibri" panose="020F0502020204030204" pitchFamily="34" charset="0"/>
                          <a:cs typeface="Calibri" panose="020F0502020204030204" pitchFamily="34" charset="0"/>
                        </a:rPr>
                        <a:t>4.52</a:t>
                      </a:r>
                      <a:endParaRPr lang="he-IL" sz="2400" b="1"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xmlns="" val="10002"/>
                  </a:ext>
                </a:extLst>
              </a:tr>
            </a:tbl>
          </a:graphicData>
        </a:graphic>
      </p:graphicFrame>
      <p:sp>
        <p:nvSpPr>
          <p:cNvPr id="6" name="Content Placeholder 2"/>
          <p:cNvSpPr txBox="1">
            <a:spLocks/>
          </p:cNvSpPr>
          <p:nvPr/>
        </p:nvSpPr>
        <p:spPr>
          <a:xfrm>
            <a:off x="700218" y="3951542"/>
            <a:ext cx="10793577" cy="2737583"/>
          </a:xfrm>
          <a:prstGeom prst="rect">
            <a:avLst/>
          </a:prstGeom>
        </p:spPr>
        <p:txBody>
          <a:bodyPr vert="horz" lIns="91440" tIns="45720" rIns="91440" bIns="45720" rtlCol="0" anchor="ctr">
            <a:normAutofit/>
          </a:bodyPr>
          <a:lstStyle>
            <a:lvl1pPr marL="285750" indent="-285750" algn="r" defTabSz="457200" rtl="1"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r" defTabSz="457200" rtl="1"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r" defTabSz="457200" rtl="1"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r" defTabSz="457200" rtl="1"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r" defTabSz="457200" rtl="1"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r" defTabSz="457200" rtl="1"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r" defTabSz="457200" rtl="1"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r" defTabSz="457200" rtl="1"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r" defTabSz="457200" rtl="1"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r>
              <a:rPr lang="he-IL" sz="2800" dirty="0">
                <a:solidFill>
                  <a:schemeClr val="tx1">
                    <a:lumMod val="95000"/>
                  </a:schemeClr>
                </a:solidFill>
                <a:latin typeface="Arial" panose="020B0604020202020204" pitchFamily="34" charset="0"/>
                <a:cs typeface="Arial" panose="020B0604020202020204" pitchFamily="34" charset="0"/>
              </a:rPr>
              <a:t>במעגל סגור הכוח הזמן אכילה הופחת ב18%, במנוחה הופחת ב61%</a:t>
            </a:r>
          </a:p>
          <a:p>
            <a:r>
              <a:rPr lang="he-IL" sz="2800" dirty="0">
                <a:solidFill>
                  <a:schemeClr val="tx1">
                    <a:lumMod val="95000"/>
                  </a:schemeClr>
                </a:solidFill>
                <a:latin typeface="Arial" panose="020B0604020202020204" pitchFamily="34" charset="0"/>
                <a:cs typeface="Arial" panose="020B0604020202020204" pitchFamily="34" charset="0"/>
              </a:rPr>
              <a:t>לא נמצא הבדל במשך זמן ביצוע המשימה</a:t>
            </a:r>
          </a:p>
          <a:p>
            <a:r>
              <a:rPr lang="he-IL" sz="2800" dirty="0">
                <a:solidFill>
                  <a:schemeClr val="tx1">
                    <a:lumMod val="95000"/>
                  </a:schemeClr>
                </a:solidFill>
                <a:latin typeface="Arial" panose="020B0604020202020204" pitchFamily="34" charset="0"/>
                <a:cs typeface="Arial" panose="020B0604020202020204" pitchFamily="34" charset="0"/>
              </a:rPr>
              <a:t>אותות יציבים מהאלקטרודות בכל מהלך הניסוי</a:t>
            </a:r>
          </a:p>
          <a:p>
            <a:pPr marL="0" indent="0">
              <a:buNone/>
            </a:pPr>
            <a:endParaRPr lang="he-IL" dirty="0"/>
          </a:p>
          <a:p>
            <a:endParaRPr lang="he-IL" dirty="0"/>
          </a:p>
          <a:p>
            <a:pPr lvl="1"/>
            <a:endParaRPr lang="he-IL" dirty="0"/>
          </a:p>
          <a:p>
            <a:pPr marL="0" indent="0">
              <a:buNone/>
            </a:pPr>
            <a:endParaRPr lang="he-IL" dirty="0"/>
          </a:p>
        </p:txBody>
      </p:sp>
    </p:spTree>
    <p:extLst>
      <p:ext uri="{BB962C8B-B14F-4D97-AF65-F5344CB8AC3E}">
        <p14:creationId xmlns="" xmlns:p14="http://schemas.microsoft.com/office/powerpoint/2010/main" val="17944117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36030" y="126270"/>
            <a:ext cx="6397256" cy="1507067"/>
          </a:xfr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lIns="91440" tIns="45720" rIns="91440" bIns="45720" rtlCol="0" anchor="ctr">
            <a:normAutofit/>
            <a:scene3d>
              <a:camera prst="orthographicFront"/>
              <a:lightRig rig="soft" dir="t">
                <a:rot lat="0" lon="0" rev="16800000"/>
              </a:lightRig>
            </a:scene3d>
            <a:sp3d prstMaterial="softEdge">
              <a:bevelT w="38100" h="38100"/>
            </a:sp3d>
          </a:bodyPr>
          <a:lstStyle/>
          <a:p>
            <a:pPr algn="ctr"/>
            <a:r>
              <a:rPr lang="he-IL" dirty="0">
                <a:latin typeface="Calibri" panose="020F0502020204030204" pitchFamily="34" charset="0"/>
                <a:cs typeface="Calibri" panose="020F0502020204030204" pitchFamily="34" charset="0"/>
              </a:rPr>
              <a:t>מסקנות</a:t>
            </a:r>
          </a:p>
        </p:txBody>
      </p:sp>
      <p:sp>
        <p:nvSpPr>
          <p:cNvPr id="3" name="Content Placeholder 2"/>
          <p:cNvSpPr>
            <a:spLocks noGrp="1"/>
          </p:cNvSpPr>
          <p:nvPr>
            <p:ph idx="1"/>
          </p:nvPr>
        </p:nvSpPr>
        <p:spPr>
          <a:xfrm>
            <a:off x="2070319" y="1064555"/>
            <a:ext cx="9333943" cy="4160108"/>
          </a:xfrm>
        </p:spPr>
        <p:txBody>
          <a:bodyPr vert="horz" lIns="91440" tIns="45720" rIns="91440" bIns="45720" rtlCol="0" anchor="ctr">
            <a:normAutofit/>
          </a:bodyPr>
          <a:lstStyle/>
          <a:p>
            <a:endParaRPr lang="he-IL" sz="2800" dirty="0">
              <a:solidFill>
                <a:schemeClr val="tx1">
                  <a:lumMod val="95000"/>
                </a:schemeClr>
              </a:solidFill>
              <a:latin typeface="Arial" panose="020B0604020202020204" pitchFamily="34" charset="0"/>
              <a:cs typeface="Arial" panose="020B0604020202020204" pitchFamily="34" charset="0"/>
            </a:endParaRPr>
          </a:p>
          <a:p>
            <a:endParaRPr lang="he-IL" sz="2800" dirty="0">
              <a:solidFill>
                <a:schemeClr val="tx1">
                  <a:lumMod val="95000"/>
                </a:schemeClr>
              </a:solidFill>
              <a:latin typeface="Arial" panose="020B0604020202020204" pitchFamily="34" charset="0"/>
              <a:cs typeface="Arial" panose="020B0604020202020204" pitchFamily="34" charset="0"/>
            </a:endParaRPr>
          </a:p>
          <a:p>
            <a:pPr lvl="1"/>
            <a:endParaRPr lang="he-IL" sz="2400" dirty="0">
              <a:solidFill>
                <a:schemeClr val="tx1">
                  <a:lumMod val="95000"/>
                </a:schemeClr>
              </a:solidFill>
              <a:latin typeface="Arial" panose="020B0604020202020204" pitchFamily="34" charset="0"/>
              <a:cs typeface="Arial" panose="020B0604020202020204" pitchFamily="34" charset="0"/>
            </a:endParaRPr>
          </a:p>
          <a:p>
            <a:endParaRPr lang="he-IL" sz="2800" dirty="0">
              <a:solidFill>
                <a:schemeClr val="tx1">
                  <a:lumMod val="95000"/>
                </a:schemeClr>
              </a:solidFill>
              <a:latin typeface="Arial" panose="020B0604020202020204" pitchFamily="34" charset="0"/>
              <a:cs typeface="Arial" panose="020B0604020202020204" pitchFamily="34" charset="0"/>
            </a:endParaRPr>
          </a:p>
        </p:txBody>
      </p:sp>
      <p:sp>
        <p:nvSpPr>
          <p:cNvPr id="7" name="Rectangle 6"/>
          <p:cNvSpPr/>
          <p:nvPr/>
        </p:nvSpPr>
        <p:spPr>
          <a:xfrm>
            <a:off x="1017372" y="1633337"/>
            <a:ext cx="10157255" cy="3761030"/>
          </a:xfrm>
          <a:prstGeom prst="rect">
            <a:avLst/>
          </a:prstGeom>
        </p:spPr>
        <p:txBody>
          <a:bodyPr wrap="square">
            <a:spAutoFit/>
          </a:bodyPr>
          <a:lstStyle/>
          <a:p>
            <a:pPr marL="731502" indent="-548626" algn="r" rtl="1">
              <a:spcBef>
                <a:spcPct val="20000"/>
              </a:spcBef>
              <a:spcAft>
                <a:spcPts val="600"/>
              </a:spcAft>
              <a:buClr>
                <a:schemeClr val="tx1">
                  <a:shade val="95000"/>
                </a:schemeClr>
              </a:buClr>
              <a:buSzPct val="65000"/>
              <a:buFont typeface="Wingdings" panose="05000000000000000000" pitchFamily="2" charset="2"/>
              <a:buChar char="Ø"/>
            </a:pPr>
            <a:r>
              <a:rPr lang="he-IL" sz="2800" dirty="0">
                <a:solidFill>
                  <a:schemeClr val="tx1">
                    <a:lumMod val="95000"/>
                  </a:schemeClr>
                </a:solidFill>
                <a:latin typeface="Calibri" panose="020F0502020204030204" pitchFamily="34" charset="0"/>
                <a:cs typeface="Calibri" panose="020F0502020204030204" pitchFamily="34" charset="0"/>
              </a:rPr>
              <a:t>אותות עצביים הנמדדים בידו של המטופל מכילים מידע שימושי לוויסות הפעלת כוח השריר</a:t>
            </a:r>
          </a:p>
          <a:p>
            <a:pPr marL="731502" indent="-548626" algn="r" rtl="1">
              <a:spcBef>
                <a:spcPct val="20000"/>
              </a:spcBef>
              <a:spcAft>
                <a:spcPts val="600"/>
              </a:spcAft>
              <a:buClr>
                <a:schemeClr val="tx1">
                  <a:shade val="95000"/>
                </a:schemeClr>
              </a:buClr>
              <a:buSzPct val="65000"/>
              <a:buFont typeface="Wingdings" panose="05000000000000000000" pitchFamily="2" charset="2"/>
              <a:buChar char="Ø"/>
            </a:pPr>
            <a:r>
              <a:rPr lang="he-IL" sz="2800" dirty="0">
                <a:solidFill>
                  <a:schemeClr val="tx1">
                    <a:lumMod val="95000"/>
                  </a:schemeClr>
                </a:solidFill>
                <a:latin typeface="Calibri" panose="020F0502020204030204" pitchFamily="34" charset="0"/>
                <a:cs typeface="Calibri" panose="020F0502020204030204" pitchFamily="34" charset="0"/>
              </a:rPr>
              <a:t>ישנה אפשרות להקל על מטופלים במשימת האכילה</a:t>
            </a:r>
          </a:p>
          <a:p>
            <a:pPr marL="182876" algn="r" rtl="1">
              <a:spcBef>
                <a:spcPct val="20000"/>
              </a:spcBef>
              <a:spcAft>
                <a:spcPts val="600"/>
              </a:spcAft>
              <a:buClr>
                <a:schemeClr val="tx1">
                  <a:shade val="95000"/>
                </a:schemeClr>
              </a:buClr>
              <a:buSzPct val="65000"/>
            </a:pPr>
            <a:r>
              <a:rPr lang="he-IL" sz="2800" dirty="0">
                <a:solidFill>
                  <a:schemeClr val="tx1">
                    <a:lumMod val="95000"/>
                  </a:schemeClr>
                </a:solidFill>
                <a:latin typeface="Calibri" panose="020F0502020204030204" pitchFamily="34" charset="0"/>
                <a:cs typeface="Calibri" panose="020F0502020204030204" pitchFamily="34" charset="0"/>
              </a:rPr>
              <a:t>       ע"י שימוש בשיטת חוג סגור </a:t>
            </a:r>
          </a:p>
          <a:p>
            <a:pPr marL="731502" indent="-548626" algn="r" rtl="1">
              <a:spcBef>
                <a:spcPct val="20000"/>
              </a:spcBef>
              <a:spcAft>
                <a:spcPts val="600"/>
              </a:spcAft>
              <a:buClr>
                <a:schemeClr val="tx1">
                  <a:shade val="95000"/>
                </a:schemeClr>
              </a:buClr>
              <a:buSzPct val="65000"/>
              <a:buFont typeface="Wingdings" panose="05000000000000000000" pitchFamily="2" charset="2"/>
              <a:buChar char="Ø"/>
            </a:pPr>
            <a:r>
              <a:rPr lang="he-IL" sz="2800" dirty="0">
                <a:solidFill>
                  <a:schemeClr val="tx1">
                    <a:lumMod val="95000"/>
                  </a:schemeClr>
                </a:solidFill>
                <a:latin typeface="Calibri" panose="020F0502020204030204" pitchFamily="34" charset="0"/>
                <a:cs typeface="Calibri" panose="020F0502020204030204" pitchFamily="34" charset="0"/>
              </a:rPr>
              <a:t>הגורם הראשי להפחתת עייפות השריר ויכולת תפקודו לטווח ארוך יותר מותנית בהפחתת הכוח הממוצע הנדרש לפעולה</a:t>
            </a:r>
          </a:p>
          <a:p>
            <a:pPr marL="731502" indent="-548626" algn="r" rtl="1">
              <a:spcBef>
                <a:spcPct val="20000"/>
              </a:spcBef>
              <a:spcAft>
                <a:spcPts val="600"/>
              </a:spcAft>
              <a:buClr>
                <a:schemeClr val="tx1">
                  <a:shade val="95000"/>
                </a:schemeClr>
              </a:buClr>
              <a:buSzPct val="65000"/>
              <a:buFont typeface="Wingdings" panose="05000000000000000000" pitchFamily="2" charset="2"/>
              <a:buChar char="Ø"/>
            </a:pPr>
            <a:r>
              <a:rPr lang="he-IL" sz="2800" dirty="0">
                <a:solidFill>
                  <a:schemeClr val="tx1">
                    <a:lumMod val="95000"/>
                  </a:schemeClr>
                </a:solidFill>
                <a:latin typeface="Calibri" panose="020F0502020204030204" pitchFamily="34" charset="0"/>
                <a:cs typeface="Calibri" panose="020F0502020204030204" pitchFamily="34" charset="0"/>
              </a:rPr>
              <a:t>המידע מקולטני העור הינם מהותיים לשליטה ביכולת האחיזה</a:t>
            </a:r>
          </a:p>
        </p:txBody>
      </p:sp>
    </p:spTree>
    <p:extLst>
      <p:ext uri="{BB962C8B-B14F-4D97-AF65-F5344CB8AC3E}">
        <p14:creationId xmlns="" xmlns:p14="http://schemas.microsoft.com/office/powerpoint/2010/main" val="30265034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54229"/>
            <a:ext cx="8534400" cy="1507067"/>
          </a:xfr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vert="horz" lIns="91440" tIns="45720" rIns="91440" bIns="45720" rtlCol="0" anchor="ctr">
            <a:normAutofit/>
            <a:scene3d>
              <a:camera prst="orthographicFront"/>
              <a:lightRig rig="soft" dir="t">
                <a:rot lat="0" lon="0" rev="16800000"/>
              </a:lightRig>
            </a:scene3d>
            <a:sp3d prstMaterial="softEdge">
              <a:bevelT w="38100" h="38100"/>
            </a:sp3d>
          </a:bodyPr>
          <a:lstStyle/>
          <a:p>
            <a:pPr algn="ctr"/>
            <a:r>
              <a:rPr lang="he-IL" dirty="0">
                <a:latin typeface="Calibri" panose="020F0502020204030204" pitchFamily="34" charset="0"/>
                <a:cs typeface="Calibri" panose="020F0502020204030204" pitchFamily="34" charset="0"/>
              </a:rPr>
              <a:t>ביקורת שלילית</a:t>
            </a:r>
          </a:p>
        </p:txBody>
      </p:sp>
      <p:sp>
        <p:nvSpPr>
          <p:cNvPr id="3" name="Content Placeholder 2"/>
          <p:cNvSpPr>
            <a:spLocks noGrp="1"/>
          </p:cNvSpPr>
          <p:nvPr>
            <p:ph idx="1"/>
          </p:nvPr>
        </p:nvSpPr>
        <p:spPr>
          <a:xfrm>
            <a:off x="2070319" y="1064555"/>
            <a:ext cx="9333943" cy="4160108"/>
          </a:xfrm>
        </p:spPr>
        <p:txBody>
          <a:bodyPr vert="horz" lIns="91440" tIns="45720" rIns="91440" bIns="45720" rtlCol="0" anchor="ctr">
            <a:normAutofit/>
          </a:bodyPr>
          <a:lstStyle/>
          <a:p>
            <a:endParaRPr lang="he-IL" sz="2800" dirty="0">
              <a:solidFill>
                <a:schemeClr val="tx1">
                  <a:lumMod val="95000"/>
                </a:schemeClr>
              </a:solidFill>
              <a:latin typeface="Arial" panose="020B0604020202020204" pitchFamily="34" charset="0"/>
              <a:cs typeface="Arial" panose="020B0604020202020204" pitchFamily="34" charset="0"/>
            </a:endParaRPr>
          </a:p>
          <a:p>
            <a:endParaRPr lang="he-IL" sz="2800" dirty="0">
              <a:solidFill>
                <a:schemeClr val="tx1">
                  <a:lumMod val="95000"/>
                </a:schemeClr>
              </a:solidFill>
              <a:latin typeface="Arial" panose="020B0604020202020204" pitchFamily="34" charset="0"/>
              <a:cs typeface="Arial" panose="020B0604020202020204" pitchFamily="34" charset="0"/>
            </a:endParaRPr>
          </a:p>
          <a:p>
            <a:pPr lvl="1"/>
            <a:endParaRPr lang="he-IL" sz="2400" dirty="0">
              <a:solidFill>
                <a:schemeClr val="tx1">
                  <a:lumMod val="95000"/>
                </a:schemeClr>
              </a:solidFill>
              <a:latin typeface="Arial" panose="020B0604020202020204" pitchFamily="34" charset="0"/>
              <a:cs typeface="Arial" panose="020B0604020202020204" pitchFamily="34" charset="0"/>
            </a:endParaRPr>
          </a:p>
          <a:p>
            <a:endParaRPr lang="he-IL" sz="2800" dirty="0">
              <a:solidFill>
                <a:schemeClr val="tx1">
                  <a:lumMod val="95000"/>
                </a:schemeClr>
              </a:solidFill>
              <a:latin typeface="Arial" panose="020B0604020202020204" pitchFamily="34" charset="0"/>
              <a:cs typeface="Arial" panose="020B0604020202020204" pitchFamily="34" charset="0"/>
            </a:endParaRPr>
          </a:p>
        </p:txBody>
      </p:sp>
      <p:sp>
        <p:nvSpPr>
          <p:cNvPr id="5" name="Rectangle 4">
            <a:extLst>
              <a:ext uri="{FF2B5EF4-FFF2-40B4-BE49-F238E27FC236}">
                <a16:creationId xmlns:a16="http://schemas.microsoft.com/office/drawing/2014/main" xmlns="" id="{FA9AD7E0-FEB7-4E58-83B5-358CA6A21BDB}"/>
              </a:ext>
            </a:extLst>
          </p:cNvPr>
          <p:cNvSpPr/>
          <p:nvPr/>
        </p:nvSpPr>
        <p:spPr>
          <a:xfrm>
            <a:off x="787738" y="1438407"/>
            <a:ext cx="10157255" cy="3924151"/>
          </a:xfrm>
          <a:prstGeom prst="rect">
            <a:avLst/>
          </a:prstGeom>
        </p:spPr>
        <p:txBody>
          <a:bodyPr wrap="square">
            <a:spAutoFit/>
          </a:bodyPr>
          <a:lstStyle/>
          <a:p>
            <a:pPr marL="731502" indent="-548626" algn="r" rtl="1">
              <a:spcBef>
                <a:spcPct val="20000"/>
              </a:spcBef>
              <a:spcAft>
                <a:spcPts val="600"/>
              </a:spcAft>
              <a:buClr>
                <a:schemeClr val="tx1">
                  <a:shade val="95000"/>
                </a:schemeClr>
              </a:buClr>
              <a:buSzPct val="65000"/>
              <a:buFont typeface="Wingdings" panose="05000000000000000000" pitchFamily="2" charset="2"/>
              <a:buChar char="Ø"/>
            </a:pPr>
            <a:r>
              <a:rPr lang="he-IL" sz="2800" dirty="0">
                <a:solidFill>
                  <a:schemeClr val="tx1">
                    <a:lumMod val="95000"/>
                  </a:schemeClr>
                </a:solidFill>
                <a:latin typeface="Calibri" panose="020F0502020204030204" pitchFamily="34" charset="0"/>
                <a:cs typeface="Calibri" panose="020F0502020204030204" pitchFamily="34" charset="0"/>
              </a:rPr>
              <a:t>ללא תיעוד לניתוח הנתונים לחוג פתוח </a:t>
            </a:r>
          </a:p>
          <a:p>
            <a:pPr marL="731502" indent="-548626" algn="r" rtl="1">
              <a:spcBef>
                <a:spcPct val="20000"/>
              </a:spcBef>
              <a:spcAft>
                <a:spcPts val="600"/>
              </a:spcAft>
              <a:buClr>
                <a:schemeClr val="tx1">
                  <a:shade val="95000"/>
                </a:schemeClr>
              </a:buClr>
              <a:buSzPct val="65000"/>
              <a:buFont typeface="Wingdings" panose="05000000000000000000" pitchFamily="2" charset="2"/>
              <a:buChar char="Ø"/>
            </a:pPr>
            <a:r>
              <a:rPr lang="he-IL" sz="2800" dirty="0">
                <a:solidFill>
                  <a:schemeClr val="tx1">
                    <a:lumMod val="95000"/>
                  </a:schemeClr>
                </a:solidFill>
                <a:latin typeface="Calibri" panose="020F0502020204030204" pitchFamily="34" charset="0"/>
                <a:cs typeface="Calibri" panose="020F0502020204030204" pitchFamily="34" charset="0"/>
              </a:rPr>
              <a:t>הגרף מתייחס למופע אחד בלבד ללא ניתוח סטסיסטי לכל הבדיקות</a:t>
            </a:r>
          </a:p>
          <a:p>
            <a:pPr marL="731502" indent="-548626" algn="r" rtl="1">
              <a:spcBef>
                <a:spcPct val="20000"/>
              </a:spcBef>
              <a:spcAft>
                <a:spcPts val="600"/>
              </a:spcAft>
              <a:buClr>
                <a:schemeClr val="tx1">
                  <a:shade val="95000"/>
                </a:schemeClr>
              </a:buClr>
              <a:buSzPct val="65000"/>
              <a:buFont typeface="Wingdings" panose="05000000000000000000" pitchFamily="2" charset="2"/>
              <a:buChar char="Ø"/>
            </a:pPr>
            <a:r>
              <a:rPr lang="he-IL" sz="2800" dirty="0">
                <a:solidFill>
                  <a:schemeClr val="tx1">
                    <a:lumMod val="95000"/>
                  </a:schemeClr>
                </a:solidFill>
                <a:latin typeface="Calibri" panose="020F0502020204030204" pitchFamily="34" charset="0"/>
                <a:cs typeface="Calibri" panose="020F0502020204030204" pitchFamily="34" charset="0"/>
              </a:rPr>
              <a:t>ניסוי ספציפי ללא התייחסות רוחבית לשאר המצבים לדוגמא: משקל משתנה כמו בקבוק שתייה </a:t>
            </a:r>
          </a:p>
          <a:p>
            <a:pPr marL="731502" indent="-548626" algn="r" rtl="1">
              <a:spcBef>
                <a:spcPct val="20000"/>
              </a:spcBef>
              <a:spcAft>
                <a:spcPts val="600"/>
              </a:spcAft>
              <a:buClr>
                <a:schemeClr val="tx1">
                  <a:shade val="95000"/>
                </a:schemeClr>
              </a:buClr>
              <a:buSzPct val="65000"/>
              <a:buFont typeface="Wingdings" panose="05000000000000000000" pitchFamily="2" charset="2"/>
              <a:buChar char="Ø"/>
            </a:pPr>
            <a:r>
              <a:rPr lang="he-IL" sz="2800" dirty="0">
                <a:solidFill>
                  <a:schemeClr val="tx1">
                    <a:lumMod val="95000"/>
                  </a:schemeClr>
                </a:solidFill>
                <a:latin typeface="Calibri" panose="020F0502020204030204" pitchFamily="34" charset="0"/>
                <a:cs typeface="Calibri" panose="020F0502020204030204" pitchFamily="34" charset="0"/>
              </a:rPr>
              <a:t>משימת האכילה לא כללה את כל מרכיבי האכילה למשל חיתוך בסכין</a:t>
            </a:r>
          </a:p>
          <a:p>
            <a:pPr marL="731502" indent="-548626" algn="r" rtl="1">
              <a:spcBef>
                <a:spcPct val="20000"/>
              </a:spcBef>
              <a:spcAft>
                <a:spcPts val="600"/>
              </a:spcAft>
              <a:buClr>
                <a:schemeClr val="tx1">
                  <a:shade val="95000"/>
                </a:schemeClr>
              </a:buClr>
              <a:buSzPct val="65000"/>
              <a:buFont typeface="Wingdings" panose="05000000000000000000" pitchFamily="2" charset="2"/>
              <a:buChar char="Ø"/>
            </a:pPr>
            <a:r>
              <a:rPr lang="he-IL" sz="2800" dirty="0">
                <a:solidFill>
                  <a:schemeClr val="tx1">
                    <a:lumMod val="95000"/>
                  </a:schemeClr>
                </a:solidFill>
                <a:latin typeface="Calibri" panose="020F0502020204030204" pitchFamily="34" charset="0"/>
                <a:cs typeface="Calibri" panose="020F0502020204030204" pitchFamily="34" charset="0"/>
              </a:rPr>
              <a:t>בדיקה רק על בנאדם אחד ועבור משימה אחת</a:t>
            </a:r>
          </a:p>
          <a:p>
            <a:pPr marL="731502" indent="-548626" algn="r" rtl="1">
              <a:spcBef>
                <a:spcPct val="20000"/>
              </a:spcBef>
              <a:spcAft>
                <a:spcPts val="600"/>
              </a:spcAft>
              <a:buClr>
                <a:schemeClr val="tx1">
                  <a:shade val="95000"/>
                </a:schemeClr>
              </a:buClr>
              <a:buSzPct val="65000"/>
              <a:buFont typeface="Wingdings" panose="05000000000000000000" pitchFamily="2" charset="2"/>
              <a:buChar char="Ø"/>
            </a:pPr>
            <a:r>
              <a:rPr lang="he-IL" sz="2800" dirty="0">
                <a:solidFill>
                  <a:schemeClr val="tx1">
                    <a:lumMod val="95000"/>
                  </a:schemeClr>
                </a:solidFill>
                <a:latin typeface="Calibri" panose="020F0502020204030204" pitchFamily="34" charset="0"/>
                <a:cs typeface="Calibri" panose="020F0502020204030204" pitchFamily="34" charset="0"/>
              </a:rPr>
              <a:t>היחידה לא נבדקה על נסיינים אחרים ובוצעה כהתאמה אישית </a:t>
            </a:r>
          </a:p>
        </p:txBody>
      </p:sp>
    </p:spTree>
    <p:extLst>
      <p:ext uri="{BB962C8B-B14F-4D97-AF65-F5344CB8AC3E}">
        <p14:creationId xmlns="" xmlns:p14="http://schemas.microsoft.com/office/powerpoint/2010/main" val="3316589739"/>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Vapor Trail" id="{4FDF2955-7D9C-493C-B9F9-C205151B46CD}" vid="{8F31A783-2159-4870-BC29-2BA7D038EA44}"/>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TM04033937[[fn=Vapor Trail]]</Template>
  <TotalTime>4572</TotalTime>
  <Words>818</Words>
  <Application>Microsoft Office PowerPoint</Application>
  <PresentationFormat>מותאם אישית</PresentationFormat>
  <Paragraphs>151</Paragraphs>
  <Slides>22</Slides>
  <Notes>0</Notes>
  <HiddenSlides>4</HiddenSlides>
  <MMClips>0</MMClips>
  <ScaleCrop>false</ScaleCrop>
  <HeadingPairs>
    <vt:vector size="4" baseType="variant">
      <vt:variant>
        <vt:lpstr>ערכת נושא</vt:lpstr>
      </vt:variant>
      <vt:variant>
        <vt:i4>1</vt:i4>
      </vt:variant>
      <vt:variant>
        <vt:lpstr>כותרות שקופיות</vt:lpstr>
      </vt:variant>
      <vt:variant>
        <vt:i4>22</vt:i4>
      </vt:variant>
    </vt:vector>
  </HeadingPairs>
  <TitlesOfParts>
    <vt:vector size="23" baseType="lpstr">
      <vt:lpstr>Vapor Trail</vt:lpstr>
      <vt:lpstr>טווח דינמי של גירוי חשמלי בטוח של הרשתית</vt:lpstr>
      <vt:lpstr>מבוא</vt:lpstr>
      <vt:lpstr>הקדמה</vt:lpstr>
      <vt:lpstr>הקדמה – עם הערות </vt:lpstr>
      <vt:lpstr>מטרת המחקר</vt:lpstr>
      <vt:lpstr>הכנת הרקמות</vt:lpstr>
      <vt:lpstr>שקופית 7</vt:lpstr>
      <vt:lpstr>אופן המדידות</vt:lpstr>
      <vt:lpstr>מסלול האחיזה </vt:lpstr>
      <vt:lpstr>הגדרות לשיטה</vt:lpstr>
      <vt:lpstr>חומרים</vt:lpstr>
      <vt:lpstr>שיטת הבדיקה</vt:lpstr>
      <vt:lpstr>מהלך הניסוי</vt:lpstr>
      <vt:lpstr>תוצאות - חוג סגור</vt:lpstr>
      <vt:lpstr>תוצאות - חוג סגור</vt:lpstr>
      <vt:lpstr>ניתוח התוצאות – חוג סגור</vt:lpstr>
      <vt:lpstr>ניתוח התוצאות – חוג סגור</vt:lpstr>
      <vt:lpstr>ניתוח התוצאות – חוג סגור</vt:lpstr>
      <vt:lpstr>ניתוח התוצאות – חוג סגור</vt:lpstr>
      <vt:lpstr>ניתוח התוצאות - השוואה</vt:lpstr>
      <vt:lpstr>מסקנות</vt:lpstr>
      <vt:lpstr>ביקורת שלילית</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אותות מקולטני מכאנים של העור המשמשים לשליטה על אחיזת יד נוירולגיות</dc:title>
  <dc:creator>Yoana Djourado</dc:creator>
  <cp:lastModifiedBy>dvirn</cp:lastModifiedBy>
  <cp:revision>340</cp:revision>
  <dcterms:created xsi:type="dcterms:W3CDTF">2019-12-05T16:51:52Z</dcterms:created>
  <dcterms:modified xsi:type="dcterms:W3CDTF">2019-12-31T23:04:56Z</dcterms:modified>
</cp:coreProperties>
</file>