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37" r:id="rId1"/>
  </p:sldMasterIdLst>
  <p:notesMasterIdLst>
    <p:notesMasterId r:id="rId14"/>
  </p:notesMasterIdLst>
  <p:handoutMasterIdLst>
    <p:handoutMasterId r:id="rId15"/>
  </p:handoutMasterIdLst>
  <p:sldIdLst>
    <p:sldId id="256" r:id="rId2"/>
    <p:sldId id="350" r:id="rId3"/>
    <p:sldId id="295" r:id="rId4"/>
    <p:sldId id="346" r:id="rId5"/>
    <p:sldId id="298" r:id="rId6"/>
    <p:sldId id="349" r:id="rId7"/>
    <p:sldId id="347" r:id="rId8"/>
    <p:sldId id="348" r:id="rId9"/>
    <p:sldId id="299" r:id="rId10"/>
    <p:sldId id="304" r:id="rId11"/>
    <p:sldId id="352" r:id="rId12"/>
    <p:sldId id="33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93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0" autoAdjust="0"/>
    <p:restoredTop sz="93284" autoAdjust="0"/>
  </p:normalViewPr>
  <p:slideViewPr>
    <p:cSldViewPr snapToGrid="0">
      <p:cViewPr varScale="1">
        <p:scale>
          <a:sx n="45" d="100"/>
          <a:sy n="45" d="100"/>
        </p:scale>
        <p:origin x="48" y="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7A5A6-D194-4545-A428-4960D64CF361}" type="datetimeFigureOut">
              <a:rPr lang="en-US" smtClean="0"/>
              <a:t>4/2/2017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B9E76-5991-4C71-8C43-9EA7C0A2D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6022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7FFDC-659A-4263-9E4A-3307E1D1FC69}" type="datetimeFigureOut">
              <a:rPr lang="en-US" smtClean="0"/>
              <a:t>4/2/2017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98EA53-F124-4206-A945-2C8EFF7BB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7562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B6F0-48EA-4F15-BE9E-E44990A307D5}" type="datetime1">
              <a:rPr lang="en-US" smtClean="0"/>
              <a:t>4/2/2017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24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6659C-4AEF-4A42-956A-30A396328494}" type="datetime1">
              <a:rPr lang="en-US" smtClean="0"/>
              <a:t>4/2/2017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20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3FC41-FB50-41B5-A209-37A5355D3F1E}" type="datetime1">
              <a:rPr lang="en-US" smtClean="0"/>
              <a:t>4/2/2017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12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1775-68A8-471F-B86A-7BE8BCE75255}" type="datetime1">
              <a:rPr lang="en-US" smtClean="0"/>
              <a:t>4/2/2017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718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7CF08-B82C-4C85-B334-9CCBA1648ABA}" type="datetime1">
              <a:rPr lang="en-US" smtClean="0"/>
              <a:t>4/2/2017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12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17337-7BFB-473F-BB41-BE4D55DE5751}" type="datetime1">
              <a:rPr lang="en-US" smtClean="0"/>
              <a:t>4/2/2017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64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A010-71ED-4BC5-B774-A7CA1631EBE5}" type="datetime1">
              <a:rPr lang="en-US" smtClean="0"/>
              <a:t>4/2/2017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702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9142-F2A2-4F94-999B-32600950536D}" type="datetime1">
              <a:rPr lang="en-US" smtClean="0"/>
              <a:t>4/2/2017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2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6DDA0-26E3-408F-A724-2B72FA00A183}" type="datetime1">
              <a:rPr lang="en-US" smtClean="0"/>
              <a:t>4/2/2017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97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6208-3947-40F9-9C72-334E47E7EA13}" type="datetime1">
              <a:rPr lang="en-US" smtClean="0"/>
              <a:t>4/2/2017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05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7073-3B1E-44AE-8B91-F0C98E605D9F}" type="datetime1">
              <a:rPr lang="en-US" smtClean="0"/>
              <a:t>4/2/2017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90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55511-A0D5-4E68-B282-2813A631A6C0}" type="datetime1">
              <a:rPr lang="en-US" smtClean="0"/>
              <a:t>4/2/2017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4DBC1-B3BE-4E31-8C9F-4835BA503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96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8" r:id="rId1"/>
    <p:sldLayoutId id="2147485039" r:id="rId2"/>
    <p:sldLayoutId id="2147485040" r:id="rId3"/>
    <p:sldLayoutId id="2147485041" r:id="rId4"/>
    <p:sldLayoutId id="2147485042" r:id="rId5"/>
    <p:sldLayoutId id="2147485043" r:id="rId6"/>
    <p:sldLayoutId id="2147485044" r:id="rId7"/>
    <p:sldLayoutId id="2147485045" r:id="rId8"/>
    <p:sldLayoutId id="2147485046" r:id="rId9"/>
    <p:sldLayoutId id="2147485047" r:id="rId10"/>
    <p:sldLayoutId id="214748504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35923" y="595452"/>
            <a:ext cx="8146277" cy="156966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Neptune</a:t>
            </a:r>
            <a:endParaRPr lang="en-US" sz="9600" b="1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970327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pic>
        <p:nvPicPr>
          <p:cNvPr id="12" name="Picture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24" y="6278375"/>
            <a:ext cx="825909" cy="52107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22861" y="2332389"/>
            <a:ext cx="8146277" cy="1200329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2">
                      <a:lumMod val="50000"/>
                    </a:schemeClr>
                  </a:outerShdw>
                </a:effectLst>
              </a:rPr>
              <a:t>Optimizer Simulator</a:t>
            </a:r>
            <a:endParaRPr lang="en-US" sz="7200" b="1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accent2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22861" y="4818442"/>
            <a:ext cx="8146277" cy="615553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2">
                      <a:lumMod val="50000"/>
                    </a:schemeClr>
                  </a:outerShdw>
                </a:effectLst>
              </a:rPr>
              <a:t>Prof. Uri Mahlab</a:t>
            </a:r>
            <a:endParaRPr lang="en-US" sz="3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accent2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Rectangle 12"/>
          <p:cNvSpPr/>
          <p:nvPr/>
        </p:nvSpPr>
        <p:spPr>
          <a:xfrm>
            <a:off x="2022860" y="3560680"/>
            <a:ext cx="8146277" cy="1138773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4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2">
                      <a:lumMod val="50000"/>
                    </a:schemeClr>
                  </a:outerShdw>
                </a:effectLst>
              </a:rPr>
              <a:t>Yotam</a:t>
            </a:r>
            <a:r>
              <a:rPr lang="en-US" sz="3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2">
                      <a:lumMod val="50000"/>
                    </a:schemeClr>
                  </a:outerShdw>
                </a:effectLst>
              </a:rPr>
              <a:t> </a:t>
            </a:r>
            <a:r>
              <a:rPr lang="en-US" sz="34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2">
                      <a:lumMod val="50000"/>
                    </a:schemeClr>
                  </a:outerShdw>
                </a:effectLst>
              </a:rPr>
              <a:t>Wolbrum</a:t>
            </a:r>
            <a:r>
              <a:rPr lang="en-US" sz="3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2">
                      <a:lumMod val="50000"/>
                    </a:schemeClr>
                  </a:outerShdw>
                </a:effectLst>
              </a:rPr>
              <a:t/>
            </a:r>
            <a:br>
              <a:rPr lang="en-US" sz="3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2">
                      <a:lumMod val="50000"/>
                    </a:schemeClr>
                  </a:outerShdw>
                </a:effectLst>
              </a:rPr>
            </a:br>
            <a:r>
              <a:rPr lang="en-US" sz="34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2">
                      <a:lumMod val="50000"/>
                    </a:schemeClr>
                  </a:outerShdw>
                </a:effectLst>
              </a:rPr>
              <a:t>Ziv</a:t>
            </a:r>
            <a:r>
              <a:rPr lang="en-US" sz="3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2">
                      <a:lumMod val="50000"/>
                    </a:schemeClr>
                  </a:outerShdw>
                </a:effectLst>
              </a:rPr>
              <a:t> </a:t>
            </a:r>
            <a:r>
              <a:rPr lang="en-US" sz="34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2">
                      <a:lumMod val="50000"/>
                    </a:schemeClr>
                  </a:outerShdw>
                </a:effectLst>
              </a:rPr>
              <a:t>Erlichson</a:t>
            </a:r>
            <a:endParaRPr lang="en-US" sz="3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accent2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6482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4558"/>
            <a:ext cx="10515600" cy="5054745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 recent years, the amount of data transferred by network systems has increased significantly.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This increase requires building smarter, faster and more reliable network systems and control centers.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 our project, we attempted to build a system which would know how to work and handle different, dynamical situations and behaviors of optical networks.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 order to do this we had to:</a:t>
            </a:r>
          </a:p>
          <a:p>
            <a:pPr marL="514350" indent="-514350">
              <a:buAutoNum type="arabi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Make the system as dynamic as possible</a:t>
            </a:r>
          </a:p>
          <a:p>
            <a:pPr marL="514350" indent="-514350">
              <a:buAutoNum type="arabi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Take into consideration the physical limitations of the optical fibers (elaborated in the next slide)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2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11916"/>
            <a:ext cx="10515600" cy="7017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bg1"/>
                  </a:outerShdw>
                </a:effectLst>
                <a:latin typeface="+mn-lt"/>
              </a:rPr>
              <a:t>Background and Rational</a:t>
            </a:r>
            <a:endParaRPr lang="en-US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bg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82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3272" y="84929"/>
            <a:ext cx="4788182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bg1"/>
                  </a:outerShdw>
                </a:effectLst>
              </a:rPr>
              <a:t>Overview</a:t>
            </a:r>
            <a:endParaRPr lang="en-US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970327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432181" y="1131682"/>
            <a:ext cx="949036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Final Product </a:t>
            </a:r>
          </a:p>
          <a:p>
            <a:pPr lvl="1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 generic simulator that provides an optimized, balance-loaded traffic, by using the cross entropy algorithm in a given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optical fiber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mesh network according to traffic requirements.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Optical fiber mesh infrastructure (including all relevant optical elements).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Day 1 services traffic map - not optimized from balance point of view.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Optimized and balance-loaded services per fiber matrix.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Take into consideration</a:t>
            </a:r>
            <a:endParaRPr lang="en-US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Spectrum U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tilization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Power Budget (Power sensitivity, OSNR threshold and Nonlinear effect).</a:t>
            </a:r>
            <a:endParaRPr lang="en-US" dirty="0"/>
          </a:p>
        </p:txBody>
      </p:sp>
      <p:pic>
        <p:nvPicPr>
          <p:cNvPr id="13" name="Picture 1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24" y="6278375"/>
            <a:ext cx="825909" cy="52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8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52" y="1620012"/>
            <a:ext cx="11190712" cy="448906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946818" y="3915082"/>
            <a:ext cx="117688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41,42,43..</a:t>
            </a:r>
          </a:p>
        </p:txBody>
      </p:sp>
      <p:sp>
        <p:nvSpPr>
          <p:cNvPr id="7" name="Rectangle 6"/>
          <p:cNvSpPr/>
          <p:nvPr/>
        </p:nvSpPr>
        <p:spPr>
          <a:xfrm>
            <a:off x="1972525" y="84929"/>
            <a:ext cx="7885849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bg1"/>
                  </a:outerShdw>
                </a:effectLst>
              </a:rPr>
              <a:t>Topological Map Of The system</a:t>
            </a:r>
            <a:endParaRPr lang="en-US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970327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24" y="6278375"/>
            <a:ext cx="825909" cy="52107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371600" y="2714625"/>
            <a:ext cx="185737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09975" y="2857500"/>
            <a:ext cx="2295525" cy="8477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6714079" y="3857625"/>
            <a:ext cx="1715546" cy="95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304373" y="2857500"/>
            <a:ext cx="1477927" cy="8477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371600" y="3848100"/>
            <a:ext cx="1857375" cy="952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74705" y="2354675"/>
            <a:ext cx="99059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accent1"/>
                </a:solidFill>
              </a:rPr>
              <a:t>1,2,3..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 rot="1232889">
            <a:off x="4600777" y="3049789"/>
            <a:ext cx="99059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accent1"/>
                </a:solidFill>
              </a:rPr>
              <a:t>1,2,3..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63178" y="3497488"/>
            <a:ext cx="99059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accent1"/>
                </a:solidFill>
              </a:rPr>
              <a:t>1,2,3..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 rot="19830175">
            <a:off x="9254076" y="3068839"/>
            <a:ext cx="99059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accent1"/>
                </a:solidFill>
              </a:rPr>
              <a:t>1,2,3..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 rot="20101870">
            <a:off x="1391803" y="3057097"/>
            <a:ext cx="117971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accent2"/>
                </a:solidFill>
              </a:rPr>
              <a:t>21,22,23..</a:t>
            </a:r>
            <a:endParaRPr lang="en-US" sz="1400" dirty="0">
              <a:solidFill>
                <a:schemeClr val="accent2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1371600" y="2781300"/>
            <a:ext cx="1857375" cy="952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657809" y="3510835"/>
            <a:ext cx="117971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accent2"/>
                </a:solidFill>
              </a:rPr>
              <a:t>21,22,23..</a:t>
            </a:r>
            <a:endParaRPr lang="en-US" sz="1400" dirty="0">
              <a:solidFill>
                <a:schemeClr val="accent2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1371600" y="2857500"/>
            <a:ext cx="1857375" cy="84772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 rot="19661464">
            <a:off x="1015396" y="4644577"/>
            <a:ext cx="117971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accent2"/>
                </a:solidFill>
              </a:rPr>
              <a:t>21,22,23..</a:t>
            </a:r>
            <a:endParaRPr lang="en-US" sz="1400" dirty="0">
              <a:solidFill>
                <a:schemeClr val="accent2"/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 flipH="1">
            <a:off x="4067175" y="1885950"/>
            <a:ext cx="1762125" cy="7048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1371600" y="2867026"/>
            <a:ext cx="1949163" cy="88933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1371600" y="3925655"/>
            <a:ext cx="185737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 rot="20317664">
            <a:off x="4404407" y="1859225"/>
            <a:ext cx="109599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41,42,43..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 rot="19704708">
            <a:off x="1970357" y="4556358"/>
            <a:ext cx="111735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41,42,43..</a:t>
            </a:r>
          </a:p>
        </p:txBody>
      </p:sp>
      <p:cxnSp>
        <p:nvCxnSpPr>
          <p:cNvPr id="41" name="Straight Connector 40"/>
          <p:cNvCxnSpPr/>
          <p:nvPr/>
        </p:nvCxnSpPr>
        <p:spPr>
          <a:xfrm flipH="1">
            <a:off x="1121410" y="4009045"/>
            <a:ext cx="2199354" cy="1364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981075" y="3990976"/>
            <a:ext cx="2247900" cy="1400174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 rot="20032485">
            <a:off x="2496464" y="3007579"/>
            <a:ext cx="113312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41,42,43..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6714079" y="1885950"/>
            <a:ext cx="1715546" cy="70485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8830575" y="2867026"/>
            <a:ext cx="5327" cy="838199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 rot="1300839">
            <a:off x="7189824" y="1896651"/>
            <a:ext cx="99059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accent6"/>
                </a:solidFill>
              </a:rPr>
              <a:t>61,62,63..</a:t>
            </a:r>
            <a:endParaRPr lang="en-US" sz="1400" dirty="0">
              <a:solidFill>
                <a:schemeClr val="accent6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904795" y="3052310"/>
            <a:ext cx="912429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solidFill>
                  <a:schemeClr val="accent6"/>
                </a:solidFill>
              </a:rPr>
              <a:t>61,62,63..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9802" y="4386766"/>
            <a:ext cx="912429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solidFill>
                  <a:schemeClr val="accent6"/>
                </a:solidFill>
              </a:rPr>
              <a:t>61,62,63..</a:t>
            </a:r>
          </a:p>
        </p:txBody>
      </p:sp>
      <p:cxnSp>
        <p:nvCxnSpPr>
          <p:cNvPr id="53" name="Straight Connector 52"/>
          <p:cNvCxnSpPr/>
          <p:nvPr/>
        </p:nvCxnSpPr>
        <p:spPr>
          <a:xfrm flipH="1">
            <a:off x="8571454" y="3976842"/>
            <a:ext cx="254892" cy="1414308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1371600" y="5543550"/>
            <a:ext cx="2914650" cy="47625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5096076" y="5591175"/>
            <a:ext cx="2589047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272574" y="5214159"/>
            <a:ext cx="102229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C000"/>
                </a:solidFill>
              </a:rPr>
              <a:t>81,82,83..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829300" y="5214159"/>
            <a:ext cx="102229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C000"/>
                </a:solidFill>
              </a:rPr>
              <a:t>81,82,83..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05255" y="6088028"/>
            <a:ext cx="8786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For illustration , every color symbolize a path and every number symbolize a service.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51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970327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5</a:t>
            </a:fld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24" y="6278375"/>
            <a:ext cx="825909" cy="5210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424" y="1182249"/>
            <a:ext cx="7183681" cy="487699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8200" y="115704"/>
            <a:ext cx="10306050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1440" tIns="45720" rIns="91440" bIns="45720">
            <a:spAutoFit/>
          </a:bodyPr>
          <a:lstStyle/>
          <a:p>
            <a:pPr marL="0" lvl="1" algn="ctr"/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bg1"/>
                  </a:outerShdw>
                </a:effectLst>
                <a:sym typeface="Wingdings" panose="05000000000000000000" pitchFamily="2" charset="2"/>
              </a:rPr>
              <a:t>Optical Network </a:t>
            </a:r>
            <a:r>
              <a:rPr lang="en-US" sz="44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bg1"/>
                  </a:outerShdw>
                </a:effectLst>
                <a:sym typeface="Wingdings" panose="05000000000000000000" pitchFamily="2" charset="2"/>
              </a:rPr>
              <a:t>Virtualization- CE</a:t>
            </a:r>
            <a:endParaRPr lang="en-US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4286250" y="2105025"/>
            <a:ext cx="542925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 11"/>
          <p:cNvSpPr/>
          <p:nvPr/>
        </p:nvSpPr>
        <p:spPr>
          <a:xfrm>
            <a:off x="6568173" y="3506447"/>
            <a:ext cx="390068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 12"/>
          <p:cNvSpPr/>
          <p:nvPr/>
        </p:nvSpPr>
        <p:spPr>
          <a:xfrm>
            <a:off x="6382665" y="2276475"/>
            <a:ext cx="684885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מלבן 13"/>
          <p:cNvSpPr/>
          <p:nvPr/>
        </p:nvSpPr>
        <p:spPr>
          <a:xfrm>
            <a:off x="6568173" y="4668497"/>
            <a:ext cx="475793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מלבן 6"/>
          <p:cNvSpPr/>
          <p:nvPr/>
        </p:nvSpPr>
        <p:spPr>
          <a:xfrm>
            <a:off x="6725106" y="1476375"/>
            <a:ext cx="1085393" cy="438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Do Cross Entropy </a:t>
            </a:r>
            <a:r>
              <a:rPr lang="en-US" sz="1100" b="1" i="1" dirty="0" smtClean="0">
                <a:solidFill>
                  <a:schemeClr val="tx1"/>
                </a:solidFill>
              </a:rPr>
              <a:t>Algorithm</a:t>
            </a:r>
            <a:endParaRPr lang="he-IL" sz="1100" b="1" i="1" dirty="0"/>
          </a:p>
        </p:txBody>
      </p:sp>
    </p:spTree>
    <p:extLst>
      <p:ext uri="{BB962C8B-B14F-4D97-AF65-F5344CB8AC3E}">
        <p14:creationId xmlns:p14="http://schemas.microsoft.com/office/powerpoint/2010/main" val="36938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970327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6</a:t>
            </a:fld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24" y="6278375"/>
            <a:ext cx="825909" cy="52107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8200" y="115704"/>
            <a:ext cx="10306050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1440" tIns="45720" rIns="91440" bIns="45720">
            <a:spAutoFit/>
          </a:bodyPr>
          <a:lstStyle/>
          <a:p>
            <a:pPr marL="0" lvl="1" algn="ctr"/>
            <a:r>
              <a:rPr lang="en-US" sz="4400" b="1" dirty="0">
                <a:solidFill>
                  <a:srgbClr val="7030A0"/>
                </a:solidFill>
              </a:rPr>
              <a:t>Integration of the System</a:t>
            </a:r>
            <a:endParaRPr lang="en-US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4286250" y="2105025"/>
            <a:ext cx="542925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 11"/>
          <p:cNvSpPr/>
          <p:nvPr/>
        </p:nvSpPr>
        <p:spPr>
          <a:xfrm>
            <a:off x="6568173" y="3506447"/>
            <a:ext cx="390068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 12"/>
          <p:cNvSpPr/>
          <p:nvPr/>
        </p:nvSpPr>
        <p:spPr>
          <a:xfrm>
            <a:off x="6382665" y="2276475"/>
            <a:ext cx="684885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מלבן 13"/>
          <p:cNvSpPr/>
          <p:nvPr/>
        </p:nvSpPr>
        <p:spPr>
          <a:xfrm>
            <a:off x="6568173" y="4668497"/>
            <a:ext cx="475793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מלבן 4"/>
          <p:cNvSpPr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integration role is to connect between the </a:t>
            </a:r>
            <a:r>
              <a:rPr lang="en-US" dirty="0" smtClean="0"/>
              <a:t>optimization algorithm </a:t>
            </a:r>
            <a:r>
              <a:rPr lang="en-US" dirty="0"/>
              <a:t>and </a:t>
            </a:r>
            <a:r>
              <a:rPr lang="en-US" dirty="0" smtClean="0"/>
              <a:t>the </a:t>
            </a:r>
            <a:r>
              <a:rPr lang="en-US" dirty="0"/>
              <a:t>engines.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integration methods </a:t>
            </a:r>
            <a:r>
              <a:rPr lang="en-US" dirty="0" smtClean="0"/>
              <a:t>receive </a:t>
            </a:r>
            <a:r>
              <a:rPr lang="en-US" dirty="0"/>
              <a:t>a guess from the optimizer and </a:t>
            </a:r>
            <a:r>
              <a:rPr lang="en-US" dirty="0" smtClean="0"/>
              <a:t>generate </a:t>
            </a:r>
            <a:r>
              <a:rPr lang="en-US" dirty="0"/>
              <a:t>a matrix that both engines know how to check for validity.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An invalid solution mark, </a:t>
            </a:r>
            <a:r>
              <a:rPr lang="en-US" dirty="0"/>
              <a:t>we return "not valid" to the </a:t>
            </a:r>
            <a:r>
              <a:rPr lang="en-US" dirty="0" smtClean="0"/>
              <a:t>optimizer, and it produces another guess.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 valid solution </a:t>
            </a:r>
            <a:r>
              <a:rPr lang="en-US" dirty="0"/>
              <a:t>mark </a:t>
            </a:r>
            <a:r>
              <a:rPr lang="en-US" dirty="0" smtClean="0"/>
              <a:t>, we </a:t>
            </a:r>
            <a:r>
              <a:rPr lang="en-US" dirty="0"/>
              <a:t>return "valid" and the cost "hit" of the guess to the </a:t>
            </a:r>
            <a:r>
              <a:rPr lang="en-US" dirty="0" smtClean="0"/>
              <a:t>optimizer, and </a:t>
            </a:r>
            <a:r>
              <a:rPr lang="en-US" dirty="0"/>
              <a:t>it </a:t>
            </a:r>
            <a:r>
              <a:rPr lang="en-US" dirty="0" smtClean="0"/>
              <a:t>saves the guess into the database.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85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970327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7</a:t>
            </a:fld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24" y="6278375"/>
            <a:ext cx="825909" cy="52107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8200" y="115704"/>
            <a:ext cx="10306050" cy="144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1440" tIns="45720" rIns="91440" bIns="45720">
            <a:spAutoFit/>
          </a:bodyPr>
          <a:lstStyle/>
          <a:p>
            <a:pPr marL="0" lvl="1" algn="ctr"/>
            <a:r>
              <a:rPr lang="en-US" sz="4400" b="1" dirty="0">
                <a:solidFill>
                  <a:srgbClr val="7030A0"/>
                </a:solidFill>
              </a:rPr>
              <a:t>Cross Entropy Block Diagram</a:t>
            </a:r>
          </a:p>
          <a:p>
            <a:pPr marL="0" lvl="1" algn="ctr"/>
            <a:endParaRPr lang="en-US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/>
              </a:solidFill>
              <a:effectLst>
                <a:outerShdw blurRad="127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4286250" y="2105025"/>
            <a:ext cx="542925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 11"/>
          <p:cNvSpPr/>
          <p:nvPr/>
        </p:nvSpPr>
        <p:spPr>
          <a:xfrm>
            <a:off x="6568173" y="3506447"/>
            <a:ext cx="390068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 12"/>
          <p:cNvSpPr/>
          <p:nvPr/>
        </p:nvSpPr>
        <p:spPr>
          <a:xfrm>
            <a:off x="6382665" y="2276475"/>
            <a:ext cx="684885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מלבן 13"/>
          <p:cNvSpPr/>
          <p:nvPr/>
        </p:nvSpPr>
        <p:spPr>
          <a:xfrm>
            <a:off x="6568173" y="4668497"/>
            <a:ext cx="475793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5" name="Picture 451" descr="C:\Users\zive\Desktop\Cross Entropy block diagram (1)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362" y="971550"/>
            <a:ext cx="4843463" cy="5567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31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970327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8</a:t>
            </a:fld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24" y="6278375"/>
            <a:ext cx="825909" cy="52107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8200" y="115704"/>
            <a:ext cx="10306050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1440" tIns="45720" rIns="91440" bIns="45720">
            <a:spAutoFit/>
          </a:bodyPr>
          <a:lstStyle/>
          <a:p>
            <a:pPr marL="0" lvl="1" algn="ctr"/>
            <a:r>
              <a:rPr lang="en-US" sz="4400" b="1" dirty="0">
                <a:solidFill>
                  <a:srgbClr val="7030A0"/>
                </a:solidFill>
              </a:rPr>
              <a:t>Calculate Probability Block Diagram</a:t>
            </a:r>
            <a:endParaRPr lang="en-US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4286250" y="2105025"/>
            <a:ext cx="542925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 11"/>
          <p:cNvSpPr/>
          <p:nvPr/>
        </p:nvSpPr>
        <p:spPr>
          <a:xfrm>
            <a:off x="6568173" y="3506447"/>
            <a:ext cx="390068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 12"/>
          <p:cNvSpPr/>
          <p:nvPr/>
        </p:nvSpPr>
        <p:spPr>
          <a:xfrm>
            <a:off x="6382665" y="2276475"/>
            <a:ext cx="684885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מלבן 13"/>
          <p:cNvSpPr/>
          <p:nvPr/>
        </p:nvSpPr>
        <p:spPr>
          <a:xfrm>
            <a:off x="6568173" y="4668497"/>
            <a:ext cx="475793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6" name="Picture 453" descr="C:\Users\zive\Desktop\Calculate probability block diagram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1110286"/>
            <a:ext cx="4781232" cy="5020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994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3272" y="107326"/>
            <a:ext cx="4788182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bg1"/>
                  </a:outerShdw>
                </a:effectLst>
              </a:rPr>
              <a:t>GUI - Concept</a:t>
            </a:r>
            <a:endParaRPr lang="en-US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970327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663959" y="1607408"/>
            <a:ext cx="1356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accent4">
                    <a:lumMod val="75000"/>
                  </a:schemeClr>
                </a:solidFill>
              </a:rPr>
              <a:t>Optimization Type </a:t>
            </a:r>
          </a:p>
          <a:p>
            <a:pPr algn="ctr"/>
            <a:r>
              <a:rPr lang="en-US" sz="1200" dirty="0" smtClean="0">
                <a:solidFill>
                  <a:schemeClr val="accent4">
                    <a:lumMod val="75000"/>
                  </a:schemeClr>
                </a:solidFill>
              </a:rPr>
              <a:t>Algorithm</a:t>
            </a:r>
            <a:endParaRPr lang="en-US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59736" y="2497167"/>
            <a:ext cx="991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accent4">
                    <a:lumMod val="75000"/>
                  </a:schemeClr>
                </a:solidFill>
              </a:rPr>
              <a:t>Optimization</a:t>
            </a:r>
          </a:p>
          <a:p>
            <a:pPr algn="ctr"/>
            <a:r>
              <a:rPr lang="en-US" sz="1200" dirty="0" smtClean="0">
                <a:solidFill>
                  <a:schemeClr val="accent4">
                    <a:lumMod val="75000"/>
                  </a:schemeClr>
                </a:solidFill>
              </a:rPr>
              <a:t>Settings</a:t>
            </a:r>
            <a:endParaRPr lang="en-US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18185" y="3243608"/>
            <a:ext cx="1074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accent4">
                    <a:lumMod val="75000"/>
                  </a:schemeClr>
                </a:solidFill>
              </a:rPr>
              <a:t>Cost Function </a:t>
            </a:r>
          </a:p>
          <a:p>
            <a:pPr algn="ctr"/>
            <a:r>
              <a:rPr lang="en-US" sz="1200" dirty="0" smtClean="0">
                <a:solidFill>
                  <a:schemeClr val="accent4">
                    <a:lumMod val="75000"/>
                  </a:schemeClr>
                </a:solidFill>
              </a:rPr>
              <a:t>Calculation</a:t>
            </a:r>
            <a:endParaRPr lang="en-US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49458" y="3572671"/>
            <a:ext cx="1327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accent4">
                    <a:lumMod val="75000"/>
                  </a:schemeClr>
                </a:solidFill>
              </a:rPr>
              <a:t>Results</a:t>
            </a:r>
            <a:endParaRPr lang="en-US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9844720" y="3705273"/>
            <a:ext cx="563907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24" y="6278375"/>
            <a:ext cx="825909" cy="521074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 flipV="1">
            <a:off x="2938228" y="3474439"/>
            <a:ext cx="274065" cy="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2950840" y="1853103"/>
            <a:ext cx="274065" cy="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2939219" y="2725324"/>
            <a:ext cx="274065" cy="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3" descr="C:\Users\זיו\Desktop\Capture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029" y="1463261"/>
            <a:ext cx="5943600" cy="3228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Straight Arrow Connector 25"/>
          <p:cNvCxnSpPr/>
          <p:nvPr/>
        </p:nvCxnSpPr>
        <p:spPr>
          <a:xfrm>
            <a:off x="4970140" y="1310180"/>
            <a:ext cx="0" cy="297228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55979" y="1032322"/>
            <a:ext cx="428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accent4">
                    <a:lumMod val="75000"/>
                  </a:schemeClr>
                </a:solidFill>
              </a:rPr>
              <a:t>Run</a:t>
            </a:r>
            <a:endParaRPr lang="en-US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44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72145" y="240729"/>
            <a:ext cx="6047710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bg1"/>
                  </a:outerShdw>
                </a:effectLst>
              </a:rPr>
              <a:t>Balance Results</a:t>
            </a:r>
            <a:endParaRPr lang="en-US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970327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10</a:t>
            </a:fld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24" y="6278375"/>
            <a:ext cx="825909" cy="521074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3521321" y="1853150"/>
            <a:ext cx="979241" cy="539833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00563" y="1799902"/>
            <a:ext cx="190023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Optimizer Simulator</a:t>
            </a:r>
          </a:p>
          <a:p>
            <a:pPr algn="ctr"/>
            <a:r>
              <a:rPr lang="en-US" dirty="0" smtClean="0"/>
              <a:t>Based on Cross Entropy Algorithm</a:t>
            </a:r>
            <a:endParaRPr lang="en-US" dirty="0"/>
          </a:p>
        </p:txBody>
      </p:sp>
      <p:sp>
        <p:nvSpPr>
          <p:cNvPr id="28" name="Right Arrow 27"/>
          <p:cNvSpPr/>
          <p:nvPr/>
        </p:nvSpPr>
        <p:spPr>
          <a:xfrm>
            <a:off x="6400801" y="1914142"/>
            <a:ext cx="830839" cy="539833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7443" y="1814727"/>
            <a:ext cx="28437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Input: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Infrastructure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optical elements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nd day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services traffic map.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7314323" y="1853150"/>
            <a:ext cx="36110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Optimized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balanced load 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services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matrix.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6"/>
          <a:stretch/>
        </p:blipFill>
        <p:spPr>
          <a:xfrm>
            <a:off x="703385" y="2692242"/>
            <a:ext cx="2598836" cy="285379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 rot="16200000">
            <a:off x="-112813" y="3547287"/>
            <a:ext cx="1367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endParaRPr lang="en-US" sz="1600" dirty="0"/>
          </a:p>
        </p:txBody>
      </p:sp>
      <p:pic>
        <p:nvPicPr>
          <p:cNvPr id="19" name="Picture 10" descr="C:\Users\זיו\Desktop\Resulats_CE_0.8_100_500\Resulats_CE_0.8_100_500\SPL_hits&amp;en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8340" y="2553391"/>
            <a:ext cx="4710955" cy="42460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294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most efficient value of alpha is 0.2, as with this value we have achieved the lowest variance result.</a:t>
            </a:r>
            <a:endParaRPr lang="en-US" dirty="0"/>
          </a:p>
          <a:p>
            <a:r>
              <a:rPr lang="en-US" dirty="0" smtClean="0"/>
              <a:t>Neptune shows unequivocal convergence of the results.</a:t>
            </a:r>
          </a:p>
          <a:p>
            <a:r>
              <a:rPr lang="en-US" dirty="0" smtClean="0"/>
              <a:t>The results also confirm the validity of our system.</a:t>
            </a:r>
          </a:p>
          <a:p>
            <a:endParaRPr lang="en-US" dirty="0"/>
          </a:p>
          <a:p>
            <a:r>
              <a:rPr lang="en-US" dirty="0" smtClean="0"/>
              <a:t>Elaborated results and explanation can be found under chapter 9 of the Neptune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72145" y="240729"/>
            <a:ext cx="6047710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bg1"/>
                  </a:outerShdw>
                </a:effectLst>
              </a:rPr>
              <a:t>Conclusions</a:t>
            </a:r>
            <a:endParaRPr lang="en-US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bg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8570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59620" y="2220674"/>
            <a:ext cx="7227356" cy="156966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2">
                      <a:lumMod val="50000"/>
                    </a:schemeClr>
                  </a:outerShdw>
                </a:effectLst>
              </a:rPr>
              <a:t>Thank You!</a:t>
            </a:r>
            <a:endParaRPr lang="en-US" sz="9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accent2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970327" y="0"/>
            <a:ext cx="221673" cy="685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DBC1-B3BE-4E31-8C9F-4835BA503375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24" y="6278375"/>
            <a:ext cx="825909" cy="52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1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1926</TotalTime>
  <Words>462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Background and Rational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Harel</dc:creator>
  <cp:lastModifiedBy>Ziv Erlichson</cp:lastModifiedBy>
  <cp:revision>212</cp:revision>
  <dcterms:created xsi:type="dcterms:W3CDTF">2015-12-25T00:12:56Z</dcterms:created>
  <dcterms:modified xsi:type="dcterms:W3CDTF">2017-04-02T15:24:02Z</dcterms:modified>
</cp:coreProperties>
</file>