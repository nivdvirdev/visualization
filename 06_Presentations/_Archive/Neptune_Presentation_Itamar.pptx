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0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1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9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6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9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0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6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3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4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2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79B11-D7FE-43B0-8115-B46C5581360B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7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תוצאת תמונה עבור ‪hit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תוצאת תמונה עבור ‪hit‬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309" y="160338"/>
            <a:ext cx="28956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30583" y="2560320"/>
            <a:ext cx="591890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sz="9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eptune</a:t>
            </a:r>
            <a:endParaRPr lang="en-US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31965" y="5290112"/>
            <a:ext cx="371428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Name: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Itamar Aharon</a:t>
            </a:r>
            <a:endParaRPr lang="he-IL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302867742</a:t>
            </a:r>
            <a:endParaRPr lang="he-IL" sz="2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Advisor: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Prof. Uri </a:t>
            </a:r>
            <a:r>
              <a:rPr lang="en-US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Mahleb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856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ame Side Corner Rectangle 14"/>
          <p:cNvSpPr/>
          <p:nvPr/>
        </p:nvSpPr>
        <p:spPr>
          <a:xfrm>
            <a:off x="4004732" y="3284434"/>
            <a:ext cx="4004734" cy="2556933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290483" y="1574169"/>
            <a:ext cx="3471333" cy="15748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>
            <a:off x="8009466" y="2387600"/>
            <a:ext cx="3369734" cy="3454400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47666" y="2150533"/>
            <a:ext cx="16933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/>
              <a:t>DB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15865" y="4172817"/>
            <a:ext cx="29633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 smtClean="0"/>
              <a:t>Simulator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</a:t>
            </a:r>
            <a:r>
              <a:rPr lang="en-US" sz="1700" b="1" dirty="0" smtClean="0"/>
              <a:t>ptical Mesh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 smtClean="0"/>
              <a:t>Optical Physical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1" dirty="0"/>
          </a:p>
        </p:txBody>
      </p:sp>
      <p:sp>
        <p:nvSpPr>
          <p:cNvPr id="10" name="Trapezoid 9"/>
          <p:cNvSpPr/>
          <p:nvPr/>
        </p:nvSpPr>
        <p:spPr>
          <a:xfrm>
            <a:off x="634998" y="2387600"/>
            <a:ext cx="3369734" cy="3454400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64731" y="2387600"/>
            <a:ext cx="169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Engines</a:t>
            </a:r>
            <a:endParaRPr lang="en-US" sz="700" dirty="0"/>
          </a:p>
        </p:txBody>
      </p:sp>
      <p:sp>
        <p:nvSpPr>
          <p:cNvPr id="12" name="TextBox 11"/>
          <p:cNvSpPr txBox="1"/>
          <p:nvPr/>
        </p:nvSpPr>
        <p:spPr>
          <a:xfrm>
            <a:off x="967314" y="4193570"/>
            <a:ext cx="296333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 smtClean="0"/>
              <a:t>Optimization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 smtClean="0"/>
              <a:t>Power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 smtClean="0"/>
              <a:t>Cost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 smtClean="0"/>
              <a:t>Defragmentation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925231" y="142669"/>
            <a:ext cx="6392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u="sng" dirty="0" smtClean="0"/>
              <a:t>Neptune as a System</a:t>
            </a:r>
            <a:endParaRPr lang="en-US" sz="1000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4290483" y="3531850"/>
            <a:ext cx="37930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My Project: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 smtClean="0"/>
              <a:t>GA Improvement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 smtClean="0"/>
              <a:t>Weighted Entropy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 smtClean="0"/>
              <a:t>Fiber-Cut</a:t>
            </a:r>
            <a:endParaRPr lang="en-US" sz="3200" b="1" dirty="0"/>
          </a:p>
        </p:txBody>
      </p:sp>
      <p:sp>
        <p:nvSpPr>
          <p:cNvPr id="16" name="Rectangle 15"/>
          <p:cNvSpPr/>
          <p:nvPr/>
        </p:nvSpPr>
        <p:spPr>
          <a:xfrm>
            <a:off x="3489159" y="1838461"/>
            <a:ext cx="5110857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sz="6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eptune</a:t>
            </a:r>
            <a:endParaRPr lang="en-US" sz="6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769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1. Genetic Algorithm</a:t>
            </a:r>
            <a:endParaRPr 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92414" y="602563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Solution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268" y="1100667"/>
            <a:ext cx="5858932" cy="5331627"/>
          </a:xfrm>
          <a:prstGeom prst="rect">
            <a:avLst/>
          </a:prstGeom>
        </p:spPr>
      </p:pic>
      <p:sp>
        <p:nvSpPr>
          <p:cNvPr id="9" name="Cube 8"/>
          <p:cNvSpPr/>
          <p:nvPr/>
        </p:nvSpPr>
        <p:spPr>
          <a:xfrm>
            <a:off x="3363673" y="4370405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0" name="Cube 9"/>
          <p:cNvSpPr/>
          <p:nvPr/>
        </p:nvSpPr>
        <p:spPr>
          <a:xfrm>
            <a:off x="3363673" y="3993926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1" name="Cube 10"/>
          <p:cNvSpPr/>
          <p:nvPr/>
        </p:nvSpPr>
        <p:spPr>
          <a:xfrm>
            <a:off x="3363673" y="3617447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2" name="Cube 11"/>
          <p:cNvSpPr/>
          <p:nvPr/>
        </p:nvSpPr>
        <p:spPr>
          <a:xfrm>
            <a:off x="3363673" y="3240968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7" name="Cube 16"/>
          <p:cNvSpPr/>
          <p:nvPr/>
        </p:nvSpPr>
        <p:spPr>
          <a:xfrm>
            <a:off x="3363673" y="2852755"/>
            <a:ext cx="474133" cy="4741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8" name="Cube 17"/>
          <p:cNvSpPr/>
          <p:nvPr/>
        </p:nvSpPr>
        <p:spPr>
          <a:xfrm>
            <a:off x="3363673" y="2476276"/>
            <a:ext cx="474133" cy="4741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9" name="Cube 18"/>
          <p:cNvSpPr/>
          <p:nvPr/>
        </p:nvSpPr>
        <p:spPr>
          <a:xfrm>
            <a:off x="3363673" y="2099797"/>
            <a:ext cx="474133" cy="4741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1" name="Cube 20"/>
          <p:cNvSpPr/>
          <p:nvPr/>
        </p:nvSpPr>
        <p:spPr>
          <a:xfrm>
            <a:off x="3364809" y="1711584"/>
            <a:ext cx="474133" cy="474133"/>
          </a:xfrm>
          <a:prstGeom prst="cub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9</a:t>
            </a:r>
            <a:endParaRPr lang="en-US" sz="1600" dirty="0"/>
          </a:p>
        </p:txBody>
      </p:sp>
      <p:sp>
        <p:nvSpPr>
          <p:cNvPr id="22" name="Cube 21"/>
          <p:cNvSpPr/>
          <p:nvPr/>
        </p:nvSpPr>
        <p:spPr>
          <a:xfrm>
            <a:off x="3364809" y="1335105"/>
            <a:ext cx="474133" cy="474133"/>
          </a:xfrm>
          <a:prstGeom prst="cub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3" name="Cube 22"/>
          <p:cNvSpPr/>
          <p:nvPr/>
        </p:nvSpPr>
        <p:spPr>
          <a:xfrm>
            <a:off x="3363673" y="5951555"/>
            <a:ext cx="474133" cy="474133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24" name="Cube 23"/>
          <p:cNvSpPr/>
          <p:nvPr/>
        </p:nvSpPr>
        <p:spPr>
          <a:xfrm>
            <a:off x="3363673" y="5575076"/>
            <a:ext cx="474133" cy="474133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25" name="Cube 24"/>
          <p:cNvSpPr/>
          <p:nvPr/>
        </p:nvSpPr>
        <p:spPr>
          <a:xfrm>
            <a:off x="3363673" y="5198597"/>
            <a:ext cx="474133" cy="474133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3544569" y="4882157"/>
            <a:ext cx="92393" cy="976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544568" y="5021569"/>
            <a:ext cx="92393" cy="976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544567" y="5160981"/>
            <a:ext cx="92393" cy="976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537967" y="1409564"/>
            <a:ext cx="171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Before Defrag</a:t>
            </a:r>
            <a:endParaRPr lang="en-US" sz="20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4268" y="1372116"/>
            <a:ext cx="171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After Defrag</a:t>
            </a:r>
            <a:endParaRPr lang="en-US" sz="2000" b="1" dirty="0"/>
          </a:p>
        </p:txBody>
      </p:sp>
      <p:sp>
        <p:nvSpPr>
          <p:cNvPr id="2" name="סוגר מסולסל שמאלי 1"/>
          <p:cNvSpPr/>
          <p:nvPr/>
        </p:nvSpPr>
        <p:spPr>
          <a:xfrm>
            <a:off x="2255306" y="2185717"/>
            <a:ext cx="1148080" cy="1152000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11120" y="2292902"/>
            <a:ext cx="171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SD</a:t>
            </a:r>
            <a:endParaRPr lang="en-US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2835733" y="2219279"/>
            <a:ext cx="171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Path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2835733" y="2603567"/>
            <a:ext cx="171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Path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2829938" y="2932587"/>
            <a:ext cx="171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Path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93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1. Genetic Algorithm</a:t>
            </a:r>
            <a:endParaRPr lang="en-US" sz="3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80" y="1422401"/>
            <a:ext cx="7587308" cy="4150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2414" y="602563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Cross-Over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19907" y="5763301"/>
            <a:ext cx="10278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Gene = distribution of Services in Paths on each SD</a:t>
            </a:r>
            <a:endParaRPr lang="en-US" sz="32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033666" y="5557276"/>
            <a:ext cx="1686241" cy="100224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33666" y="5893032"/>
            <a:ext cx="168624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33666" y="6226407"/>
            <a:ext cx="168624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33667" y="5535277"/>
            <a:ext cx="79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Father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20258" y="5873731"/>
            <a:ext cx="98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Mother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15008" y="6190186"/>
            <a:ext cx="10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Combine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24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1. Genetic Algorithm</a:t>
            </a:r>
            <a:endParaRPr 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Mutate 50% of offspring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70" y="1774824"/>
            <a:ext cx="9628417" cy="18537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661" y="4777240"/>
            <a:ext cx="5886450" cy="10191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282238" y="2266950"/>
            <a:ext cx="702468" cy="119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7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1. Genetic Algorithm</a:t>
            </a:r>
            <a:endParaRPr 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Select Best Solutions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62" y="3274004"/>
            <a:ext cx="10541304" cy="113596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541486" y="1205126"/>
            <a:ext cx="2206171" cy="7837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Variance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856515" y="1205126"/>
            <a:ext cx="2206171" cy="7837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Entropy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171544" y="1205126"/>
            <a:ext cx="2206171" cy="7837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Hits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257800" y="1988898"/>
            <a:ext cx="1119414" cy="97245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 smtClean="0">
                <a:solidFill>
                  <a:schemeClr val="accent5">
                    <a:lumMod val="75000"/>
                  </a:schemeClr>
                </a:solidFill>
              </a:rPr>
              <a:t>Variance</a:t>
            </a:r>
          </a:p>
          <a:p>
            <a:pPr algn="ctr"/>
            <a:r>
              <a:rPr lang="en-US" sz="1300" b="1" dirty="0" smtClean="0">
                <a:solidFill>
                  <a:schemeClr val="accent5">
                    <a:lumMod val="75000"/>
                  </a:schemeClr>
                </a:solidFill>
              </a:rPr>
              <a:t>+</a:t>
            </a:r>
          </a:p>
          <a:p>
            <a:pPr algn="ctr"/>
            <a:r>
              <a:rPr lang="en-US" sz="1300" b="1" dirty="0" smtClean="0">
                <a:solidFill>
                  <a:schemeClr val="accent5">
                    <a:lumMod val="75000"/>
                  </a:schemeClr>
                </a:solidFill>
              </a:rPr>
              <a:t>Entropy</a:t>
            </a:r>
            <a:endParaRPr lang="en-US" sz="13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065486" y="1988898"/>
            <a:ext cx="214086" cy="26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324270" y="1982209"/>
            <a:ext cx="214086" cy="26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377214" y="2037770"/>
            <a:ext cx="232228" cy="19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8629194" y="2046173"/>
            <a:ext cx="249464" cy="190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563075" y="1982209"/>
            <a:ext cx="1066119" cy="97245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 smtClean="0">
                <a:solidFill>
                  <a:schemeClr val="accent5">
                    <a:lumMod val="75000"/>
                  </a:schemeClr>
                </a:solidFill>
              </a:rPr>
              <a:t>Entropy</a:t>
            </a:r>
          </a:p>
          <a:p>
            <a:pPr algn="ctr"/>
            <a:r>
              <a:rPr lang="en-US" sz="1300" b="1" dirty="0" smtClean="0">
                <a:solidFill>
                  <a:schemeClr val="accent5">
                    <a:lumMod val="75000"/>
                  </a:schemeClr>
                </a:solidFill>
              </a:rPr>
              <a:t>+</a:t>
            </a:r>
          </a:p>
          <a:p>
            <a:pPr algn="ctr"/>
            <a:r>
              <a:rPr lang="en-US" sz="1300" b="1" dirty="0" smtClean="0">
                <a:solidFill>
                  <a:schemeClr val="accent5">
                    <a:lumMod val="75000"/>
                  </a:schemeClr>
                </a:solidFill>
              </a:rPr>
              <a:t>Hits</a:t>
            </a:r>
            <a:endParaRPr lang="en-US" sz="13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54" y="4729311"/>
            <a:ext cx="10766212" cy="120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1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2. Weighted 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Entropy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914399" y="1479665"/>
                <a:ext cx="5527964" cy="16500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 rtl="1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𝑈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𝛷</m:t>
                          </m:r>
                        </m:e>
                      </m:d>
                      <m:r>
                        <a:rPr lang="he-IL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he-IL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he-IL" sz="3600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he-IL" sz="3600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sup>
                        <m:e>
                          <m:sSub>
                            <m:sSub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𝛷</m:t>
                                  </m:r>
                                </m:e>
                                <m:sub>
                                  <m: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6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𝛷</m:t>
                                      </m:r>
                                    </m:e>
                                    <m:sub>
                                      <m:r>
                                        <a:rPr lang="en-US" sz="36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479665"/>
                <a:ext cx="5527964" cy="1650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3707476" y="1903616"/>
            <a:ext cx="665019" cy="980900"/>
          </a:xfrm>
          <a:prstGeom prst="ellipse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endCxn id="29" idx="1"/>
          </p:cNvCxnSpPr>
          <p:nvPr/>
        </p:nvCxnSpPr>
        <p:spPr>
          <a:xfrm>
            <a:off x="4222865" y="3129732"/>
            <a:ext cx="922832" cy="1135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7" idx="1"/>
          </p:cNvCxnSpPr>
          <p:nvPr/>
        </p:nvCxnSpPr>
        <p:spPr>
          <a:xfrm>
            <a:off x="4447309" y="2975956"/>
            <a:ext cx="897894" cy="4922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45203" y="3283508"/>
            <a:ext cx="2194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0.05 For Bottle-Necks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45697" y="4080955"/>
            <a:ext cx="147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1 For The rest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995912" y="4878402"/>
            <a:ext cx="87175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/>
              <a:t>Purpose – </a:t>
            </a:r>
            <a:r>
              <a:rPr lang="en-US" sz="4000" dirty="0" smtClean="0"/>
              <a:t>fibers with less transportation </a:t>
            </a:r>
          </a:p>
          <a:p>
            <a:pPr algn="ctr"/>
            <a:r>
              <a:rPr lang="en-US" sz="4000" dirty="0" smtClean="0"/>
              <a:t>will get higher weigh</a:t>
            </a:r>
          </a:p>
        </p:txBody>
      </p:sp>
    </p:spTree>
    <p:extLst>
      <p:ext uri="{BB962C8B-B14F-4D97-AF65-F5344CB8AC3E}">
        <p14:creationId xmlns:p14="http://schemas.microsoft.com/office/powerpoint/2010/main" val="355140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2. Weighted 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NEW Weights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771650" y="1301638"/>
                <a:ext cx="8378491" cy="12940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𝑊𝑒𝑖𝑔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𝐿𝑖𝑛𝑘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Statistics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SPL</m:t>
                                      </m:r>
                                      <m: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Link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3200" i="0">
                                      <a:latin typeface="Cambria Math" panose="02040503050406030204" pitchFamily="18" charset="0"/>
                                    </a:rPr>
                                    <m:t>TotalServices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50" y="1301638"/>
                <a:ext cx="8378491" cy="1294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24241"/>
              </p:ext>
            </p:extLst>
          </p:nvPr>
        </p:nvGraphicFramePr>
        <p:xfrm>
          <a:off x="988695" y="3286121"/>
          <a:ext cx="3621405" cy="183832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3819">
                  <a:extLst>
                    <a:ext uri="{9D8B030D-6E8A-4147-A177-3AD203B41FA5}">
                      <a16:colId xmlns:a16="http://schemas.microsoft.com/office/drawing/2014/main" val="1163445063"/>
                    </a:ext>
                  </a:extLst>
                </a:gridCol>
                <a:gridCol w="705147">
                  <a:extLst>
                    <a:ext uri="{9D8B030D-6E8A-4147-A177-3AD203B41FA5}">
                      <a16:colId xmlns:a16="http://schemas.microsoft.com/office/drawing/2014/main" val="2714490551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776564966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2209179794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4106905789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7727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83919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982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52403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35833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379917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4781551" y="3971925"/>
            <a:ext cx="528002" cy="523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תיבת טקסט 2"/>
          <p:cNvSpPr txBox="1">
            <a:spLocks noChangeArrowheads="1"/>
          </p:cNvSpPr>
          <p:nvPr/>
        </p:nvSpPr>
        <p:spPr bwMode="auto">
          <a:xfrm flipH="1">
            <a:off x="5423852" y="3510756"/>
            <a:ext cx="1877378" cy="14462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⅔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 paths in SD1 are going throw Link 201</a:t>
            </a:r>
          </a:p>
        </p:txBody>
      </p:sp>
      <p:sp>
        <p:nvSpPr>
          <p:cNvPr id="8" name="סוגר מסולסל ימני 25"/>
          <p:cNvSpPr/>
          <p:nvPr/>
        </p:nvSpPr>
        <p:spPr>
          <a:xfrm rot="10800000">
            <a:off x="533401" y="3640137"/>
            <a:ext cx="455294" cy="855663"/>
          </a:xfrm>
          <a:prstGeom prst="rightBrace">
            <a:avLst>
              <a:gd name="adj1" fmla="val 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46282" y="3645693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SD1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2"/>
              <p:cNvSpPr txBox="1">
                <a:spLocks noChangeArrowheads="1"/>
              </p:cNvSpPr>
              <p:nvPr/>
            </p:nvSpPr>
            <p:spPr bwMode="auto">
              <a:xfrm flipH="1">
                <a:off x="8057830" y="3765152"/>
                <a:ext cx="3595370" cy="937419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⅔ ×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𝑆𝑒𝑟𝑣𝑖𝑐𝑒𝑠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_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𝑅𝑒𝑞𝑢𝑖𝑟𝑒𝑑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_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𝑆𝐷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added to</a:t>
                </a:r>
                <a:r>
                  <a:rPr lang="en-US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Statistics_SPL</a:t>
                </a:r>
                <a:r>
                  <a:rPr lang="en-US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(201)</a:t>
                </a:r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תיבת טקסט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8057830" y="3765152"/>
                <a:ext cx="3595370" cy="93741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7415529" y="3971925"/>
            <a:ext cx="528002" cy="523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899920" y="5124449"/>
            <a:ext cx="145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(</a:t>
            </a:r>
            <a:r>
              <a:rPr lang="en-US" sz="2000" dirty="0" err="1" smtClean="0"/>
              <a:t>Paths_mat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907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3. Fiber-Cut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57738" y="1826776"/>
            <a:ext cx="528002" cy="523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73752"/>
              </p:ext>
            </p:extLst>
          </p:nvPr>
        </p:nvGraphicFramePr>
        <p:xfrm>
          <a:off x="866418" y="1169550"/>
          <a:ext cx="3621405" cy="183832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3819">
                  <a:extLst>
                    <a:ext uri="{9D8B030D-6E8A-4147-A177-3AD203B41FA5}">
                      <a16:colId xmlns:a16="http://schemas.microsoft.com/office/drawing/2014/main" val="1163445063"/>
                    </a:ext>
                  </a:extLst>
                </a:gridCol>
                <a:gridCol w="705147">
                  <a:extLst>
                    <a:ext uri="{9D8B030D-6E8A-4147-A177-3AD203B41FA5}">
                      <a16:colId xmlns:a16="http://schemas.microsoft.com/office/drawing/2014/main" val="2714490551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776564966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2209179794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4106905789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7727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83919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982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52403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35833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3799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6202" y="584775"/>
            <a:ext cx="2870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1. Update </a:t>
            </a:r>
            <a:r>
              <a:rPr lang="en-US" sz="2400" dirty="0" err="1" smtClean="0"/>
              <a:t>Paths_mat</a:t>
            </a:r>
            <a:endParaRPr 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162470"/>
              </p:ext>
            </p:extLst>
          </p:nvPr>
        </p:nvGraphicFramePr>
        <p:xfrm>
          <a:off x="5555656" y="1169550"/>
          <a:ext cx="3621405" cy="153194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3819">
                  <a:extLst>
                    <a:ext uri="{9D8B030D-6E8A-4147-A177-3AD203B41FA5}">
                      <a16:colId xmlns:a16="http://schemas.microsoft.com/office/drawing/2014/main" val="1163445063"/>
                    </a:ext>
                  </a:extLst>
                </a:gridCol>
                <a:gridCol w="705147">
                  <a:extLst>
                    <a:ext uri="{9D8B030D-6E8A-4147-A177-3AD203B41FA5}">
                      <a16:colId xmlns:a16="http://schemas.microsoft.com/office/drawing/2014/main" val="2714490551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776564966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2209179794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4106905789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7727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83919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52403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35833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379917"/>
                  </a:ext>
                </a:extLst>
              </a:tr>
            </a:tbl>
          </a:graphicData>
        </a:graphic>
      </p:graphicFrame>
      <p:sp>
        <p:nvSpPr>
          <p:cNvPr id="2" name="Explosion 2 1"/>
          <p:cNvSpPr/>
          <p:nvPr/>
        </p:nvSpPr>
        <p:spPr>
          <a:xfrm rot="12550440">
            <a:off x="8496301" y="1081188"/>
            <a:ext cx="542925" cy="468035"/>
          </a:xfrm>
          <a:prstGeom prst="irregularSeal2">
            <a:avLst/>
          </a:prstGeom>
          <a:solidFill>
            <a:srgbClr val="FF1F1F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1431" y="3148013"/>
            <a:ext cx="3316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2. Create solution vector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23950" y="3741298"/>
            <a:ext cx="92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Divide </a:t>
            </a:r>
            <a:r>
              <a:rPr lang="en-US" sz="3200" b="1" dirty="0" err="1" smtClean="0"/>
              <a:t>falled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sevices</a:t>
            </a:r>
            <a:r>
              <a:rPr lang="en-US" sz="3200" b="1" dirty="0" smtClean="0"/>
              <a:t> between random paths in the 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02" y="4527108"/>
            <a:ext cx="2384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3. Create solution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00771" y="5148259"/>
            <a:ext cx="92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Send to external engine for lambdas division </a:t>
            </a:r>
          </a:p>
        </p:txBody>
      </p:sp>
    </p:spTree>
    <p:extLst>
      <p:ext uri="{BB962C8B-B14F-4D97-AF65-F5344CB8AC3E}">
        <p14:creationId xmlns:p14="http://schemas.microsoft.com/office/powerpoint/2010/main" val="207549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chemeClr val="accent1">
                <a:lumMod val="5000"/>
                <a:lumOff val="95000"/>
              </a:schemeClr>
            </a:gs>
            <a:gs pos="69500">
              <a:srgbClr val="B5D2EC"/>
            </a:gs>
            <a:gs pos="5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65717" y="340996"/>
            <a:ext cx="1504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5850" y="3086100"/>
            <a:ext cx="8210550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perspectiveHeroicExtremeLeftFacing"/>
              <a:lightRig rig="threePt" dir="t"/>
            </a:scene3d>
          </a:bodyPr>
          <a:lstStyle/>
          <a:p>
            <a:pPr algn="ctr"/>
            <a:r>
              <a:rPr lang="en-US" sz="166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The End</a:t>
            </a:r>
            <a:endParaRPr lang="en-US" sz="1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aphicFrame>
        <p:nvGraphicFramePr>
          <p:cNvPr id="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05903"/>
              </p:ext>
            </p:extLst>
          </p:nvPr>
        </p:nvGraphicFramePr>
        <p:xfrm>
          <a:off x="3503566" y="1216420"/>
          <a:ext cx="542925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7313">
                  <a:extLst>
                    <a:ext uri="{9D8B030D-6E8A-4147-A177-3AD203B41FA5}">
                      <a16:colId xmlns:a16="http://schemas.microsoft.com/office/drawing/2014/main" val="4081660526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4234257798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3154929168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13075095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smtClean="0">
                          <a:effectLst/>
                        </a:rPr>
                        <a:t>NEW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smtClean="0">
                          <a:effectLst/>
                        </a:rPr>
                        <a:t>OLD GA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smtClean="0">
                          <a:effectLst/>
                        </a:rPr>
                        <a:t>OLD W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9150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smtClean="0">
                          <a:effectLst/>
                        </a:rPr>
                        <a:t>Min hits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0.443</a:t>
                      </a:r>
                      <a:endParaRPr lang="en-US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0.455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0.455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24025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smtClean="0">
                          <a:effectLst/>
                        </a:rPr>
                        <a:t>Min </a:t>
                      </a:r>
                      <a:r>
                        <a:rPr lang="en-US" sz="2800" u="none" strike="noStrike" dirty="0" err="1" smtClean="0">
                          <a:effectLst/>
                        </a:rPr>
                        <a:t>var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95.3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125.9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101.4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38831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smtClean="0">
                          <a:effectLst/>
                        </a:rPr>
                        <a:t>Max Ent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 smtClean="0">
                          <a:solidFill>
                            <a:srgbClr val="00B050"/>
                          </a:solidFill>
                          <a:effectLst/>
                        </a:rPr>
                        <a:t>1.314</a:t>
                      </a:r>
                      <a:endParaRPr lang="en-US" sz="2800" b="0" i="0" u="none" strike="noStrike" dirty="0" smtClean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effectLst/>
                        </a:rPr>
                        <a:t>1.199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2.804</a:t>
                      </a:r>
                      <a:endParaRPr lang="en-US" sz="2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8116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45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271</Words>
  <Application>Microsoft Office PowerPoint</Application>
  <PresentationFormat>מסך רחב</PresentationFormat>
  <Paragraphs>179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ECI Telecom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Itamar Aharon</dc:creator>
  <cp:lastModifiedBy>Ita</cp:lastModifiedBy>
  <cp:revision>28</cp:revision>
  <dcterms:created xsi:type="dcterms:W3CDTF">2017-07-02T11:24:11Z</dcterms:created>
  <dcterms:modified xsi:type="dcterms:W3CDTF">2017-10-29T21:27:31Z</dcterms:modified>
</cp:coreProperties>
</file>