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3EA436-43D1-B8C2-BFA2-F04856EACBCE}" v="28" dt="2020-03-09T11:03:49.9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16" autoAdjust="0"/>
    <p:restoredTop sz="94660"/>
  </p:normalViewPr>
  <p:slideViewPr>
    <p:cSldViewPr snapToGrid="0">
      <p:cViewPr varScale="1">
        <p:scale>
          <a:sx n="73" d="100"/>
          <a:sy n="73" d="100"/>
        </p:scale>
        <p:origin x="5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v DVIR" userId="S::nivdvi@my.hit.ac.il::913a2e9d-d3ac-40d8-8854-e7a62d770b5b" providerId="AD" clId="Web-{B33EA436-43D1-B8C2-BFA2-F04856EACBCE}"/>
    <pc:docChg chg="modSld">
      <pc:chgData name="niv DVIR" userId="S::nivdvi@my.hit.ac.il::913a2e9d-d3ac-40d8-8854-e7a62d770b5b" providerId="AD" clId="Web-{B33EA436-43D1-B8C2-BFA2-F04856EACBCE}" dt="2020-03-09T11:03:49.920" v="27"/>
      <pc:docMkLst>
        <pc:docMk/>
      </pc:docMkLst>
      <pc:sldChg chg="addSp delSp modSp">
        <pc:chgData name="niv DVIR" userId="S::nivdvi@my.hit.ac.il::913a2e9d-d3ac-40d8-8854-e7a62d770b5b" providerId="AD" clId="Web-{B33EA436-43D1-B8C2-BFA2-F04856EACBCE}" dt="2020-03-09T11:03:49.920" v="27"/>
        <pc:sldMkLst>
          <pc:docMk/>
          <pc:sldMk cId="2868561931" sldId="256"/>
        </pc:sldMkLst>
        <pc:spChg chg="add del mod">
          <ac:chgData name="niv DVIR" userId="S::nivdvi@my.hit.ac.il::913a2e9d-d3ac-40d8-8854-e7a62d770b5b" providerId="AD" clId="Web-{B33EA436-43D1-B8C2-BFA2-F04856EACBCE}" dt="2020-03-09T11:03:49.920" v="27"/>
          <ac:spMkLst>
            <pc:docMk/>
            <pc:sldMk cId="2868561931" sldId="256"/>
            <ac:spMk id="2" creationId="{054D70DD-6366-46BB-8BFE-CB6F9A8744F1}"/>
          </ac:spMkLst>
        </pc:spChg>
        <pc:spChg chg="del">
          <ac:chgData name="niv DVIR" userId="S::nivdvi@my.hit.ac.il::913a2e9d-d3ac-40d8-8854-e7a62d770b5b" providerId="AD" clId="Web-{B33EA436-43D1-B8C2-BFA2-F04856EACBCE}" dt="2020-03-09T11:01:00.234" v="0"/>
          <ac:spMkLst>
            <pc:docMk/>
            <pc:sldMk cId="2868561931" sldId="256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9B11-D7FE-43B0-8115-B46C5581360B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B572-34FC-41CA-9E34-EE8273490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806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9B11-D7FE-43B0-8115-B46C5581360B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B572-34FC-41CA-9E34-EE8273490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267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9B11-D7FE-43B0-8115-B46C5581360B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B572-34FC-41CA-9E34-EE8273490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16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9B11-D7FE-43B0-8115-B46C5581360B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B572-34FC-41CA-9E34-EE8273490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490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9B11-D7FE-43B0-8115-B46C5581360B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B572-34FC-41CA-9E34-EE8273490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469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9B11-D7FE-43B0-8115-B46C5581360B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B572-34FC-41CA-9E34-EE8273490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290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9B11-D7FE-43B0-8115-B46C5581360B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B572-34FC-41CA-9E34-EE8273490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500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9B11-D7FE-43B0-8115-B46C5581360B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B572-34FC-41CA-9E34-EE8273490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065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9B11-D7FE-43B0-8115-B46C5581360B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B572-34FC-41CA-9E34-EE8273490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233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9B11-D7FE-43B0-8115-B46C5581360B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B572-34FC-41CA-9E34-EE8273490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946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9B11-D7FE-43B0-8115-B46C5581360B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B572-34FC-41CA-9E34-EE8273490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626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79B11-D7FE-43B0-8115-B46C5581360B}" type="datetimeFigureOut">
              <a:rPr lang="en-US" smtClean="0"/>
              <a:t>3/9/2020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C7B572-34FC-41CA-9E34-EE8273490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079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תוצאת תמונה עבור ‪hit‬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8" name="Picture 4" descr="תוצאת תמונה עבור ‪hit‬‏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1309" y="160338"/>
            <a:ext cx="28956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4131965" y="5290112"/>
            <a:ext cx="3714284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Name:</a:t>
            </a: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Itamar Aharon</a:t>
            </a:r>
            <a:endParaRPr lang="he-IL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2000" b="0" u="sng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ID: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302867742</a:t>
            </a:r>
            <a:endParaRPr lang="he-IL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20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Advisor:</a:t>
            </a: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Prof. Uri </a:t>
            </a:r>
            <a:r>
              <a:rPr lang="en-US" sz="2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Mahleb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68561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 Same Side Corner Rectangle 14"/>
          <p:cNvSpPr/>
          <p:nvPr/>
        </p:nvSpPr>
        <p:spPr>
          <a:xfrm>
            <a:off x="4004732" y="3284434"/>
            <a:ext cx="4004734" cy="2556933"/>
          </a:xfrm>
          <a:prstGeom prst="round2Same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4290483" y="1574169"/>
            <a:ext cx="3471333" cy="15748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rapezoid 6"/>
          <p:cNvSpPr/>
          <p:nvPr/>
        </p:nvSpPr>
        <p:spPr>
          <a:xfrm>
            <a:off x="8009466" y="2387600"/>
            <a:ext cx="3369734" cy="3454400"/>
          </a:xfrm>
          <a:prstGeom prst="trapezoid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847666" y="2150533"/>
            <a:ext cx="169333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/>
              <a:t>DB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415865" y="4172817"/>
            <a:ext cx="296333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/>
              <a:t>Simulator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/>
              <a:t>Optical Mesh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/>
              <a:t>Optical Physical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b="1" dirty="0"/>
          </a:p>
        </p:txBody>
      </p:sp>
      <p:sp>
        <p:nvSpPr>
          <p:cNvPr id="10" name="Trapezoid 9"/>
          <p:cNvSpPr/>
          <p:nvPr/>
        </p:nvSpPr>
        <p:spPr>
          <a:xfrm>
            <a:off x="634998" y="2387600"/>
            <a:ext cx="3369734" cy="3454400"/>
          </a:xfrm>
          <a:prstGeom prst="trapezoid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464731" y="2387600"/>
            <a:ext cx="1693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Engines</a:t>
            </a:r>
            <a:endParaRPr lang="en-US" sz="700" dirty="0"/>
          </a:p>
        </p:txBody>
      </p:sp>
      <p:sp>
        <p:nvSpPr>
          <p:cNvPr id="12" name="TextBox 11"/>
          <p:cNvSpPr txBox="1"/>
          <p:nvPr/>
        </p:nvSpPr>
        <p:spPr>
          <a:xfrm>
            <a:off x="967314" y="4193570"/>
            <a:ext cx="2963335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/>
              <a:t>Optimization Algorithms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/>
              <a:t>Power Budget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/>
              <a:t>Cost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/>
              <a:t>Defragmentation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2925231" y="142669"/>
            <a:ext cx="63923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u="sng" dirty="0"/>
              <a:t>Neptune as a System</a:t>
            </a:r>
            <a:endParaRPr lang="en-US" sz="1000" u="sng" dirty="0"/>
          </a:p>
        </p:txBody>
      </p:sp>
      <p:sp>
        <p:nvSpPr>
          <p:cNvPr id="14" name="TextBox 13"/>
          <p:cNvSpPr txBox="1"/>
          <p:nvPr/>
        </p:nvSpPr>
        <p:spPr>
          <a:xfrm>
            <a:off x="4290483" y="3531850"/>
            <a:ext cx="379306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</a:rPr>
              <a:t>My Project: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b="1" dirty="0"/>
              <a:t>GA Improvement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b="1" dirty="0"/>
              <a:t>Weighted Entropy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b="1" dirty="0"/>
              <a:t>Fiber-Cut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89159" y="1838461"/>
            <a:ext cx="5110857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N</a:t>
            </a:r>
            <a:r>
              <a:rPr lang="en-US" sz="66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eptune</a:t>
            </a:r>
            <a:endParaRPr lang="en-US" sz="66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97693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401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1. Genetic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2414" y="602563"/>
            <a:ext cx="401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</a:rPr>
              <a:t>Solution</a:t>
            </a:r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4268" y="1100667"/>
            <a:ext cx="5858932" cy="5331627"/>
          </a:xfrm>
          <a:prstGeom prst="rect">
            <a:avLst/>
          </a:prstGeom>
        </p:spPr>
      </p:pic>
      <p:sp>
        <p:nvSpPr>
          <p:cNvPr id="9" name="Cube 8"/>
          <p:cNvSpPr/>
          <p:nvPr/>
        </p:nvSpPr>
        <p:spPr>
          <a:xfrm>
            <a:off x="3363673" y="4370405"/>
            <a:ext cx="474133" cy="474133"/>
          </a:xfrm>
          <a:prstGeom prst="cub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Cube 9"/>
          <p:cNvSpPr/>
          <p:nvPr/>
        </p:nvSpPr>
        <p:spPr>
          <a:xfrm>
            <a:off x="3363673" y="3993926"/>
            <a:ext cx="474133" cy="474133"/>
          </a:xfrm>
          <a:prstGeom prst="cub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11" name="Cube 10"/>
          <p:cNvSpPr/>
          <p:nvPr/>
        </p:nvSpPr>
        <p:spPr>
          <a:xfrm>
            <a:off x="3363673" y="3617447"/>
            <a:ext cx="474133" cy="474133"/>
          </a:xfrm>
          <a:prstGeom prst="cub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12" name="Cube 11"/>
          <p:cNvSpPr/>
          <p:nvPr/>
        </p:nvSpPr>
        <p:spPr>
          <a:xfrm>
            <a:off x="3363673" y="3240968"/>
            <a:ext cx="474133" cy="474133"/>
          </a:xfrm>
          <a:prstGeom prst="cub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7" name="Cube 16"/>
          <p:cNvSpPr/>
          <p:nvPr/>
        </p:nvSpPr>
        <p:spPr>
          <a:xfrm>
            <a:off x="3363673" y="2852755"/>
            <a:ext cx="474133" cy="474133"/>
          </a:xfrm>
          <a:prstGeom prst="cub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8" name="Cube 17"/>
          <p:cNvSpPr/>
          <p:nvPr/>
        </p:nvSpPr>
        <p:spPr>
          <a:xfrm>
            <a:off x="3363673" y="2476276"/>
            <a:ext cx="474133" cy="474133"/>
          </a:xfrm>
          <a:prstGeom prst="cub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9" name="Cube 18"/>
          <p:cNvSpPr/>
          <p:nvPr/>
        </p:nvSpPr>
        <p:spPr>
          <a:xfrm>
            <a:off x="3363673" y="2099797"/>
            <a:ext cx="474133" cy="474133"/>
          </a:xfrm>
          <a:prstGeom prst="cub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1" name="Cube 20"/>
          <p:cNvSpPr/>
          <p:nvPr/>
        </p:nvSpPr>
        <p:spPr>
          <a:xfrm>
            <a:off x="3364809" y="1711584"/>
            <a:ext cx="474133" cy="474133"/>
          </a:xfrm>
          <a:prstGeom prst="cub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9</a:t>
            </a:r>
          </a:p>
        </p:txBody>
      </p:sp>
      <p:sp>
        <p:nvSpPr>
          <p:cNvPr id="22" name="Cube 21"/>
          <p:cNvSpPr/>
          <p:nvPr/>
        </p:nvSpPr>
        <p:spPr>
          <a:xfrm>
            <a:off x="3364809" y="1335105"/>
            <a:ext cx="474133" cy="474133"/>
          </a:xfrm>
          <a:prstGeom prst="cub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23" name="Cube 22"/>
          <p:cNvSpPr/>
          <p:nvPr/>
        </p:nvSpPr>
        <p:spPr>
          <a:xfrm>
            <a:off x="3363673" y="5951555"/>
            <a:ext cx="474133" cy="474133"/>
          </a:xfrm>
          <a:prstGeom prst="cub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24" name="Cube 23"/>
          <p:cNvSpPr/>
          <p:nvPr/>
        </p:nvSpPr>
        <p:spPr>
          <a:xfrm>
            <a:off x="3363673" y="5575076"/>
            <a:ext cx="474133" cy="474133"/>
          </a:xfrm>
          <a:prstGeom prst="cub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25" name="Cube 24"/>
          <p:cNvSpPr/>
          <p:nvPr/>
        </p:nvSpPr>
        <p:spPr>
          <a:xfrm>
            <a:off x="3363673" y="5198597"/>
            <a:ext cx="474133" cy="474133"/>
          </a:xfrm>
          <a:prstGeom prst="cub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6" name="Oval 25"/>
          <p:cNvSpPr/>
          <p:nvPr/>
        </p:nvSpPr>
        <p:spPr>
          <a:xfrm>
            <a:off x="3544569" y="4882157"/>
            <a:ext cx="92393" cy="9765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3544568" y="5021569"/>
            <a:ext cx="92393" cy="9765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3544567" y="5160981"/>
            <a:ext cx="92393" cy="9765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1537967" y="1409564"/>
            <a:ext cx="17132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Before Defrag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74268" y="1372116"/>
            <a:ext cx="17132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After Defrag</a:t>
            </a:r>
          </a:p>
        </p:txBody>
      </p:sp>
      <p:sp>
        <p:nvSpPr>
          <p:cNvPr id="2" name="סוגר מסולסל שמאלי 1"/>
          <p:cNvSpPr/>
          <p:nvPr/>
        </p:nvSpPr>
        <p:spPr>
          <a:xfrm>
            <a:off x="2255306" y="2185717"/>
            <a:ext cx="1148080" cy="1152000"/>
          </a:xfrm>
          <a:prstGeom prst="lef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28575">
                <a:solidFill>
                  <a:schemeClr val="tx1"/>
                </a:solidFill>
              </a:ln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211120" y="2292902"/>
            <a:ext cx="17132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5733" y="2219279"/>
            <a:ext cx="17132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Path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5733" y="2603567"/>
            <a:ext cx="17132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Path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29938" y="2932587"/>
            <a:ext cx="17132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Path</a:t>
            </a:r>
          </a:p>
        </p:txBody>
      </p:sp>
    </p:spTree>
    <p:extLst>
      <p:ext uri="{BB962C8B-B14F-4D97-AF65-F5344CB8AC3E}">
        <p14:creationId xmlns:p14="http://schemas.microsoft.com/office/powerpoint/2010/main" val="119935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401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1. Genetic Algorithm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980" y="1422401"/>
            <a:ext cx="7587308" cy="41507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2414" y="602563"/>
            <a:ext cx="401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</a:rPr>
              <a:t>Cross-Over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19907" y="5763301"/>
            <a:ext cx="102785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Gene = distribution of Services in Paths on each SD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3666" y="5557276"/>
            <a:ext cx="1686241" cy="100224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33666" y="5893032"/>
            <a:ext cx="1686241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033666" y="6226407"/>
            <a:ext cx="1686241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33667" y="5535277"/>
            <a:ext cx="790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Father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0258" y="5873731"/>
            <a:ext cx="980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Mother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15008" y="6190186"/>
            <a:ext cx="1031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Combine</a:t>
            </a:r>
          </a:p>
        </p:txBody>
      </p:sp>
    </p:spTree>
    <p:extLst>
      <p:ext uri="{BB962C8B-B14F-4D97-AF65-F5344CB8AC3E}">
        <p14:creationId xmlns:p14="http://schemas.microsoft.com/office/powerpoint/2010/main" val="828243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401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1. Genetic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2413" y="602563"/>
            <a:ext cx="50262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</a:rPr>
              <a:t>Mutate 50% of offspring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070" y="1774824"/>
            <a:ext cx="9628417" cy="185374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6661" y="4777240"/>
            <a:ext cx="5886450" cy="101917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282238" y="2266950"/>
            <a:ext cx="702468" cy="11906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675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401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1. Genetic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2413" y="602563"/>
            <a:ext cx="50262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</a:rPr>
              <a:t>Select Best Solutions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562" y="3274004"/>
            <a:ext cx="10541304" cy="1135969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3541486" y="1205126"/>
            <a:ext cx="2206171" cy="78377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Variance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5856515" y="1205126"/>
            <a:ext cx="2206171" cy="78377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Entropy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8171544" y="1205126"/>
            <a:ext cx="2206171" cy="78377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Hits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5257800" y="1988898"/>
            <a:ext cx="1119414" cy="972457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accent5">
                    <a:lumMod val="75000"/>
                  </a:schemeClr>
                </a:solidFill>
              </a:rPr>
              <a:t>Variance</a:t>
            </a:r>
          </a:p>
          <a:p>
            <a:pPr algn="ctr"/>
            <a:r>
              <a:rPr lang="en-US" sz="1300" b="1" dirty="0">
                <a:solidFill>
                  <a:schemeClr val="accent5">
                    <a:lumMod val="75000"/>
                  </a:schemeClr>
                </a:solidFill>
              </a:rPr>
              <a:t>+</a:t>
            </a:r>
          </a:p>
          <a:p>
            <a:pPr algn="ctr"/>
            <a:r>
              <a:rPr lang="en-US" sz="1300" b="1" dirty="0">
                <a:solidFill>
                  <a:schemeClr val="accent5">
                    <a:lumMod val="75000"/>
                  </a:schemeClr>
                </a:solidFill>
              </a:rPr>
              <a:t>Entropy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5065486" y="1988898"/>
            <a:ext cx="214086" cy="260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7324270" y="1982209"/>
            <a:ext cx="214086" cy="260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6377214" y="2037770"/>
            <a:ext cx="232228" cy="190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8629194" y="2046173"/>
            <a:ext cx="249464" cy="190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563075" y="1982209"/>
            <a:ext cx="1066119" cy="972457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chemeClr val="accent5">
                    <a:lumMod val="75000"/>
                  </a:schemeClr>
                </a:solidFill>
              </a:rPr>
              <a:t>Entropy</a:t>
            </a:r>
          </a:p>
          <a:p>
            <a:pPr algn="ctr"/>
            <a:r>
              <a:rPr lang="en-US" sz="1300" b="1" dirty="0">
                <a:solidFill>
                  <a:schemeClr val="accent5">
                    <a:lumMod val="75000"/>
                  </a:schemeClr>
                </a:solidFill>
              </a:rPr>
              <a:t>+</a:t>
            </a:r>
          </a:p>
          <a:p>
            <a:pPr algn="ctr"/>
            <a:r>
              <a:rPr lang="en-US" sz="1300" b="1" dirty="0">
                <a:solidFill>
                  <a:schemeClr val="accent5">
                    <a:lumMod val="75000"/>
                  </a:schemeClr>
                </a:solidFill>
              </a:rPr>
              <a:t>Hits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54" y="4729311"/>
            <a:ext cx="10766212" cy="120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918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401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2. Weighted Entropy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2413" y="602563"/>
            <a:ext cx="50262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</a:rPr>
              <a:t>Entropy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914399" y="1479665"/>
                <a:ext cx="5527964" cy="16500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 rtl="1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𝑈</m:t>
                      </m:r>
                      <m:d>
                        <m:dPr>
                          <m:ctrlPr>
                            <a:rPr lang="en-US" sz="3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3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𝛷</m:t>
                          </m:r>
                        </m:e>
                      </m:d>
                      <m:r>
                        <a:rPr lang="he-IL" sz="3600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he-IL" sz="3600" i="1" kern="12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3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a:rPr lang="en-US" sz="3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  <m:r>
                            <a:rPr lang="he-IL" sz="3600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he-IL" sz="3600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  <m:sup>
                          <m:r>
                            <a:rPr lang="en-US" sz="36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𝐹</m:t>
                          </m:r>
                        </m:sup>
                        <m:e>
                          <m:sSub>
                            <m:sSubPr>
                              <m:ctrlP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z="36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3600" i="1" kern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i="1" kern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𝛷</m:t>
                                  </m:r>
                                </m:e>
                                <m:sub>
                                  <m:r>
                                    <a:rPr lang="en-US" sz="3600" i="1" kern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3600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3600" i="1" kern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3600" i="1" kern="12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600" i="1" kern="12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𝛷</m:t>
                                      </m:r>
                                    </m:e>
                                    <m:sub>
                                      <m:r>
                                        <a:rPr lang="en-US" sz="3600" i="1" kern="12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Arial" panose="020B060402020202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sz="3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99" y="1479665"/>
                <a:ext cx="5527964" cy="16500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/>
          <p:cNvSpPr/>
          <p:nvPr/>
        </p:nvSpPr>
        <p:spPr>
          <a:xfrm>
            <a:off x="3707476" y="1903616"/>
            <a:ext cx="665019" cy="980900"/>
          </a:xfrm>
          <a:prstGeom prst="ellipse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11" name="Straight Arrow Connector 10"/>
          <p:cNvCxnSpPr>
            <a:endCxn id="29" idx="1"/>
          </p:cNvCxnSpPr>
          <p:nvPr/>
        </p:nvCxnSpPr>
        <p:spPr>
          <a:xfrm>
            <a:off x="4222865" y="3129732"/>
            <a:ext cx="922832" cy="11358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17" idx="1"/>
          </p:cNvCxnSpPr>
          <p:nvPr/>
        </p:nvCxnSpPr>
        <p:spPr>
          <a:xfrm>
            <a:off x="4447309" y="2975956"/>
            <a:ext cx="897894" cy="4922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345203" y="3283508"/>
            <a:ext cx="2194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0.05 For Bottle-Necks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45697" y="4080955"/>
            <a:ext cx="1471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1 For The rest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95912" y="4878402"/>
            <a:ext cx="871757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/>
              <a:t>Purpose – fibers with less transportation </a:t>
            </a:r>
          </a:p>
          <a:p>
            <a:pPr algn="ctr"/>
            <a:r>
              <a:rPr lang="en-US" sz="4000" dirty="0"/>
              <a:t>will get higher weigh</a:t>
            </a:r>
          </a:p>
        </p:txBody>
      </p:sp>
    </p:spTree>
    <p:extLst>
      <p:ext uri="{BB962C8B-B14F-4D97-AF65-F5344CB8AC3E}">
        <p14:creationId xmlns:p14="http://schemas.microsoft.com/office/powerpoint/2010/main" val="3551409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401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2. Weighted Entropy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2413" y="602563"/>
            <a:ext cx="50262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</a:rPr>
              <a:t>NEW Weights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771650" y="1301638"/>
                <a:ext cx="8378491" cy="12940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</a:rPr>
                        <m:t>𝑊𝑒𝑖𝑔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2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𝐿𝑖𝑛𝑘</m:t>
                      </m:r>
                      <m:r>
                        <a:rPr lang="en-US" sz="3200" i="0"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32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"/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3200" i="0">
                                          <a:latin typeface="Cambria Math" panose="02040503050406030204" pitchFamily="18" charset="0"/>
                                        </a:rPr>
                                        <m:t>Statistics</m:t>
                                      </m:r>
                                      <m:r>
                                        <m:rPr>
                                          <m:lit/>
                                        </m:rPr>
                                        <a:rPr lang="en-US" sz="3200" i="0">
                                          <a:latin typeface="Cambria Math" panose="02040503050406030204" pitchFamily="18" charset="0"/>
                                        </a:rPr>
                                        <m:t>_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3200" i="0">
                                          <a:latin typeface="Cambria Math" panose="02040503050406030204" pitchFamily="18" charset="0"/>
                                        </a:rPr>
                                        <m:t>SPL</m:t>
                                      </m:r>
                                      <m:r>
                                        <a:rPr lang="en-US" sz="3200" i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3200" i="0">
                                          <a:latin typeface="Cambria Math" panose="02040503050406030204" pitchFamily="18" charset="0"/>
                                        </a:rPr>
                                        <m:t>Link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sz="3200" i="0">
                                      <a:latin typeface="Cambria Math" panose="02040503050406030204" pitchFamily="18" charset="0"/>
                                    </a:rPr>
                                    <m:t>TotalServices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3200" i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1650" y="1301638"/>
                <a:ext cx="8378491" cy="12940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124241"/>
              </p:ext>
            </p:extLst>
          </p:nvPr>
        </p:nvGraphicFramePr>
        <p:xfrm>
          <a:off x="988695" y="3286121"/>
          <a:ext cx="3621405" cy="1838328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963819">
                  <a:extLst>
                    <a:ext uri="{9D8B030D-6E8A-4147-A177-3AD203B41FA5}">
                      <a16:colId xmlns:a16="http://schemas.microsoft.com/office/drawing/2014/main" val="1163445063"/>
                    </a:ext>
                  </a:extLst>
                </a:gridCol>
                <a:gridCol w="705147">
                  <a:extLst>
                    <a:ext uri="{9D8B030D-6E8A-4147-A177-3AD203B41FA5}">
                      <a16:colId xmlns:a16="http://schemas.microsoft.com/office/drawing/2014/main" val="2714490551"/>
                    </a:ext>
                  </a:extLst>
                </a:gridCol>
                <a:gridCol w="650813">
                  <a:extLst>
                    <a:ext uri="{9D8B030D-6E8A-4147-A177-3AD203B41FA5}">
                      <a16:colId xmlns:a16="http://schemas.microsoft.com/office/drawing/2014/main" val="776564966"/>
                    </a:ext>
                  </a:extLst>
                </a:gridCol>
                <a:gridCol w="650813">
                  <a:extLst>
                    <a:ext uri="{9D8B030D-6E8A-4147-A177-3AD203B41FA5}">
                      <a16:colId xmlns:a16="http://schemas.microsoft.com/office/drawing/2014/main" val="2209179794"/>
                    </a:ext>
                  </a:extLst>
                </a:gridCol>
                <a:gridCol w="650813">
                  <a:extLst>
                    <a:ext uri="{9D8B030D-6E8A-4147-A177-3AD203B41FA5}">
                      <a16:colId xmlns:a16="http://schemas.microsoft.com/office/drawing/2014/main" val="4106905789"/>
                    </a:ext>
                  </a:extLst>
                </a:gridCol>
              </a:tblGrid>
              <a:tr h="3063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201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202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203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204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25477277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Path 1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2483919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Path 2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119827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Path 3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14524038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Path 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9358332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Path 5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5379917"/>
                  </a:ext>
                </a:extLst>
              </a:tr>
            </a:tbl>
          </a:graphicData>
        </a:graphic>
      </p:graphicFrame>
      <p:sp>
        <p:nvSpPr>
          <p:cNvPr id="5" name="Right Arrow 4"/>
          <p:cNvSpPr/>
          <p:nvPr/>
        </p:nvSpPr>
        <p:spPr>
          <a:xfrm>
            <a:off x="4781551" y="3971925"/>
            <a:ext cx="528002" cy="52387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תיבת טקסט 2"/>
          <p:cNvSpPr txBox="1">
            <a:spLocks noChangeArrowheads="1"/>
          </p:cNvSpPr>
          <p:nvPr/>
        </p:nvSpPr>
        <p:spPr bwMode="auto">
          <a:xfrm flipH="1">
            <a:off x="5423852" y="3510756"/>
            <a:ext cx="1877378" cy="14462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⅔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of paths in SD1 are going throw Link 201</a:t>
            </a:r>
          </a:p>
        </p:txBody>
      </p:sp>
      <p:sp>
        <p:nvSpPr>
          <p:cNvPr id="8" name="סוגר מסולסל ימני 25"/>
          <p:cNvSpPr/>
          <p:nvPr/>
        </p:nvSpPr>
        <p:spPr>
          <a:xfrm rot="10800000">
            <a:off x="533401" y="3640137"/>
            <a:ext cx="455294" cy="855663"/>
          </a:xfrm>
          <a:prstGeom prst="rightBrace">
            <a:avLst>
              <a:gd name="adj1" fmla="val 0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46282" y="3645693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SD1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תיבת טקסט 2"/>
              <p:cNvSpPr txBox="1">
                <a:spLocks noChangeArrowheads="1"/>
              </p:cNvSpPr>
              <p:nvPr/>
            </p:nvSpPr>
            <p:spPr bwMode="auto">
              <a:xfrm flipH="1">
                <a:off x="8057830" y="3765152"/>
                <a:ext cx="3595370" cy="937419"/>
              </a:xfrm>
              <a:prstGeom prst="round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glow rad="63500">
                  <a:schemeClr val="accent6">
                    <a:satMod val="175000"/>
                    <a:alpha val="40000"/>
                  </a:schemeClr>
                </a:glow>
              </a:effectLst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⅔ ×</m:t>
                      </m:r>
                      <m:r>
                        <a:rPr lang="en-US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𝑆𝑒𝑟𝑣𝑖𝑐𝑒𝑠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_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𝑅𝑒𝑞𝑢𝑖𝑟𝑒𝑑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_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𝑆𝐷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1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  </m:t>
                      </m:r>
                    </m:oMath>
                  </m:oMathPara>
                </a14:m>
                <a:endParaRPr lang="en-U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 added to</a:t>
                </a:r>
                <a:r>
                  <a:rPr lang="en-US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b="1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Statistics_SPL</a:t>
                </a:r>
                <a:r>
                  <a:rPr lang="en-US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(201)</a:t>
                </a:r>
                <a:endParaRPr lang="en-US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תיבת טקסט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flipH="1">
                <a:off x="8057830" y="3765152"/>
                <a:ext cx="3595370" cy="937419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glow rad="63500">
                  <a:schemeClr val="accent6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ight Arrow 10"/>
          <p:cNvSpPr/>
          <p:nvPr/>
        </p:nvSpPr>
        <p:spPr>
          <a:xfrm>
            <a:off x="7415529" y="3971925"/>
            <a:ext cx="528002" cy="52387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899920" y="5124449"/>
            <a:ext cx="14536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(</a:t>
            </a:r>
            <a:r>
              <a:rPr lang="en-US" sz="2000" dirty="0" err="1"/>
              <a:t>Paths_mat</a:t>
            </a:r>
            <a:r>
              <a:rPr lang="en-US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29072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401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3. Fiber-Cut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757738" y="1826776"/>
            <a:ext cx="528002" cy="52387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473752"/>
              </p:ext>
            </p:extLst>
          </p:nvPr>
        </p:nvGraphicFramePr>
        <p:xfrm>
          <a:off x="866418" y="1169550"/>
          <a:ext cx="3621405" cy="1838328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963819">
                  <a:extLst>
                    <a:ext uri="{9D8B030D-6E8A-4147-A177-3AD203B41FA5}">
                      <a16:colId xmlns:a16="http://schemas.microsoft.com/office/drawing/2014/main" val="1163445063"/>
                    </a:ext>
                  </a:extLst>
                </a:gridCol>
                <a:gridCol w="705147">
                  <a:extLst>
                    <a:ext uri="{9D8B030D-6E8A-4147-A177-3AD203B41FA5}">
                      <a16:colId xmlns:a16="http://schemas.microsoft.com/office/drawing/2014/main" val="2714490551"/>
                    </a:ext>
                  </a:extLst>
                </a:gridCol>
                <a:gridCol w="650813">
                  <a:extLst>
                    <a:ext uri="{9D8B030D-6E8A-4147-A177-3AD203B41FA5}">
                      <a16:colId xmlns:a16="http://schemas.microsoft.com/office/drawing/2014/main" val="776564966"/>
                    </a:ext>
                  </a:extLst>
                </a:gridCol>
                <a:gridCol w="650813">
                  <a:extLst>
                    <a:ext uri="{9D8B030D-6E8A-4147-A177-3AD203B41FA5}">
                      <a16:colId xmlns:a16="http://schemas.microsoft.com/office/drawing/2014/main" val="2209179794"/>
                    </a:ext>
                  </a:extLst>
                </a:gridCol>
                <a:gridCol w="650813">
                  <a:extLst>
                    <a:ext uri="{9D8B030D-6E8A-4147-A177-3AD203B41FA5}">
                      <a16:colId xmlns:a16="http://schemas.microsoft.com/office/drawing/2014/main" val="4106905789"/>
                    </a:ext>
                  </a:extLst>
                </a:gridCol>
              </a:tblGrid>
              <a:tr h="3063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201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202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203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204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25477277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Path 1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2483919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Path 2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119827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Path 3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14524038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Path 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9358332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Path 5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537991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6202" y="584775"/>
            <a:ext cx="2870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1. Update </a:t>
            </a:r>
            <a:r>
              <a:rPr lang="en-US" sz="2400" dirty="0" err="1"/>
              <a:t>Paths_mat</a:t>
            </a:r>
            <a:endParaRPr lang="en-US" sz="240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162470"/>
              </p:ext>
            </p:extLst>
          </p:nvPr>
        </p:nvGraphicFramePr>
        <p:xfrm>
          <a:off x="5555656" y="1169550"/>
          <a:ext cx="3621405" cy="153194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963819">
                  <a:extLst>
                    <a:ext uri="{9D8B030D-6E8A-4147-A177-3AD203B41FA5}">
                      <a16:colId xmlns:a16="http://schemas.microsoft.com/office/drawing/2014/main" val="1163445063"/>
                    </a:ext>
                  </a:extLst>
                </a:gridCol>
                <a:gridCol w="705147">
                  <a:extLst>
                    <a:ext uri="{9D8B030D-6E8A-4147-A177-3AD203B41FA5}">
                      <a16:colId xmlns:a16="http://schemas.microsoft.com/office/drawing/2014/main" val="2714490551"/>
                    </a:ext>
                  </a:extLst>
                </a:gridCol>
                <a:gridCol w="650813">
                  <a:extLst>
                    <a:ext uri="{9D8B030D-6E8A-4147-A177-3AD203B41FA5}">
                      <a16:colId xmlns:a16="http://schemas.microsoft.com/office/drawing/2014/main" val="776564966"/>
                    </a:ext>
                  </a:extLst>
                </a:gridCol>
                <a:gridCol w="650813">
                  <a:extLst>
                    <a:ext uri="{9D8B030D-6E8A-4147-A177-3AD203B41FA5}">
                      <a16:colId xmlns:a16="http://schemas.microsoft.com/office/drawing/2014/main" val="2209179794"/>
                    </a:ext>
                  </a:extLst>
                </a:gridCol>
                <a:gridCol w="650813">
                  <a:extLst>
                    <a:ext uri="{9D8B030D-6E8A-4147-A177-3AD203B41FA5}">
                      <a16:colId xmlns:a16="http://schemas.microsoft.com/office/drawing/2014/main" val="4106905789"/>
                    </a:ext>
                  </a:extLst>
                </a:gridCol>
              </a:tblGrid>
              <a:tr h="3063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201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202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203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204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25477277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Path 1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2483919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Path 3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14524038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Path 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9358332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Path 5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5379917"/>
                  </a:ext>
                </a:extLst>
              </a:tr>
            </a:tbl>
          </a:graphicData>
        </a:graphic>
      </p:graphicFrame>
      <p:sp>
        <p:nvSpPr>
          <p:cNvPr id="2" name="Explosion 2 1"/>
          <p:cNvSpPr/>
          <p:nvPr/>
        </p:nvSpPr>
        <p:spPr>
          <a:xfrm rot="12550440">
            <a:off x="8496301" y="1081188"/>
            <a:ext cx="542925" cy="468035"/>
          </a:xfrm>
          <a:prstGeom prst="irregularSeal2">
            <a:avLst/>
          </a:prstGeom>
          <a:solidFill>
            <a:srgbClr val="FF1F1F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71431" y="3148013"/>
            <a:ext cx="33164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2. Create solution vector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3950" y="3741298"/>
            <a:ext cx="9296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Divide </a:t>
            </a:r>
            <a:r>
              <a:rPr lang="en-US" sz="3200" b="1" dirty="0" err="1"/>
              <a:t>falled</a:t>
            </a:r>
            <a:r>
              <a:rPr lang="en-US" sz="3200" b="1" dirty="0"/>
              <a:t> </a:t>
            </a:r>
            <a:r>
              <a:rPr lang="en-US" sz="3200" b="1" dirty="0" err="1"/>
              <a:t>sevices</a:t>
            </a:r>
            <a:r>
              <a:rPr lang="en-US" sz="3200" b="1" dirty="0"/>
              <a:t> between random paths in the SD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02" y="4527108"/>
            <a:ext cx="23849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3. Create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771" y="5148259"/>
            <a:ext cx="9296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Send to external engine for lambdas division </a:t>
            </a:r>
          </a:p>
        </p:txBody>
      </p:sp>
    </p:spTree>
    <p:extLst>
      <p:ext uri="{BB962C8B-B14F-4D97-AF65-F5344CB8AC3E}">
        <p14:creationId xmlns:p14="http://schemas.microsoft.com/office/powerpoint/2010/main" val="2075498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1000">
              <a:schemeClr val="accent1">
                <a:lumMod val="5000"/>
                <a:lumOff val="95000"/>
              </a:schemeClr>
            </a:gs>
            <a:gs pos="69500">
              <a:srgbClr val="B5D2EC"/>
            </a:gs>
            <a:gs pos="56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465717" y="340996"/>
            <a:ext cx="15049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5850" y="3086100"/>
            <a:ext cx="8210550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perspectiveHeroicExtremeLeftFacing"/>
              <a:lightRig rig="threePt" dir="t"/>
            </a:scene3d>
          </a:bodyPr>
          <a:lstStyle/>
          <a:p>
            <a:pPr algn="ctr"/>
            <a:r>
              <a:rPr lang="en-US" sz="16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The End</a:t>
            </a:r>
          </a:p>
        </p:txBody>
      </p:sp>
      <p:graphicFrame>
        <p:nvGraphicFramePr>
          <p:cNvPr id="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705903"/>
              </p:ext>
            </p:extLst>
          </p:nvPr>
        </p:nvGraphicFramePr>
        <p:xfrm>
          <a:off x="3503566" y="1216420"/>
          <a:ext cx="5429252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7313">
                  <a:extLst>
                    <a:ext uri="{9D8B030D-6E8A-4147-A177-3AD203B41FA5}">
                      <a16:colId xmlns:a16="http://schemas.microsoft.com/office/drawing/2014/main" val="4081660526"/>
                    </a:ext>
                  </a:extLst>
                </a:gridCol>
                <a:gridCol w="1357313">
                  <a:extLst>
                    <a:ext uri="{9D8B030D-6E8A-4147-A177-3AD203B41FA5}">
                      <a16:colId xmlns:a16="http://schemas.microsoft.com/office/drawing/2014/main" val="4234257798"/>
                    </a:ext>
                  </a:extLst>
                </a:gridCol>
                <a:gridCol w="1357313">
                  <a:extLst>
                    <a:ext uri="{9D8B030D-6E8A-4147-A177-3AD203B41FA5}">
                      <a16:colId xmlns:a16="http://schemas.microsoft.com/office/drawing/2014/main" val="3154929168"/>
                    </a:ext>
                  </a:extLst>
                </a:gridCol>
                <a:gridCol w="1357313">
                  <a:extLst>
                    <a:ext uri="{9D8B030D-6E8A-4147-A177-3AD203B41FA5}">
                      <a16:colId xmlns:a16="http://schemas.microsoft.com/office/drawing/2014/main" val="130750951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NEW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effectLst/>
                        </a:rPr>
                        <a:t>OLD GA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effectLst/>
                        </a:rPr>
                        <a:t>OLD W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91506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effectLst/>
                        </a:rPr>
                        <a:t>Min hits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0.443</a:t>
                      </a:r>
                      <a:endParaRPr lang="en-US" sz="28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0.455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0.455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8240259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effectLst/>
                        </a:rPr>
                        <a:t>Min </a:t>
                      </a:r>
                      <a:r>
                        <a:rPr lang="en-US" sz="2800" u="none" strike="noStrike" dirty="0" err="1">
                          <a:effectLst/>
                        </a:rPr>
                        <a:t>var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95.3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125.9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101.4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138831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effectLst/>
                        </a:rPr>
                        <a:t>Max Ent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1.314</a:t>
                      </a:r>
                      <a:endParaRPr lang="en-US" sz="28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1.199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2.804</a:t>
                      </a:r>
                      <a:endParaRPr lang="en-US" sz="28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68116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0451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1490</TotalTime>
  <Words>271</Words>
  <Application>Microsoft Office PowerPoint</Application>
  <PresentationFormat>מסך רחב</PresentationFormat>
  <Paragraphs>179</Paragraphs>
  <Slides>10</Slides>
  <Notes>0</Notes>
  <HiddenSlides>0</HiddenSlides>
  <MMClips>0</MMClips>
  <ScaleCrop>false</ScaleCrop>
  <HeadingPairs>
    <vt:vector size="4" baseType="variant"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1" baseType="lpstr"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ECI Telecom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Itamar Aharon</dc:creator>
  <cp:lastModifiedBy>Ita</cp:lastModifiedBy>
  <cp:revision>43</cp:revision>
  <dcterms:created xsi:type="dcterms:W3CDTF">2017-07-02T11:24:11Z</dcterms:created>
  <dcterms:modified xsi:type="dcterms:W3CDTF">2020-03-09T11:03:52Z</dcterms:modified>
</cp:coreProperties>
</file>